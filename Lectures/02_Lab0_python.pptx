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395" r:id="rId2"/>
    <p:sldId id="311" r:id="rId3"/>
    <p:sldId id="313" r:id="rId4"/>
    <p:sldId id="398" r:id="rId5"/>
    <p:sldId id="399" r:id="rId6"/>
    <p:sldId id="256" r:id="rId7"/>
    <p:sldId id="258" r:id="rId8"/>
    <p:sldId id="383" r:id="rId9"/>
    <p:sldId id="275" r:id="rId10"/>
    <p:sldId id="384" r:id="rId11"/>
    <p:sldId id="385" r:id="rId12"/>
    <p:sldId id="386" r:id="rId13"/>
    <p:sldId id="277" r:id="rId14"/>
    <p:sldId id="376" r:id="rId15"/>
    <p:sldId id="380" r:id="rId16"/>
    <p:sldId id="374" r:id="rId17"/>
    <p:sldId id="387" r:id="rId18"/>
    <p:sldId id="396" r:id="rId19"/>
    <p:sldId id="278" r:id="rId20"/>
    <p:sldId id="389" r:id="rId21"/>
    <p:sldId id="283" r:id="rId22"/>
    <p:sldId id="304" r:id="rId23"/>
    <p:sldId id="381" r:id="rId24"/>
    <p:sldId id="397" r:id="rId25"/>
    <p:sldId id="39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25"/>
    <p:restoredTop sz="86129"/>
  </p:normalViewPr>
  <p:slideViewPr>
    <p:cSldViewPr snapToGrid="0">
      <p:cViewPr varScale="1">
        <p:scale>
          <a:sx n="190" d="100"/>
          <a:sy n="190" d="100"/>
        </p:scale>
        <p:origin x="10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DD1EEE-C6DB-DA46-B20F-B8172D543963}"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A2A09B-40E3-D745-86D5-D7782E2FBF14}" type="slidenum">
              <a:rPr lang="en-US" smtClean="0"/>
              <a:t>‹#›</a:t>
            </a:fld>
            <a:endParaRPr lang="en-US"/>
          </a:p>
        </p:txBody>
      </p:sp>
    </p:spTree>
    <p:extLst>
      <p:ext uri="{BB962C8B-B14F-4D97-AF65-F5344CB8AC3E}">
        <p14:creationId xmlns:p14="http://schemas.microsoft.com/office/powerpoint/2010/main" val="2664638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77ab791de8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77ab791de8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77ab791de8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77ab791de8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6</a:t>
            </a:fld>
            <a:endParaRPr lang="en-US"/>
          </a:p>
        </p:txBody>
      </p:sp>
    </p:spTree>
    <p:extLst>
      <p:ext uri="{BB962C8B-B14F-4D97-AF65-F5344CB8AC3E}">
        <p14:creationId xmlns:p14="http://schemas.microsoft.com/office/powerpoint/2010/main" val="999813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tested the install process I’ll walk through today, but there will always be errors because everyone’s computer set up is different. Make sure you’re able to complete all of these steps and if not, come to office hours tomorrow or reach out to us on piazza</a:t>
            </a:r>
          </a:p>
          <a:p>
            <a:r>
              <a:rPr lang="en-US" dirty="0"/>
              <a:t>You should have learned coding basics (prompt students?) </a:t>
            </a:r>
          </a:p>
          <a:p>
            <a:r>
              <a:rPr lang="en-US" dirty="0"/>
              <a:t>What we found last semester was that a lot of students needed help with getting their computer set up in a way that made coding seamless, so they could focus on writing good code that worked well and tied all of the pieces together</a:t>
            </a:r>
          </a:p>
          <a:p>
            <a:r>
              <a:rPr lang="en-US" dirty="0"/>
              <a:t>We found that even if they could write a for loop or if statement, it was often hard to understand why sometimes code ran in different places, or why they needed anaconda in the </a:t>
            </a:r>
            <a:r>
              <a:rPr lang="en-US"/>
              <a:t>first place</a:t>
            </a:r>
            <a:endParaRPr lang="en-US" dirty="0"/>
          </a:p>
          <a:p>
            <a:r>
              <a:rPr lang="en-US" dirty="0"/>
              <a:t>A lot of students also needed some coding principles or guiding practices, more than a regurgitation of syntax or basic coding structures that they could google. Where students were struggling was often, I don’t know how to interpret coding errors, writing repetitive code that then made mistakes because things were copied and pasted multiple times, just figuring out how to even structure an approach to the problem they were solving (in plain English)</a:t>
            </a:r>
          </a:p>
        </p:txBody>
      </p:sp>
      <p:sp>
        <p:nvSpPr>
          <p:cNvPr id="4" name="Slide Number Placeholder 3"/>
          <p:cNvSpPr>
            <a:spLocks noGrp="1"/>
          </p:cNvSpPr>
          <p:nvPr>
            <p:ph type="sldNum" sz="quarter" idx="5"/>
          </p:nvPr>
        </p:nvSpPr>
        <p:spPr/>
        <p:txBody>
          <a:bodyPr/>
          <a:lstStyle/>
          <a:p>
            <a:fld id="{00A2A09B-40E3-D745-86D5-D7782E2FBF14}" type="slidenum">
              <a:rPr lang="en-US" smtClean="0"/>
              <a:t>7</a:t>
            </a:fld>
            <a:endParaRPr lang="en-US"/>
          </a:p>
        </p:txBody>
      </p:sp>
    </p:spTree>
    <p:extLst>
      <p:ext uri="{BB962C8B-B14F-4D97-AF65-F5344CB8AC3E}">
        <p14:creationId xmlns:p14="http://schemas.microsoft.com/office/powerpoint/2010/main" val="3939409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talking about my rationale for this intro based on the last two semesters of feedback and problems that arose</a:t>
            </a:r>
          </a:p>
        </p:txBody>
      </p:sp>
      <p:sp>
        <p:nvSpPr>
          <p:cNvPr id="4" name="Slide Number Placeholder 3"/>
          <p:cNvSpPr>
            <a:spLocks noGrp="1"/>
          </p:cNvSpPr>
          <p:nvPr>
            <p:ph type="sldNum" sz="quarter" idx="5"/>
          </p:nvPr>
        </p:nvSpPr>
        <p:spPr/>
        <p:txBody>
          <a:bodyPr/>
          <a:lstStyle/>
          <a:p>
            <a:fld id="{00A2A09B-40E3-D745-86D5-D7782E2FBF14}" type="slidenum">
              <a:rPr lang="en-US" smtClean="0"/>
              <a:t>8</a:t>
            </a:fld>
            <a:endParaRPr lang="en-US"/>
          </a:p>
        </p:txBody>
      </p:sp>
    </p:spTree>
    <p:extLst>
      <p:ext uri="{BB962C8B-B14F-4D97-AF65-F5344CB8AC3E}">
        <p14:creationId xmlns:p14="http://schemas.microsoft.com/office/powerpoint/2010/main" val="177217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conventions for files and folders</a:t>
            </a:r>
          </a:p>
          <a:p>
            <a:pPr lvl="1"/>
            <a:r>
              <a:rPr lang="en-US" dirty="0">
                <a:solidFill>
                  <a:schemeClr val="accent6"/>
                </a:solidFill>
              </a:rPr>
              <a:t>Enumerate</a:t>
            </a:r>
            <a:r>
              <a:rPr lang="en-US" dirty="0"/>
              <a:t> code in a pipeline when step-by-step (1_xxx.py, 2_xxx.py, </a:t>
            </a:r>
            <a:r>
              <a:rPr lang="en-US" dirty="0" err="1"/>
              <a:t>etc</a:t>
            </a:r>
            <a:r>
              <a:rPr lang="en-US" dirty="0"/>
              <a:t>)</a:t>
            </a:r>
          </a:p>
          <a:p>
            <a:pPr lvl="1"/>
            <a:r>
              <a:rPr lang="en-US" dirty="0"/>
              <a:t>Python files should have a </a:t>
            </a:r>
            <a:r>
              <a:rPr lang="en-US" dirty="0">
                <a:solidFill>
                  <a:schemeClr val="accent6"/>
                </a:solidFill>
              </a:rPr>
              <a:t>clear, descriptive name </a:t>
            </a:r>
            <a:r>
              <a:rPr lang="en-US" dirty="0"/>
              <a:t>for importing (</a:t>
            </a:r>
            <a:r>
              <a:rPr lang="en-US" dirty="0" err="1"/>
              <a:t>numerical_solvers.py</a:t>
            </a:r>
            <a:r>
              <a:rPr lang="en-US" dirty="0"/>
              <a:t>, </a:t>
            </a:r>
            <a:r>
              <a:rPr lang="en-US" dirty="0" err="1"/>
              <a:t>statistical_tests.py</a:t>
            </a:r>
            <a:r>
              <a:rPr lang="en-US" dirty="0"/>
              <a:t>, </a:t>
            </a:r>
            <a:r>
              <a:rPr lang="en-US" dirty="0" err="1"/>
              <a:t>classification.py</a:t>
            </a:r>
            <a:r>
              <a:rPr lang="en-US" dirty="0"/>
              <a:t>, </a:t>
            </a:r>
            <a:r>
              <a:rPr lang="en-US" dirty="0" err="1"/>
              <a:t>etc</a:t>
            </a:r>
            <a:r>
              <a:rPr lang="en-US" dirty="0"/>
              <a:t>)</a:t>
            </a:r>
          </a:p>
          <a:p>
            <a:pPr lvl="1"/>
            <a:r>
              <a:rPr lang="en-US" dirty="0"/>
              <a:t>No files should have “template” in the title (i.e. </a:t>
            </a:r>
            <a:r>
              <a:rPr lang="en-US" dirty="0">
                <a:solidFill>
                  <a:schemeClr val="accent6"/>
                </a:solidFill>
              </a:rPr>
              <a:t>rename</a:t>
            </a:r>
            <a:r>
              <a:rPr lang="en-US" dirty="0"/>
              <a:t> any files you get from Canvas!)</a:t>
            </a:r>
          </a:p>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9</a:t>
            </a:fld>
            <a:endParaRPr lang="en-US"/>
          </a:p>
        </p:txBody>
      </p:sp>
    </p:spTree>
    <p:extLst>
      <p:ext uri="{BB962C8B-B14F-4D97-AF65-F5344CB8AC3E}">
        <p14:creationId xmlns:p14="http://schemas.microsoft.com/office/powerpoint/2010/main" val="2740491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14</a:t>
            </a:fld>
            <a:endParaRPr lang="en-US"/>
          </a:p>
        </p:txBody>
      </p:sp>
    </p:spTree>
    <p:extLst>
      <p:ext uri="{BB962C8B-B14F-4D97-AF65-F5344CB8AC3E}">
        <p14:creationId xmlns:p14="http://schemas.microsoft.com/office/powerpoint/2010/main" val="2183650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15</a:t>
            </a:fld>
            <a:endParaRPr lang="en-US"/>
          </a:p>
        </p:txBody>
      </p:sp>
    </p:spTree>
    <p:extLst>
      <p:ext uri="{BB962C8B-B14F-4D97-AF65-F5344CB8AC3E}">
        <p14:creationId xmlns:p14="http://schemas.microsoft.com/office/powerpoint/2010/main" val="212390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16</a:t>
            </a:fld>
            <a:endParaRPr lang="en-US"/>
          </a:p>
        </p:txBody>
      </p:sp>
    </p:spTree>
    <p:extLst>
      <p:ext uri="{BB962C8B-B14F-4D97-AF65-F5344CB8AC3E}">
        <p14:creationId xmlns:p14="http://schemas.microsoft.com/office/powerpoint/2010/main" val="1100612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19</a:t>
            </a:fld>
            <a:endParaRPr lang="en-US"/>
          </a:p>
        </p:txBody>
      </p:sp>
    </p:spTree>
    <p:extLst>
      <p:ext uri="{BB962C8B-B14F-4D97-AF65-F5344CB8AC3E}">
        <p14:creationId xmlns:p14="http://schemas.microsoft.com/office/powerpoint/2010/main" val="268784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20</a:t>
            </a:fld>
            <a:endParaRPr lang="en-US"/>
          </a:p>
        </p:txBody>
      </p:sp>
    </p:spTree>
    <p:extLst>
      <p:ext uri="{BB962C8B-B14F-4D97-AF65-F5344CB8AC3E}">
        <p14:creationId xmlns:p14="http://schemas.microsoft.com/office/powerpoint/2010/main" val="3480708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Selecting the interpreter via the VS Code </a:t>
            </a:r>
            <a:r>
              <a:rPr lang="en-US" b="1" dirty="0">
                <a:effectLst/>
              </a:rPr>
              <a:t>Command Palette</a:t>
            </a:r>
            <a:r>
              <a:rPr lang="en-US" dirty="0"/>
              <a:t> configures the entire IDE experience (linting, debugging, run button, etc.) for that environment, and will automatically activate that environment in any </a:t>
            </a:r>
            <a:r>
              <a:rPr lang="en-US" i="1" dirty="0">
                <a:effectLst/>
              </a:rPr>
              <a:t>new</a:t>
            </a:r>
            <a:r>
              <a:rPr lang="en-US" dirty="0"/>
              <a:t> terminal windows you create</a:t>
            </a:r>
            <a:r>
              <a:rPr lang="en-US" b="0" i="0" dirty="0">
                <a:solidFill>
                  <a:srgbClr val="0A0A0A"/>
                </a:solidFill>
                <a:effectLst/>
                <a:latin typeface="Google Sans"/>
              </a:rPr>
              <a:t>. Activating an environment directly in the </a:t>
            </a:r>
            <a:r>
              <a:rPr lang="en-US" b="1" i="0" dirty="0">
                <a:solidFill>
                  <a:srgbClr val="0A0A0A"/>
                </a:solidFill>
                <a:effectLst/>
                <a:latin typeface="Google Sans"/>
              </a:rPr>
              <a:t>terminal</a:t>
            </a:r>
            <a:r>
              <a:rPr lang="en-US" b="0" i="0" dirty="0">
                <a:solidFill>
                  <a:srgbClr val="0A0A0A"/>
                </a:solidFill>
                <a:effectLst/>
                <a:latin typeface="Google Sans"/>
              </a:rPr>
              <a:t> using commands like </a:t>
            </a:r>
            <a:r>
              <a:rPr lang="en-US" dirty="0"/>
              <a:t>source activate</a:t>
            </a:r>
            <a:r>
              <a:rPr lang="en-US" b="0" i="0" dirty="0">
                <a:solidFill>
                  <a:srgbClr val="0A0A0A"/>
                </a:solidFill>
                <a:effectLst/>
                <a:latin typeface="Google Sans"/>
              </a:rPr>
              <a:t> only affects that specific, single terminal session. </a:t>
            </a:r>
            <a:endParaRPr lang="en-US" dirty="0"/>
          </a:p>
          <a:p>
            <a:endParaRPr lang="en-US" dirty="0"/>
          </a:p>
        </p:txBody>
      </p:sp>
      <p:sp>
        <p:nvSpPr>
          <p:cNvPr id="4" name="Slide Number Placeholder 3"/>
          <p:cNvSpPr>
            <a:spLocks noGrp="1"/>
          </p:cNvSpPr>
          <p:nvPr>
            <p:ph type="sldNum" sz="quarter" idx="5"/>
          </p:nvPr>
        </p:nvSpPr>
        <p:spPr/>
        <p:txBody>
          <a:bodyPr/>
          <a:lstStyle/>
          <a:p>
            <a:fld id="{00A2A09B-40E3-D745-86D5-D7782E2FBF14}" type="slidenum">
              <a:rPr lang="en-US" smtClean="0"/>
              <a:t>22</a:t>
            </a:fld>
            <a:endParaRPr lang="en-US"/>
          </a:p>
        </p:txBody>
      </p:sp>
    </p:spTree>
    <p:extLst>
      <p:ext uri="{BB962C8B-B14F-4D97-AF65-F5344CB8AC3E}">
        <p14:creationId xmlns:p14="http://schemas.microsoft.com/office/powerpoint/2010/main" val="4358976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F7513-3A01-C3D1-4A27-3F1D63689014}"/>
              </a:ext>
            </a:extLst>
          </p:cNvPr>
          <p:cNvSpPr>
            <a:spLocks noGrp="1"/>
          </p:cNvSpPr>
          <p:nvPr>
            <p:ph type="ctrTitle"/>
          </p:nvPr>
        </p:nvSpPr>
        <p:spPr>
          <a:xfrm>
            <a:off x="2693581" y="1877274"/>
            <a:ext cx="6804838" cy="2387600"/>
          </a:xfrm>
        </p:spPr>
        <p:txBody>
          <a:bodyPr anchor="b"/>
          <a:lstStyle>
            <a:lvl1pPr algn="ctr">
              <a:defRPr sz="6000" b="1" i="0">
                <a:solidFill>
                  <a:schemeClr val="tx2"/>
                </a:solidFill>
                <a:latin typeface=""/>
                <a:ea typeface="SF Pro Semibold" pitchFamily="2" charset="0"/>
                <a:cs typeface="SF Pro Semibold"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658B1689-7FD7-A945-AE79-D23D2980B051}"/>
              </a:ext>
            </a:extLst>
          </p:cNvPr>
          <p:cNvSpPr>
            <a:spLocks noGrp="1"/>
          </p:cNvSpPr>
          <p:nvPr>
            <p:ph type="subTitle" idx="1"/>
          </p:nvPr>
        </p:nvSpPr>
        <p:spPr>
          <a:xfrm>
            <a:off x="2693580" y="4264874"/>
            <a:ext cx="6804839" cy="1655762"/>
          </a:xfrm>
        </p:spPr>
        <p:txBody>
          <a:bodyPr/>
          <a:lstStyle>
            <a:lvl1pPr marL="0" indent="0" algn="ctr">
              <a:buNone/>
              <a:defRPr sz="2400" b="0" i="0">
                <a:solidFill>
                  <a:schemeClr val="tx2"/>
                </a:solidFill>
                <a:latin typeface=""/>
                <a:ea typeface="SF Pro Semibold" pitchFamily="2" charset="0"/>
                <a:cs typeface="SF Pro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0A17D-5E3E-F3F3-558F-0EC4CA8B9405}"/>
              </a:ext>
            </a:extLst>
          </p:cNvPr>
          <p:cNvSpPr>
            <a:spLocks noGrp="1"/>
          </p:cNvSpPr>
          <p:nvPr>
            <p:ph type="dt" sz="half" idx="10"/>
          </p:nvPr>
        </p:nvSpPr>
        <p:spPr/>
        <p:txBody>
          <a:bodyPr/>
          <a:lstStyle>
            <a:lvl1pPr>
              <a:defRPr b="0" i="0">
                <a:latin typeface="SF Pro Semibold" pitchFamily="2" charset="0"/>
                <a:ea typeface="SF Pro Semibold" pitchFamily="2" charset="0"/>
                <a:cs typeface="SF Pro Semibold" pitchFamily="2" charset="0"/>
              </a:defRPr>
            </a:lvl1pPr>
          </a:lstStyle>
          <a:p>
            <a:fld id="{283F1289-91D5-2F4B-8EB7-0F99FD7D111A}" type="datetime1">
              <a:rPr lang="en-US" smtClean="0"/>
              <a:t>9/8/26</a:t>
            </a:fld>
            <a:endParaRPr lang="en-US"/>
          </a:p>
        </p:txBody>
      </p:sp>
      <p:sp>
        <p:nvSpPr>
          <p:cNvPr id="5" name="Footer Placeholder 4">
            <a:extLst>
              <a:ext uri="{FF2B5EF4-FFF2-40B4-BE49-F238E27FC236}">
                <a16:creationId xmlns:a16="http://schemas.microsoft.com/office/drawing/2014/main" id="{404DFFF3-78A4-BA90-773C-05F14648DDEF}"/>
              </a:ext>
            </a:extLst>
          </p:cNvPr>
          <p:cNvSpPr>
            <a:spLocks noGrp="1"/>
          </p:cNvSpPr>
          <p:nvPr>
            <p:ph type="ftr" sz="quarter" idx="11"/>
          </p:nvPr>
        </p:nvSpPr>
        <p:spPr/>
        <p:txBody>
          <a:bodyPr/>
          <a:lstStyle>
            <a:lvl1pPr>
              <a:defRPr b="0" i="0">
                <a:latin typeface="SF Pro Semibold" pitchFamily="2" charset="0"/>
                <a:ea typeface="SF Pro Semibold" pitchFamily="2" charset="0"/>
                <a:cs typeface="SF Pro Semibold" pitchFamily="2" charset="0"/>
              </a:defRPr>
            </a:lvl1pPr>
          </a:lstStyle>
          <a:p>
            <a:endParaRPr lang="en-US"/>
          </a:p>
        </p:txBody>
      </p:sp>
      <p:sp>
        <p:nvSpPr>
          <p:cNvPr id="6" name="Slide Number Placeholder 5">
            <a:extLst>
              <a:ext uri="{FF2B5EF4-FFF2-40B4-BE49-F238E27FC236}">
                <a16:creationId xmlns:a16="http://schemas.microsoft.com/office/drawing/2014/main" id="{44A4136F-07A0-4EA6-5E49-71BDC84DED94}"/>
              </a:ext>
            </a:extLst>
          </p:cNvPr>
          <p:cNvSpPr>
            <a:spLocks noGrp="1"/>
          </p:cNvSpPr>
          <p:nvPr>
            <p:ph type="sldNum" sz="quarter" idx="12"/>
          </p:nvPr>
        </p:nvSpPr>
        <p:spPr/>
        <p:txBody>
          <a:bodyPr/>
          <a:lstStyle>
            <a:lvl1pPr>
              <a:defRPr b="0" i="0">
                <a:latin typeface="SF Pro Semibold" pitchFamily="2" charset="0"/>
                <a:ea typeface="SF Pro Semibold" pitchFamily="2" charset="0"/>
                <a:cs typeface="SF Pro Semibold" pitchFamily="2" charset="0"/>
              </a:defRPr>
            </a:lvl1pPr>
          </a:lstStyle>
          <a:p>
            <a:fld id="{0D9DF20D-7D64-DD4E-93FD-71BB03726D71}" type="slidenum">
              <a:rPr lang="en-US" smtClean="0"/>
              <a:pPr/>
              <a:t>‹#›</a:t>
            </a:fld>
            <a:endParaRPr lang="en-US"/>
          </a:p>
        </p:txBody>
      </p:sp>
    </p:spTree>
    <p:extLst>
      <p:ext uri="{BB962C8B-B14F-4D97-AF65-F5344CB8AC3E}">
        <p14:creationId xmlns:p14="http://schemas.microsoft.com/office/powerpoint/2010/main" val="954387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1086-FF2E-9BD7-6324-1DB60C05E7AD}"/>
              </a:ext>
            </a:extLst>
          </p:cNvPr>
          <p:cNvSpPr>
            <a:spLocks noGrp="1"/>
          </p:cNvSpPr>
          <p:nvPr>
            <p:ph type="title"/>
          </p:nvPr>
        </p:nvSpPr>
        <p:spPr>
          <a:xfrm>
            <a:off x="303146" y="2248005"/>
            <a:ext cx="3735454" cy="2872635"/>
          </a:xfrm>
        </p:spPr>
        <p:txBody>
          <a:bodyPr>
            <a:normAutofit/>
          </a:bodyPr>
          <a:lstStyle>
            <a:lvl1pPr>
              <a:defRPr sz="3600" b="0" i="0">
                <a:solidFill>
                  <a:schemeClr val="tx2"/>
                </a:solidFill>
                <a:latin typeface=""/>
                <a:ea typeface="SF Pro Semibold" pitchFamily="2" charset="0"/>
                <a:cs typeface="SF Pro Semibold"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CDE0AD47-4FEA-EF10-9A97-236DCAFE695D}"/>
              </a:ext>
            </a:extLst>
          </p:cNvPr>
          <p:cNvSpPr>
            <a:spLocks noGrp="1"/>
          </p:cNvSpPr>
          <p:nvPr>
            <p:ph idx="1"/>
          </p:nvPr>
        </p:nvSpPr>
        <p:spPr>
          <a:xfrm>
            <a:off x="5334000" y="375920"/>
            <a:ext cx="6554854" cy="6197600"/>
          </a:xfrm>
          <a:solidFill>
            <a:schemeClr val="bg1">
              <a:alpha val="80497"/>
            </a:schemeClr>
          </a:solidFill>
        </p:spPr>
        <p:txBody>
          <a:bodyPr/>
          <a:lstStyle>
            <a:lvl1pPr>
              <a:defRPr b="0" i="0">
                <a:solidFill>
                  <a:schemeClr val="tx2"/>
                </a:solidFill>
                <a:latin typeface=""/>
                <a:ea typeface="SF Pro Semibold" pitchFamily="2" charset="0"/>
                <a:cs typeface="SF Pro Semibold" pitchFamily="2" charset="0"/>
              </a:defRPr>
            </a:lvl1pPr>
            <a:lvl2pPr>
              <a:defRPr b="0" i="0">
                <a:solidFill>
                  <a:schemeClr val="tx2"/>
                </a:solidFill>
                <a:latin typeface=""/>
                <a:ea typeface="SF Pro Semibold" pitchFamily="2" charset="0"/>
                <a:cs typeface="SF Pro Semibold" pitchFamily="2" charset="0"/>
              </a:defRPr>
            </a:lvl2pPr>
            <a:lvl3pPr>
              <a:defRPr b="0" i="0">
                <a:solidFill>
                  <a:schemeClr val="tx2"/>
                </a:solidFill>
                <a:latin typeface=""/>
                <a:ea typeface="SF Pro Semibold" pitchFamily="2" charset="0"/>
                <a:cs typeface="SF Pro Semibold" pitchFamily="2" charset="0"/>
              </a:defRPr>
            </a:lvl3pPr>
            <a:lvl4pPr>
              <a:defRPr b="0" i="0">
                <a:solidFill>
                  <a:schemeClr val="tx2"/>
                </a:solidFill>
                <a:latin typeface=""/>
                <a:ea typeface="SF Pro Semibold" pitchFamily="2" charset="0"/>
                <a:cs typeface="SF Pro Semibold" pitchFamily="2" charset="0"/>
              </a:defRPr>
            </a:lvl4pPr>
            <a:lvl5pPr>
              <a:defRPr b="0" i="0">
                <a:solidFill>
                  <a:schemeClr val="tx2"/>
                </a:solidFill>
                <a:latin typeface=""/>
                <a:ea typeface="SF Pro Semibold" pitchFamily="2" charset="0"/>
                <a:cs typeface="SF Pro Semibold"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02156BBE-BE5F-8D04-6406-E345BD6925E5}"/>
              </a:ext>
            </a:extLst>
          </p:cNvPr>
          <p:cNvSpPr>
            <a:spLocks noGrp="1"/>
          </p:cNvSpPr>
          <p:nvPr>
            <p:ph type="ftr" sz="quarter" idx="11"/>
          </p:nvPr>
        </p:nvSpPr>
        <p:spPr>
          <a:xfrm>
            <a:off x="8077200" y="10795"/>
            <a:ext cx="4114800" cy="365125"/>
          </a:xfrm>
        </p:spPr>
        <p:txBody>
          <a:bodyPr/>
          <a:lstStyle>
            <a:lvl1pPr algn="r">
              <a:defRPr b="0" i="0">
                <a:latin typeface=""/>
                <a:ea typeface="SF Pro Semibold" pitchFamily="2" charset="0"/>
                <a:cs typeface="SF Pro Semibold" pitchFamily="2" charset="0"/>
              </a:defRPr>
            </a:lvl1pPr>
          </a:lstStyle>
          <a:p>
            <a:endParaRPr lang="en-US" dirty="0"/>
          </a:p>
        </p:txBody>
      </p:sp>
      <p:sp>
        <p:nvSpPr>
          <p:cNvPr id="6" name="Slide Number Placeholder 5">
            <a:extLst>
              <a:ext uri="{FF2B5EF4-FFF2-40B4-BE49-F238E27FC236}">
                <a16:creationId xmlns:a16="http://schemas.microsoft.com/office/drawing/2014/main" id="{562B4151-113B-5C0E-E84F-7ADF7D0EB251}"/>
              </a:ext>
            </a:extLst>
          </p:cNvPr>
          <p:cNvSpPr>
            <a:spLocks noGrp="1"/>
          </p:cNvSpPr>
          <p:nvPr>
            <p:ph type="sldNum" sz="quarter" idx="12"/>
          </p:nvPr>
        </p:nvSpPr>
        <p:spPr/>
        <p:txBody>
          <a:bodyPr/>
          <a:lstStyle>
            <a:lvl1pPr>
              <a:defRPr b="0" i="0">
                <a:latin typeface=""/>
                <a:ea typeface="SF Pro Semibold" pitchFamily="2" charset="0"/>
                <a:cs typeface="SF Pro Semibold" pitchFamily="2" charset="0"/>
              </a:defRPr>
            </a:lvl1pPr>
          </a:lstStyle>
          <a:p>
            <a:fld id="{0D9DF20D-7D64-DD4E-93FD-71BB03726D71}" type="slidenum">
              <a:rPr lang="en-US" smtClean="0"/>
              <a:pPr/>
              <a:t>‹#›</a:t>
            </a:fld>
            <a:endParaRPr lang="en-US"/>
          </a:p>
        </p:txBody>
      </p:sp>
    </p:spTree>
    <p:extLst>
      <p:ext uri="{BB962C8B-B14F-4D97-AF65-F5344CB8AC3E}">
        <p14:creationId xmlns:p14="http://schemas.microsoft.com/office/powerpoint/2010/main" val="414305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DA47-2C68-AA8F-7EBD-4435963FDBEE}"/>
              </a:ext>
            </a:extLst>
          </p:cNvPr>
          <p:cNvSpPr>
            <a:spLocks noGrp="1"/>
          </p:cNvSpPr>
          <p:nvPr>
            <p:ph type="title"/>
          </p:nvPr>
        </p:nvSpPr>
        <p:spPr>
          <a:xfrm>
            <a:off x="3113567" y="1736726"/>
            <a:ext cx="5964866" cy="2444385"/>
          </a:xfrm>
        </p:spPr>
        <p:txBody>
          <a:bodyPr anchor="ctr">
            <a:normAutofit/>
          </a:bodyPr>
          <a:lstStyle>
            <a:lvl1pPr algn="ctr">
              <a:defRPr sz="5400" b="1" i="0">
                <a:solidFill>
                  <a:schemeClr val="tx2"/>
                </a:solidFill>
                <a:latin typeface=""/>
                <a:ea typeface="SF Pro Semibold" pitchFamily="2" charset="0"/>
                <a:cs typeface="SF Pro Semibold"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D9BBEB00-7AFB-D731-5790-54F4C48B0119}"/>
              </a:ext>
            </a:extLst>
          </p:cNvPr>
          <p:cNvSpPr>
            <a:spLocks noGrp="1"/>
          </p:cNvSpPr>
          <p:nvPr>
            <p:ph type="body" idx="1"/>
          </p:nvPr>
        </p:nvSpPr>
        <p:spPr>
          <a:xfrm>
            <a:off x="3113567" y="4204494"/>
            <a:ext cx="5964866" cy="1500187"/>
          </a:xfrm>
        </p:spPr>
        <p:txBody>
          <a:bodyPr/>
          <a:lstStyle>
            <a:lvl1pPr marL="0" indent="0" algn="ctr">
              <a:buNone/>
              <a:defRPr sz="2400" b="0" i="0">
                <a:solidFill>
                  <a:schemeClr val="tx1">
                    <a:tint val="75000"/>
                  </a:schemeClr>
                </a:solidFill>
                <a:latin typeface=""/>
                <a:ea typeface="SF Pro Semibold" pitchFamily="2" charset="0"/>
                <a:cs typeface="SF Pro Semibold"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60F6C65-B1A3-CE8D-3F8F-F594F39CA7C1}"/>
              </a:ext>
            </a:extLst>
          </p:cNvPr>
          <p:cNvSpPr>
            <a:spLocks noGrp="1"/>
          </p:cNvSpPr>
          <p:nvPr>
            <p:ph type="dt" sz="half" idx="10"/>
          </p:nvPr>
        </p:nvSpPr>
        <p:spPr/>
        <p:txBody>
          <a:bodyPr/>
          <a:lstStyle>
            <a:lvl1pPr>
              <a:defRPr b="0" i="0">
                <a:latin typeface=""/>
                <a:ea typeface="SF Pro Semibold" pitchFamily="2" charset="0"/>
                <a:cs typeface="SF Pro Semibold" pitchFamily="2" charset="0"/>
              </a:defRPr>
            </a:lvl1pPr>
          </a:lstStyle>
          <a:p>
            <a:fld id="{0226DBE3-534B-CD47-891B-B9508BECB0B6}" type="datetime1">
              <a:rPr lang="en-US" smtClean="0"/>
              <a:t>9/8/26</a:t>
            </a:fld>
            <a:endParaRPr lang="en-US"/>
          </a:p>
        </p:txBody>
      </p:sp>
      <p:sp>
        <p:nvSpPr>
          <p:cNvPr id="5" name="Footer Placeholder 4">
            <a:extLst>
              <a:ext uri="{FF2B5EF4-FFF2-40B4-BE49-F238E27FC236}">
                <a16:creationId xmlns:a16="http://schemas.microsoft.com/office/drawing/2014/main" id="{E06834E1-407D-4EFF-52F0-8EFC6D4A56A6}"/>
              </a:ext>
            </a:extLst>
          </p:cNvPr>
          <p:cNvSpPr>
            <a:spLocks noGrp="1"/>
          </p:cNvSpPr>
          <p:nvPr>
            <p:ph type="ftr" sz="quarter" idx="11"/>
          </p:nvPr>
        </p:nvSpPr>
        <p:spPr/>
        <p:txBody>
          <a:bodyPr/>
          <a:lstStyle>
            <a:lvl1pPr>
              <a:defRPr b="0" i="0">
                <a:latin typeface=""/>
                <a:ea typeface="SF Pro Semibold" pitchFamily="2" charset="0"/>
                <a:cs typeface="SF Pro Semibold" pitchFamily="2" charset="0"/>
              </a:defRPr>
            </a:lvl1pPr>
          </a:lstStyle>
          <a:p>
            <a:endParaRPr lang="en-US"/>
          </a:p>
        </p:txBody>
      </p:sp>
      <p:sp>
        <p:nvSpPr>
          <p:cNvPr id="6" name="Slide Number Placeholder 5">
            <a:extLst>
              <a:ext uri="{FF2B5EF4-FFF2-40B4-BE49-F238E27FC236}">
                <a16:creationId xmlns:a16="http://schemas.microsoft.com/office/drawing/2014/main" id="{2B76B44B-1E12-5411-FC9D-1A1D6DA85732}"/>
              </a:ext>
            </a:extLst>
          </p:cNvPr>
          <p:cNvSpPr>
            <a:spLocks noGrp="1"/>
          </p:cNvSpPr>
          <p:nvPr>
            <p:ph type="sldNum" sz="quarter" idx="12"/>
          </p:nvPr>
        </p:nvSpPr>
        <p:spPr/>
        <p:txBody>
          <a:bodyPr/>
          <a:lstStyle>
            <a:lvl1pPr>
              <a:defRPr b="0" i="0">
                <a:latin typeface=""/>
                <a:ea typeface="SF Pro Semibold" pitchFamily="2" charset="0"/>
                <a:cs typeface="SF Pro Semibold" pitchFamily="2" charset="0"/>
              </a:defRPr>
            </a:lvl1pPr>
          </a:lstStyle>
          <a:p>
            <a:fld id="{0D9DF20D-7D64-DD4E-93FD-71BB03726D71}" type="slidenum">
              <a:rPr lang="en-US" smtClean="0"/>
              <a:pPr/>
              <a:t>‹#›</a:t>
            </a:fld>
            <a:endParaRPr lang="en-US"/>
          </a:p>
        </p:txBody>
      </p:sp>
    </p:spTree>
    <p:extLst>
      <p:ext uri="{BB962C8B-B14F-4D97-AF65-F5344CB8AC3E}">
        <p14:creationId xmlns:p14="http://schemas.microsoft.com/office/powerpoint/2010/main" val="1035865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75557-88A4-9542-D539-8A28056EE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B2A99F-766E-7C61-E6A6-F8670BF3AF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430A07-BE19-532E-B49E-F56F54F5B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782FA0-1783-48FA-532C-DCA64F1C87F5}"/>
              </a:ext>
            </a:extLst>
          </p:cNvPr>
          <p:cNvSpPr>
            <a:spLocks noGrp="1"/>
          </p:cNvSpPr>
          <p:nvPr>
            <p:ph type="dt" sz="half" idx="10"/>
          </p:nvPr>
        </p:nvSpPr>
        <p:spPr/>
        <p:txBody>
          <a:bodyPr/>
          <a:lstStyle/>
          <a:p>
            <a:fld id="{37FF5543-4112-AD47-B405-81F5F6EDC079}" type="datetime1">
              <a:rPr lang="en-US" smtClean="0"/>
              <a:t>9/8/26</a:t>
            </a:fld>
            <a:endParaRPr lang="en-US"/>
          </a:p>
        </p:txBody>
      </p:sp>
      <p:sp>
        <p:nvSpPr>
          <p:cNvPr id="6" name="Footer Placeholder 5">
            <a:extLst>
              <a:ext uri="{FF2B5EF4-FFF2-40B4-BE49-F238E27FC236}">
                <a16:creationId xmlns:a16="http://schemas.microsoft.com/office/drawing/2014/main" id="{67E79FF1-4574-7A4D-F6D5-AEDFF7A028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F88D8-9A01-1225-6D7E-5EE1D9F4D24D}"/>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621393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7989-9238-7FB5-25B3-F0DF3EC31D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CC7187-2E18-91C1-2B4F-8785F764D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E6ADA4-92A1-D156-178D-1A4D7FAE65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9654AD-6BC4-7E61-99AE-7437EC447E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9B9A2-6069-2CB0-910A-9E215BD5E4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793CE4-35EE-0586-018D-F946A67F452A}"/>
              </a:ext>
            </a:extLst>
          </p:cNvPr>
          <p:cNvSpPr>
            <a:spLocks noGrp="1"/>
          </p:cNvSpPr>
          <p:nvPr>
            <p:ph type="dt" sz="half" idx="10"/>
          </p:nvPr>
        </p:nvSpPr>
        <p:spPr/>
        <p:txBody>
          <a:bodyPr/>
          <a:lstStyle/>
          <a:p>
            <a:fld id="{69F69491-D15C-BD47-A5CF-2D86E9C8DACC}" type="datetime1">
              <a:rPr lang="en-US" smtClean="0"/>
              <a:t>9/8/26</a:t>
            </a:fld>
            <a:endParaRPr lang="en-US"/>
          </a:p>
        </p:txBody>
      </p:sp>
      <p:sp>
        <p:nvSpPr>
          <p:cNvPr id="8" name="Footer Placeholder 7">
            <a:extLst>
              <a:ext uri="{FF2B5EF4-FFF2-40B4-BE49-F238E27FC236}">
                <a16:creationId xmlns:a16="http://schemas.microsoft.com/office/drawing/2014/main" id="{53DF48B3-AF44-3DB8-321E-69A638439E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543E55-265D-054A-3215-E6735AC014C9}"/>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774896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06A2-ECA3-D534-3C27-48E6D307B6BE}"/>
              </a:ext>
            </a:extLst>
          </p:cNvPr>
          <p:cNvSpPr>
            <a:spLocks noGrp="1"/>
          </p:cNvSpPr>
          <p:nvPr>
            <p:ph type="title"/>
          </p:nvPr>
        </p:nvSpPr>
        <p:spPr/>
        <p:txBody>
          <a:bodyPr/>
          <a:lstStyle>
            <a:lvl1pPr>
              <a:defRPr b="0" i="0">
                <a:solidFill>
                  <a:schemeClr val="tx2"/>
                </a:solidFill>
                <a:latin typeface="SF Pro Semibold" pitchFamily="2" charset="0"/>
                <a:ea typeface="SF Pro Semibold" pitchFamily="2" charset="0"/>
                <a:cs typeface="SF Pro Semibold" pitchFamily="2" charset="0"/>
              </a:defRPr>
            </a:lvl1pPr>
          </a:lstStyle>
          <a:p>
            <a:r>
              <a:rPr lang="en-US"/>
              <a:t>Click to edit Master title style</a:t>
            </a:r>
          </a:p>
        </p:txBody>
      </p:sp>
      <p:sp>
        <p:nvSpPr>
          <p:cNvPr id="3" name="Date Placeholder 2">
            <a:extLst>
              <a:ext uri="{FF2B5EF4-FFF2-40B4-BE49-F238E27FC236}">
                <a16:creationId xmlns:a16="http://schemas.microsoft.com/office/drawing/2014/main" id="{5C12BF07-4004-0FE5-68FD-B1DA610657F0}"/>
              </a:ext>
            </a:extLst>
          </p:cNvPr>
          <p:cNvSpPr>
            <a:spLocks noGrp="1"/>
          </p:cNvSpPr>
          <p:nvPr>
            <p:ph type="dt" sz="half" idx="10"/>
          </p:nvPr>
        </p:nvSpPr>
        <p:spPr/>
        <p:txBody>
          <a:bodyPr/>
          <a:lstStyle>
            <a:lvl1pPr>
              <a:defRPr>
                <a:latin typeface="SF Pro Semibold" pitchFamily="2" charset="0"/>
                <a:ea typeface="SF Pro Semibold" pitchFamily="2" charset="0"/>
                <a:cs typeface="SF Pro Semibold" pitchFamily="2" charset="0"/>
              </a:defRPr>
            </a:lvl1pPr>
          </a:lstStyle>
          <a:p>
            <a:fld id="{19101A87-8184-454D-9C51-72DC4CA7F742}" type="datetime1">
              <a:rPr lang="en-US" smtClean="0"/>
              <a:t>9/8/26</a:t>
            </a:fld>
            <a:endParaRPr lang="en-US"/>
          </a:p>
        </p:txBody>
      </p:sp>
      <p:sp>
        <p:nvSpPr>
          <p:cNvPr id="4" name="Footer Placeholder 3">
            <a:extLst>
              <a:ext uri="{FF2B5EF4-FFF2-40B4-BE49-F238E27FC236}">
                <a16:creationId xmlns:a16="http://schemas.microsoft.com/office/drawing/2014/main" id="{3DC4C9BA-B0B9-8022-30D9-ED67BC28184C}"/>
              </a:ext>
            </a:extLst>
          </p:cNvPr>
          <p:cNvSpPr>
            <a:spLocks noGrp="1"/>
          </p:cNvSpPr>
          <p:nvPr>
            <p:ph type="ftr" sz="quarter" idx="11"/>
          </p:nvPr>
        </p:nvSpPr>
        <p:spPr/>
        <p:txBody>
          <a:bodyPr/>
          <a:lstStyle>
            <a:lvl1pPr>
              <a:defRPr>
                <a:latin typeface="SF Pro Semibold" pitchFamily="2" charset="0"/>
                <a:ea typeface="SF Pro Semibold" pitchFamily="2" charset="0"/>
                <a:cs typeface="SF Pro Semibold" pitchFamily="2" charset="0"/>
              </a:defRPr>
            </a:lvl1pPr>
          </a:lstStyle>
          <a:p>
            <a:endParaRPr lang="en-US"/>
          </a:p>
        </p:txBody>
      </p:sp>
      <p:sp>
        <p:nvSpPr>
          <p:cNvPr id="5" name="Slide Number Placeholder 4">
            <a:extLst>
              <a:ext uri="{FF2B5EF4-FFF2-40B4-BE49-F238E27FC236}">
                <a16:creationId xmlns:a16="http://schemas.microsoft.com/office/drawing/2014/main" id="{B1F827E5-7A61-4FE4-F33B-B3FC94485CFC}"/>
              </a:ext>
            </a:extLst>
          </p:cNvPr>
          <p:cNvSpPr>
            <a:spLocks noGrp="1"/>
          </p:cNvSpPr>
          <p:nvPr>
            <p:ph type="sldNum" sz="quarter" idx="12"/>
          </p:nvPr>
        </p:nvSpPr>
        <p:spPr/>
        <p:txBody>
          <a:bodyPr/>
          <a:lstStyle>
            <a:lvl1pPr>
              <a:defRPr>
                <a:latin typeface="SF Pro Semibold" pitchFamily="2" charset="0"/>
                <a:ea typeface="SF Pro Semibold" pitchFamily="2" charset="0"/>
                <a:cs typeface="SF Pro Semibold" pitchFamily="2" charset="0"/>
              </a:defRPr>
            </a:lvl1pPr>
          </a:lstStyle>
          <a:p>
            <a:fld id="{0D9DF20D-7D64-DD4E-93FD-71BB03726D71}" type="slidenum">
              <a:rPr lang="en-US" smtClean="0"/>
              <a:pPr/>
              <a:t>‹#›</a:t>
            </a:fld>
            <a:endParaRPr lang="en-US"/>
          </a:p>
        </p:txBody>
      </p:sp>
    </p:spTree>
    <p:extLst>
      <p:ext uri="{BB962C8B-B14F-4D97-AF65-F5344CB8AC3E}">
        <p14:creationId xmlns:p14="http://schemas.microsoft.com/office/powerpoint/2010/main" val="64999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1DC4E2-FEC4-F900-C041-307F2BD56196}"/>
              </a:ext>
            </a:extLst>
          </p:cNvPr>
          <p:cNvSpPr>
            <a:spLocks noGrp="1"/>
          </p:cNvSpPr>
          <p:nvPr>
            <p:ph type="dt" sz="half" idx="10"/>
          </p:nvPr>
        </p:nvSpPr>
        <p:spPr/>
        <p:txBody>
          <a:bodyPr/>
          <a:lstStyle/>
          <a:p>
            <a:fld id="{B40C5A06-712D-1747-9A1C-65BB80C7777E}" type="datetime1">
              <a:rPr lang="en-US" smtClean="0"/>
              <a:t>9/8/26</a:t>
            </a:fld>
            <a:endParaRPr lang="en-US"/>
          </a:p>
        </p:txBody>
      </p:sp>
      <p:sp>
        <p:nvSpPr>
          <p:cNvPr id="3" name="Footer Placeholder 2">
            <a:extLst>
              <a:ext uri="{FF2B5EF4-FFF2-40B4-BE49-F238E27FC236}">
                <a16:creationId xmlns:a16="http://schemas.microsoft.com/office/drawing/2014/main" id="{2C7403AA-2C66-8975-B04A-D20CA43C3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7DC9B-395F-85DE-3F0C-AB432A938608}"/>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2673910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Blank">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1DC4E2-FEC4-F900-C041-307F2BD56196}"/>
              </a:ext>
            </a:extLst>
          </p:cNvPr>
          <p:cNvSpPr>
            <a:spLocks noGrp="1"/>
          </p:cNvSpPr>
          <p:nvPr>
            <p:ph type="dt" sz="half" idx="10"/>
          </p:nvPr>
        </p:nvSpPr>
        <p:spPr/>
        <p:txBody>
          <a:bodyPr/>
          <a:lstStyle/>
          <a:p>
            <a:fld id="{DC9A7FD8-40DB-0448-9B86-EF8CBE7369B2}" type="datetime1">
              <a:rPr lang="en-US" smtClean="0"/>
              <a:t>9/8/26</a:t>
            </a:fld>
            <a:endParaRPr lang="en-US"/>
          </a:p>
        </p:txBody>
      </p:sp>
      <p:sp>
        <p:nvSpPr>
          <p:cNvPr id="3" name="Footer Placeholder 2">
            <a:extLst>
              <a:ext uri="{FF2B5EF4-FFF2-40B4-BE49-F238E27FC236}">
                <a16:creationId xmlns:a16="http://schemas.microsoft.com/office/drawing/2014/main" id="{2C7403AA-2C66-8975-B04A-D20CA43C3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7DC9B-395F-85DE-3F0C-AB432A938608}"/>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249046071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1DC4E2-FEC4-F900-C041-307F2BD56196}"/>
              </a:ext>
            </a:extLst>
          </p:cNvPr>
          <p:cNvSpPr>
            <a:spLocks noGrp="1"/>
          </p:cNvSpPr>
          <p:nvPr>
            <p:ph type="dt" sz="half" idx="10"/>
          </p:nvPr>
        </p:nvSpPr>
        <p:spPr/>
        <p:txBody>
          <a:bodyPr/>
          <a:lstStyle/>
          <a:p>
            <a:fld id="{11AAD779-A3B2-C74E-9B88-0DEDDCBA9A47}" type="datetime1">
              <a:rPr lang="en-US" smtClean="0"/>
              <a:t>9/8/26</a:t>
            </a:fld>
            <a:endParaRPr lang="en-US"/>
          </a:p>
        </p:txBody>
      </p:sp>
      <p:sp>
        <p:nvSpPr>
          <p:cNvPr id="3" name="Footer Placeholder 2">
            <a:extLst>
              <a:ext uri="{FF2B5EF4-FFF2-40B4-BE49-F238E27FC236}">
                <a16:creationId xmlns:a16="http://schemas.microsoft.com/office/drawing/2014/main" id="{2C7403AA-2C66-8975-B04A-D20CA43C3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7DC9B-395F-85DE-3F0C-AB432A938608}"/>
              </a:ext>
            </a:extLst>
          </p:cNvPr>
          <p:cNvSpPr>
            <a:spLocks noGrp="1"/>
          </p:cNvSpPr>
          <p:nvPr>
            <p:ph type="sldNum" sz="quarter" idx="12"/>
          </p:nvPr>
        </p:nvSpPr>
        <p:spPr/>
        <p:txBody>
          <a:bodyPr/>
          <a:lstStyle/>
          <a:p>
            <a:fld id="{0D9DF20D-7D64-DD4E-93FD-71BB03726D71}" type="slidenum">
              <a:rPr lang="en-US" smtClean="0"/>
              <a:t>‹#›</a:t>
            </a:fld>
            <a:endParaRPr lang="en-US"/>
          </a:p>
        </p:txBody>
      </p:sp>
      <p:sp>
        <p:nvSpPr>
          <p:cNvPr id="5" name="Title 1">
            <a:extLst>
              <a:ext uri="{FF2B5EF4-FFF2-40B4-BE49-F238E27FC236}">
                <a16:creationId xmlns:a16="http://schemas.microsoft.com/office/drawing/2014/main" id="{2AAA0E4E-8C3B-658A-BDC7-2A8B2319F5E6}"/>
              </a:ext>
            </a:extLst>
          </p:cNvPr>
          <p:cNvSpPr>
            <a:spLocks noGrp="1"/>
          </p:cNvSpPr>
          <p:nvPr>
            <p:ph type="title"/>
          </p:nvPr>
        </p:nvSpPr>
        <p:spPr>
          <a:xfrm>
            <a:off x="838200" y="136525"/>
            <a:ext cx="10515600" cy="848995"/>
          </a:xfrm>
        </p:spPr>
        <p:txBody>
          <a:bodyPr/>
          <a:lstStyle>
            <a:lvl1pPr algn="ctr">
              <a:defRPr b="0" i="0">
                <a:solidFill>
                  <a:schemeClr val="tx2"/>
                </a:solidFill>
                <a:latin typeface=""/>
                <a:ea typeface="SF Pro Semibold" pitchFamily="2" charset="0"/>
                <a:cs typeface="SF Pro Semibold" pitchFamily="2" charset="0"/>
              </a:defRPr>
            </a:lvl1pPr>
          </a:lstStyle>
          <a:p>
            <a:r>
              <a:rPr lang="en-US" dirty="0"/>
              <a:t>Click to edit Master title style</a:t>
            </a:r>
          </a:p>
        </p:txBody>
      </p:sp>
      <p:sp>
        <p:nvSpPr>
          <p:cNvPr id="6" name="Content Placeholder 2">
            <a:extLst>
              <a:ext uri="{FF2B5EF4-FFF2-40B4-BE49-F238E27FC236}">
                <a16:creationId xmlns:a16="http://schemas.microsoft.com/office/drawing/2014/main" id="{CB9D5AAA-A2C4-4EA4-316F-5A7889607177}"/>
              </a:ext>
            </a:extLst>
          </p:cNvPr>
          <p:cNvSpPr>
            <a:spLocks noGrp="1"/>
          </p:cNvSpPr>
          <p:nvPr>
            <p:ph idx="1"/>
          </p:nvPr>
        </p:nvSpPr>
        <p:spPr>
          <a:xfrm>
            <a:off x="838200" y="1097280"/>
            <a:ext cx="10515600" cy="5476240"/>
          </a:xfrm>
          <a:solidFill>
            <a:schemeClr val="bg1">
              <a:alpha val="80497"/>
            </a:schemeClr>
          </a:solidFill>
        </p:spPr>
        <p:txBody>
          <a:bodyPr/>
          <a:lstStyle>
            <a:lvl1pPr>
              <a:defRPr b="0" i="0">
                <a:solidFill>
                  <a:schemeClr val="tx2"/>
                </a:solidFill>
                <a:latin typeface=""/>
                <a:ea typeface="SF Pro Semibold" pitchFamily="2" charset="0"/>
                <a:cs typeface="SF Pro Semibold" pitchFamily="2" charset="0"/>
              </a:defRPr>
            </a:lvl1pPr>
            <a:lvl2pPr>
              <a:defRPr b="0" i="0">
                <a:solidFill>
                  <a:schemeClr val="tx2"/>
                </a:solidFill>
                <a:latin typeface=""/>
                <a:ea typeface="SF Pro Semibold" pitchFamily="2" charset="0"/>
                <a:cs typeface="SF Pro Semibold" pitchFamily="2" charset="0"/>
              </a:defRPr>
            </a:lvl2pPr>
            <a:lvl3pPr>
              <a:defRPr b="0" i="0">
                <a:solidFill>
                  <a:schemeClr val="tx2"/>
                </a:solidFill>
                <a:latin typeface=""/>
                <a:ea typeface="SF Pro Semibold" pitchFamily="2" charset="0"/>
                <a:cs typeface="SF Pro Semibold" pitchFamily="2" charset="0"/>
              </a:defRPr>
            </a:lvl3pPr>
            <a:lvl4pPr>
              <a:defRPr b="0" i="0">
                <a:solidFill>
                  <a:schemeClr val="tx2"/>
                </a:solidFill>
                <a:latin typeface=""/>
                <a:ea typeface="SF Pro Semibold" pitchFamily="2" charset="0"/>
                <a:cs typeface="SF Pro Semibold" pitchFamily="2" charset="0"/>
              </a:defRPr>
            </a:lvl4pPr>
            <a:lvl5pPr>
              <a:defRPr b="0" i="0">
                <a:solidFill>
                  <a:schemeClr val="tx2"/>
                </a:solidFill>
                <a:latin typeface=""/>
                <a:ea typeface="SF Pro Semibold" pitchFamily="2" charset="0"/>
                <a:cs typeface="SF Pro Semibold"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3412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E9D1A-15DF-B82D-8742-2F6367AD21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BCD336-B7EA-D742-83B8-E3BDBC81F2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8289FB-7696-170E-A4D5-21B1E75AF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0E8CF4-2178-1557-99B0-AFDE35AF6B9A}"/>
              </a:ext>
            </a:extLst>
          </p:cNvPr>
          <p:cNvSpPr>
            <a:spLocks noGrp="1"/>
          </p:cNvSpPr>
          <p:nvPr>
            <p:ph type="dt" sz="half" idx="10"/>
          </p:nvPr>
        </p:nvSpPr>
        <p:spPr/>
        <p:txBody>
          <a:bodyPr/>
          <a:lstStyle/>
          <a:p>
            <a:fld id="{0AB0EAFE-D55F-3147-8CCE-692F12D59AD8}" type="datetime1">
              <a:rPr lang="en-US" smtClean="0"/>
              <a:t>9/8/26</a:t>
            </a:fld>
            <a:endParaRPr lang="en-US"/>
          </a:p>
        </p:txBody>
      </p:sp>
      <p:sp>
        <p:nvSpPr>
          <p:cNvPr id="6" name="Footer Placeholder 5">
            <a:extLst>
              <a:ext uri="{FF2B5EF4-FFF2-40B4-BE49-F238E27FC236}">
                <a16:creationId xmlns:a16="http://schemas.microsoft.com/office/drawing/2014/main" id="{2346B4B1-EB34-9529-1363-EDD1A6883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84B50A-D86C-D897-FC50-4A58DE52B660}"/>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51513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CF22-6284-4253-F4BC-BE39BCFA8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55C4B3-0D5D-4CD2-1826-8D59BEF62E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F8CE0-DCE0-0940-9368-5785FDB0C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E764BB-BDD1-8A06-F6D9-97E4CB8EEBCA}"/>
              </a:ext>
            </a:extLst>
          </p:cNvPr>
          <p:cNvSpPr>
            <a:spLocks noGrp="1"/>
          </p:cNvSpPr>
          <p:nvPr>
            <p:ph type="dt" sz="half" idx="10"/>
          </p:nvPr>
        </p:nvSpPr>
        <p:spPr/>
        <p:txBody>
          <a:bodyPr/>
          <a:lstStyle/>
          <a:p>
            <a:fld id="{FB39209F-025D-7F41-BE92-DBF00CE6B85B}" type="datetime1">
              <a:rPr lang="en-US" smtClean="0"/>
              <a:t>9/8/26</a:t>
            </a:fld>
            <a:endParaRPr lang="en-US"/>
          </a:p>
        </p:txBody>
      </p:sp>
      <p:sp>
        <p:nvSpPr>
          <p:cNvPr id="6" name="Footer Placeholder 5">
            <a:extLst>
              <a:ext uri="{FF2B5EF4-FFF2-40B4-BE49-F238E27FC236}">
                <a16:creationId xmlns:a16="http://schemas.microsoft.com/office/drawing/2014/main" id="{DF77A8B3-4EE4-95FF-8041-CC4032C654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B2F168-C83A-0313-FC2D-7FDF601C5899}"/>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1847866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B969-DEDC-48BF-9E53-6462A10479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ACC791-08A5-EF52-F6E5-3DFC81FA3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948B0-F75E-D1D5-EB88-19F409808454}"/>
              </a:ext>
            </a:extLst>
          </p:cNvPr>
          <p:cNvSpPr>
            <a:spLocks noGrp="1"/>
          </p:cNvSpPr>
          <p:nvPr>
            <p:ph type="dt" sz="half" idx="10"/>
          </p:nvPr>
        </p:nvSpPr>
        <p:spPr/>
        <p:txBody>
          <a:bodyPr/>
          <a:lstStyle/>
          <a:p>
            <a:fld id="{E97B4592-35F0-8C45-B128-1525D01C00AB}" type="datetime1">
              <a:rPr lang="en-US" smtClean="0"/>
              <a:t>9/8/26</a:t>
            </a:fld>
            <a:endParaRPr lang="en-US"/>
          </a:p>
        </p:txBody>
      </p:sp>
      <p:sp>
        <p:nvSpPr>
          <p:cNvPr id="5" name="Footer Placeholder 4">
            <a:extLst>
              <a:ext uri="{FF2B5EF4-FFF2-40B4-BE49-F238E27FC236}">
                <a16:creationId xmlns:a16="http://schemas.microsoft.com/office/drawing/2014/main" id="{F56B7F5C-2579-7A67-789B-D7DD982CA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C178E-EEB5-4C07-2645-2B459F829C79}"/>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1692881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AD98A2-6899-A8BF-F3F6-F20E9850D6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7D386-DA09-6F19-55E3-D582516E72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4DD6B8-FE5B-D3CF-4ADB-94678634945F}"/>
              </a:ext>
            </a:extLst>
          </p:cNvPr>
          <p:cNvSpPr>
            <a:spLocks noGrp="1"/>
          </p:cNvSpPr>
          <p:nvPr>
            <p:ph type="dt" sz="half" idx="10"/>
          </p:nvPr>
        </p:nvSpPr>
        <p:spPr/>
        <p:txBody>
          <a:bodyPr/>
          <a:lstStyle/>
          <a:p>
            <a:fld id="{36F36A80-B4E3-7A4A-BDCC-C6FC76E1FDA1}" type="datetime1">
              <a:rPr lang="en-US" smtClean="0"/>
              <a:t>9/8/26</a:t>
            </a:fld>
            <a:endParaRPr lang="en-US"/>
          </a:p>
        </p:txBody>
      </p:sp>
      <p:sp>
        <p:nvSpPr>
          <p:cNvPr id="5" name="Footer Placeholder 4">
            <a:extLst>
              <a:ext uri="{FF2B5EF4-FFF2-40B4-BE49-F238E27FC236}">
                <a16:creationId xmlns:a16="http://schemas.microsoft.com/office/drawing/2014/main" id="{245932E9-EA11-1F92-4BDD-0264D1727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8A6EF-60A1-78ED-78F5-64E5A7A3A562}"/>
              </a:ext>
            </a:extLst>
          </p:cNvPr>
          <p:cNvSpPr>
            <a:spLocks noGrp="1"/>
          </p:cNvSpPr>
          <p:nvPr>
            <p:ph type="sldNum" sz="quarter" idx="12"/>
          </p:nvPr>
        </p:nvSpPr>
        <p:spPr/>
        <p:txBody>
          <a:bodyPr/>
          <a:lstStyle/>
          <a:p>
            <a:fld id="{0D9DF20D-7D64-DD4E-93FD-71BB03726D71}" type="slidenum">
              <a:rPr lang="en-US" smtClean="0"/>
              <a:t>‹#›</a:t>
            </a:fld>
            <a:endParaRPr lang="en-US"/>
          </a:p>
        </p:txBody>
      </p:sp>
    </p:spTree>
    <p:extLst>
      <p:ext uri="{BB962C8B-B14F-4D97-AF65-F5344CB8AC3E}">
        <p14:creationId xmlns:p14="http://schemas.microsoft.com/office/powerpoint/2010/main" val="4178853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baseline="0">
                <a:solidFill>
                  <a:srgbClr val="0000FF"/>
                </a:solidFill>
              </a:defRPr>
            </a:lvl1pPr>
          </a:lstStyle>
          <a:p>
            <a:r>
              <a:rPr lang="en-US"/>
              <a:t>Click to edit Master title style</a:t>
            </a:r>
          </a:p>
        </p:txBody>
      </p:sp>
      <p:sp>
        <p:nvSpPr>
          <p:cNvPr id="14" name="Text Placeholder 13"/>
          <p:cNvSpPr>
            <a:spLocks noGrp="1"/>
          </p:cNvSpPr>
          <p:nvPr>
            <p:ph type="body" sz="quarter" idx="13"/>
          </p:nvPr>
        </p:nvSpPr>
        <p:spPr>
          <a:xfrm>
            <a:off x="609600" y="1600200"/>
            <a:ext cx="10972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17"/>
          <p:cNvSpPr>
            <a:spLocks noGrp="1"/>
          </p:cNvSpPr>
          <p:nvPr>
            <p:ph type="sldNum" sz="quarter" idx="15"/>
          </p:nvPr>
        </p:nvSpPr>
        <p:spPr/>
        <p:txBody>
          <a:bodyPr/>
          <a:lstStyle/>
          <a:p>
            <a:pPr>
              <a:defRPr/>
            </a:pPr>
            <a:fld id="{D14846A1-F25D-40BC-92B0-5009FABE0DD8}" type="slidenum">
              <a:rPr lang="en-US" smtClean="0"/>
              <a:pPr>
                <a:defRPr/>
              </a:pPr>
              <a:t>‹#›</a:t>
            </a:fld>
            <a:endParaRPr lang="en-US"/>
          </a:p>
        </p:txBody>
      </p:sp>
    </p:spTree>
    <p:extLst>
      <p:ext uri="{BB962C8B-B14F-4D97-AF65-F5344CB8AC3E}">
        <p14:creationId xmlns:p14="http://schemas.microsoft.com/office/powerpoint/2010/main" val="2781995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ansition slide">
  <p:cSld name="Transition slide">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415600" y="593367"/>
            <a:ext cx="11360800" cy="5704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549767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F1D424-D9B3-D819-7AD7-C194556BA1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E38479D-6329-13E5-5A0D-F12F0412B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05E7919-D97A-EE89-CCE1-A068D6466A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
                <a:ea typeface="SF Pro Semibold" pitchFamily="2" charset="0"/>
                <a:cs typeface="SF Pro Semibold" pitchFamily="2" charset="0"/>
              </a:defRPr>
            </a:lvl1pPr>
          </a:lstStyle>
          <a:p>
            <a:fld id="{3DA15F94-0FF0-4D42-AD90-48637C6D3DD1}" type="datetime1">
              <a:rPr lang="en-US" smtClean="0"/>
              <a:t>9/8/26</a:t>
            </a:fld>
            <a:endParaRPr lang="en-US"/>
          </a:p>
        </p:txBody>
      </p:sp>
      <p:sp>
        <p:nvSpPr>
          <p:cNvPr id="5" name="Footer Placeholder 4">
            <a:extLst>
              <a:ext uri="{FF2B5EF4-FFF2-40B4-BE49-F238E27FC236}">
                <a16:creationId xmlns:a16="http://schemas.microsoft.com/office/drawing/2014/main" id="{341494EE-6B9C-4DFB-CDA5-44B8BAED85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
                <a:ea typeface="SF Pro Semibold" pitchFamily="2" charset="0"/>
                <a:cs typeface="SF Pro Semibold" pitchFamily="2" charset="0"/>
              </a:defRPr>
            </a:lvl1pPr>
          </a:lstStyle>
          <a:p>
            <a:endParaRPr lang="en-US"/>
          </a:p>
        </p:txBody>
      </p:sp>
      <p:sp>
        <p:nvSpPr>
          <p:cNvPr id="6" name="Slide Number Placeholder 5">
            <a:extLst>
              <a:ext uri="{FF2B5EF4-FFF2-40B4-BE49-F238E27FC236}">
                <a16:creationId xmlns:a16="http://schemas.microsoft.com/office/drawing/2014/main" id="{90D8E4B0-B9E9-ABB6-B7E0-A39EBD319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
                <a:ea typeface="SF Pro Semibold" pitchFamily="2" charset="0"/>
                <a:cs typeface="SF Pro Semibold" pitchFamily="2" charset="0"/>
              </a:defRPr>
            </a:lvl1pPr>
          </a:lstStyle>
          <a:p>
            <a:fld id="{0D9DF20D-7D64-DD4E-93FD-71BB03726D71}" type="slidenum">
              <a:rPr lang="en-US" smtClean="0"/>
              <a:pPr/>
              <a:t>‹#›</a:t>
            </a:fld>
            <a:endParaRPr lang="en-US"/>
          </a:p>
        </p:txBody>
      </p:sp>
    </p:spTree>
    <p:extLst>
      <p:ext uri="{BB962C8B-B14F-4D97-AF65-F5344CB8AC3E}">
        <p14:creationId xmlns:p14="http://schemas.microsoft.com/office/powerpoint/2010/main" val="1669835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2" r:id="rId8"/>
    <p:sldLayoutId id="2147483661" r:id="rId9"/>
    <p:sldLayoutId id="2147483656" r:id="rId10"/>
    <p:sldLayoutId id="2147483657" r:id="rId11"/>
    <p:sldLayoutId id="2147483658" r:id="rId12"/>
    <p:sldLayoutId id="2147483659" r:id="rId13"/>
    <p:sldLayoutId id="2147483660" r:id="rId14"/>
    <p:sldLayoutId id="2147483663"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
          <a:ea typeface="SF Pro Semibold" pitchFamily="2" charset="0"/>
          <a:cs typeface="SF Pro Semibold"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
          <a:ea typeface="SF Pro Semibold" pitchFamily="2" charset="0"/>
          <a:cs typeface="SF Pro Semibold"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
          <a:ea typeface="SF Pro Semibold" pitchFamily="2" charset="0"/>
          <a:cs typeface="SF Pr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
          <a:ea typeface="SF Pro Semibold" pitchFamily="2" charset="0"/>
          <a:cs typeface="SF Pr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
          <a:ea typeface="SF Pro Semibold" pitchFamily="2" charset="0"/>
          <a:cs typeface="SF Pr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
          <a:ea typeface="SF Pro Semibold" pitchFamily="2" charset="0"/>
          <a:cs typeface="SF Pr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atascience.virginia.edu/data-art?lsid=google&amp;lssid=uva_bus_DSSUITE_m_dis_gen&amp;utm_source=google&amp;utm_medium=cpc&amp;utm_term&amp;utm_content&amp;groupid&amp;utm_campaign=uva_bus_DSSUITE_m_dis_gen_google_pmax_x_domestic_b_x_x&amp;uadgroup&amp;uAdCampaign=uva_bus_DSSUITE_m_dis_gen_google_pmax_x_domestic_b_x_x&amp;campid=22804329358&amp;type&amp;network=x&amp;device=c&amp;adid&amp;ptid&amp;ad_pos&amp;fdid&amp;tgid&amp;lphys=9008337&amp;linst&amp;model&amp;sitetarg&amp;gclid=CjwKCAjwwL_UBhAjEiwAEhuT5P6czZ7rPzl452nMKFUo6qp5-qCys1HkB5vr72hD17BTwd2UAYJcgBoCQYEQAvD_BwE&amp;gclsrc=aw.ds&amp;gad_source=1&amp;gad_campaignid=22835329373&amp;gbraid=0AAAAAow-Y2aguIe1nxBnPQ2gClplxx20h" TargetMode="Externa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9.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9.jpe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1.jpeg"/><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2.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pypi.or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C2C9-7984-F822-DAD7-23B94E7A57CB}"/>
              </a:ext>
            </a:extLst>
          </p:cNvPr>
          <p:cNvSpPr>
            <a:spLocks noGrp="1"/>
          </p:cNvSpPr>
          <p:nvPr>
            <p:ph type="title"/>
          </p:nvPr>
        </p:nvSpPr>
        <p:spPr/>
        <p:txBody>
          <a:bodyPr/>
          <a:lstStyle/>
          <a:p>
            <a:r>
              <a:rPr lang="en-US" dirty="0">
                <a:hlinkClick r:id="rId2"/>
              </a:rPr>
              <a:t>Data is ART</a:t>
            </a:r>
            <a:endParaRPr lang="en-US" dirty="0"/>
          </a:p>
        </p:txBody>
      </p:sp>
      <p:sp>
        <p:nvSpPr>
          <p:cNvPr id="3" name="Content Placeholder 2">
            <a:extLst>
              <a:ext uri="{FF2B5EF4-FFF2-40B4-BE49-F238E27FC236}">
                <a16:creationId xmlns:a16="http://schemas.microsoft.com/office/drawing/2014/main" id="{7CC7C888-D987-AF78-6216-EDFBB7899E72}"/>
              </a:ext>
            </a:extLst>
          </p:cNvPr>
          <p:cNvSpPr>
            <a:spLocks noGrp="1"/>
          </p:cNvSpPr>
          <p:nvPr>
            <p:ph idx="1"/>
          </p:nvPr>
        </p:nvSpPr>
        <p:spPr/>
        <p:txBody>
          <a:bodyPr/>
          <a:lstStyle/>
          <a:p>
            <a:r>
              <a:rPr lang="en-US" dirty="0"/>
              <a:t>Friday Sept 4 @ 5pm, SDS</a:t>
            </a:r>
          </a:p>
          <a:p>
            <a:r>
              <a:rPr lang="en-US" dirty="0"/>
              <a:t>Presentation and award ceremony</a:t>
            </a:r>
          </a:p>
        </p:txBody>
      </p:sp>
      <p:pic>
        <p:nvPicPr>
          <p:cNvPr id="4" name="Picture 3" descr="Data Is ART — School of Data Science">
            <a:extLst>
              <a:ext uri="{FF2B5EF4-FFF2-40B4-BE49-F238E27FC236}">
                <a16:creationId xmlns:a16="http://schemas.microsoft.com/office/drawing/2014/main" id="{DC61A13D-2770-469F-BBAD-CD70035254BB}"/>
              </a:ext>
            </a:extLst>
          </p:cNvPr>
          <p:cNvPicPr>
            <a:picLocks noChangeAspect="1"/>
          </p:cNvPicPr>
          <p:nvPr/>
        </p:nvPicPr>
        <p:blipFill>
          <a:blip r:embed="rId3"/>
          <a:stretch>
            <a:fillRect/>
          </a:stretch>
        </p:blipFill>
        <p:spPr>
          <a:xfrm>
            <a:off x="2209800" y="2259584"/>
            <a:ext cx="7772400" cy="4076192"/>
          </a:xfrm>
          <a:prstGeom prst="rect">
            <a:avLst/>
          </a:prstGeom>
        </p:spPr>
      </p:pic>
      <p:sp>
        <p:nvSpPr>
          <p:cNvPr id="5" name="Slide Number Placeholder 4">
            <a:extLst>
              <a:ext uri="{FF2B5EF4-FFF2-40B4-BE49-F238E27FC236}">
                <a16:creationId xmlns:a16="http://schemas.microsoft.com/office/drawing/2014/main" id="{C93D7034-E5AC-5B32-E861-4996F8FC4EE2}"/>
              </a:ext>
            </a:extLst>
          </p:cNvPr>
          <p:cNvSpPr>
            <a:spLocks noGrp="1"/>
          </p:cNvSpPr>
          <p:nvPr>
            <p:ph type="sldNum" sz="quarter" idx="12"/>
          </p:nvPr>
        </p:nvSpPr>
        <p:spPr/>
        <p:txBody>
          <a:bodyPr/>
          <a:lstStyle/>
          <a:p>
            <a:fld id="{0D9DF20D-7D64-DD4E-93FD-71BB03726D71}" type="slidenum">
              <a:rPr lang="en-US" smtClean="0"/>
              <a:t>1</a:t>
            </a:fld>
            <a:endParaRPr lang="en-US"/>
          </a:p>
        </p:txBody>
      </p:sp>
    </p:spTree>
    <p:extLst>
      <p:ext uri="{BB962C8B-B14F-4D97-AF65-F5344CB8AC3E}">
        <p14:creationId xmlns:p14="http://schemas.microsoft.com/office/powerpoint/2010/main" val="620359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3" name="Google Shape;463;p63"/>
          <p:cNvSpPr txBox="1">
            <a:spLocks noGrp="1"/>
          </p:cNvSpPr>
          <p:nvPr>
            <p:ph type="sldNum" sz="quarter" idx="12"/>
          </p:nvPr>
        </p:nvSpPr>
        <p:spPr>
          <a:prstGeom prst="rect">
            <a:avLst/>
          </a:prstGeom>
        </p:spPr>
        <p:txBody>
          <a:bodyPr spcFirstLastPara="1" vert="horz" wrap="square" lIns="121900" tIns="121900" rIns="121900" bIns="121900" rtlCol="0" anchor="ctr" anchorCtr="0">
            <a:normAutofit fontScale="77500" lnSpcReduction="20000"/>
          </a:bodyPr>
          <a:lstStyle/>
          <a:p>
            <a:pPr algn="r"/>
            <a:fld id="{00000000-1234-1234-1234-123412341234}" type="slidenum">
              <a:rPr lang="en"/>
              <a:pPr algn="r"/>
              <a:t>2</a:t>
            </a:fld>
            <a:endParaRPr/>
          </a:p>
        </p:txBody>
      </p:sp>
      <p:sp>
        <p:nvSpPr>
          <p:cNvPr id="461" name="Google Shape;461;p63"/>
          <p:cNvSpPr txBox="1">
            <a:spLocks noGrp="1"/>
          </p:cNvSpPr>
          <p:nvPr>
            <p:ph type="title" idx="4294967295"/>
          </p:nvPr>
        </p:nvSpPr>
        <p:spPr>
          <a:xfrm>
            <a:off x="312516" y="304800"/>
            <a:ext cx="11090497" cy="763588"/>
          </a:xfrm>
          <a:prstGeom prst="rect">
            <a:avLst/>
          </a:prstGeom>
        </p:spPr>
        <p:txBody>
          <a:bodyPr spcFirstLastPara="1" vert="horz" wrap="square" lIns="121900" tIns="121900" rIns="121900" bIns="121900" rtlCol="0" anchor="t" anchorCtr="0">
            <a:normAutofit fontScale="90000"/>
          </a:bodyPr>
          <a:lstStyle/>
          <a:p>
            <a:r>
              <a:rPr lang="en" dirty="0"/>
              <a:t>Two Kinds of Visualization</a:t>
            </a:r>
            <a:endParaRPr dirty="0"/>
          </a:p>
        </p:txBody>
      </p:sp>
      <p:sp>
        <p:nvSpPr>
          <p:cNvPr id="462" name="Google Shape;462;p63"/>
          <p:cNvSpPr txBox="1">
            <a:spLocks noGrp="1"/>
          </p:cNvSpPr>
          <p:nvPr>
            <p:ph type="body" idx="4294967295"/>
          </p:nvPr>
        </p:nvSpPr>
        <p:spPr>
          <a:xfrm>
            <a:off x="312516" y="1068388"/>
            <a:ext cx="5866034" cy="5530850"/>
          </a:xfrm>
          <a:prstGeom prst="rect">
            <a:avLst/>
          </a:prstGeom>
        </p:spPr>
        <p:txBody>
          <a:bodyPr spcFirstLastPara="1" vert="horz" wrap="square" lIns="121900" tIns="121900" rIns="121900" bIns="121900" rtlCol="0" anchor="t" anchorCtr="0">
            <a:normAutofit fontScale="70000" lnSpcReduction="20000"/>
          </a:bodyPr>
          <a:lstStyle/>
          <a:p>
            <a:pPr marL="0" indent="0">
              <a:spcBef>
                <a:spcPts val="0"/>
              </a:spcBef>
              <a:buNone/>
            </a:pPr>
            <a:r>
              <a:rPr lang="en" dirty="0"/>
              <a:t> Some graphs are </a:t>
            </a:r>
            <a:r>
              <a:rPr lang="en" b="1" dirty="0"/>
              <a:t>direct transformations</a:t>
            </a:r>
            <a:r>
              <a:rPr lang="en" dirty="0"/>
              <a:t> of the data</a:t>
            </a:r>
            <a:endParaRPr dirty="0"/>
          </a:p>
          <a:p>
            <a:pPr marL="609608" indent="0">
              <a:spcBef>
                <a:spcPts val="1600"/>
              </a:spcBef>
              <a:buNone/>
            </a:pPr>
            <a:r>
              <a:rPr lang="en" dirty="0"/>
              <a:t>These are designed to </a:t>
            </a:r>
            <a:r>
              <a:rPr lang="en" b="1" dirty="0"/>
              <a:t>describe and explore</a:t>
            </a:r>
            <a:r>
              <a:rPr lang="en" dirty="0"/>
              <a:t> data that has not be analyzed</a:t>
            </a:r>
            <a:endParaRPr dirty="0"/>
          </a:p>
          <a:p>
            <a:pPr marL="609608" indent="0">
              <a:spcBef>
                <a:spcPts val="1600"/>
              </a:spcBef>
              <a:buNone/>
            </a:pPr>
            <a:r>
              <a:rPr lang="en" dirty="0"/>
              <a:t>We call these </a:t>
            </a:r>
            <a:r>
              <a:rPr lang="en" b="1" dirty="0"/>
              <a:t>data visualizations </a:t>
            </a:r>
            <a:r>
              <a:rPr lang="en" b="1" i="1" dirty="0">
                <a:solidFill>
                  <a:schemeClr val="accent6"/>
                </a:solidFill>
              </a:rPr>
              <a:t>exploratory</a:t>
            </a:r>
            <a:endParaRPr b="1" dirty="0">
              <a:solidFill>
                <a:schemeClr val="accent6"/>
              </a:solidFill>
            </a:endParaRPr>
          </a:p>
          <a:p>
            <a:pPr marL="0" indent="0">
              <a:spcBef>
                <a:spcPts val="1600"/>
              </a:spcBef>
              <a:buNone/>
            </a:pPr>
            <a:endParaRPr dirty="0"/>
          </a:p>
          <a:p>
            <a:pPr marL="0" indent="0">
              <a:spcBef>
                <a:spcPts val="1600"/>
              </a:spcBef>
              <a:buNone/>
            </a:pPr>
            <a:r>
              <a:rPr lang="en" dirty="0"/>
              <a:t>Others are highly </a:t>
            </a:r>
            <a:r>
              <a:rPr lang="en" b="1" dirty="0"/>
              <a:t>embellished data visualizations</a:t>
            </a:r>
            <a:endParaRPr b="1" dirty="0"/>
          </a:p>
          <a:p>
            <a:pPr marL="609608" indent="0">
              <a:spcBef>
                <a:spcPts val="1600"/>
              </a:spcBef>
              <a:buNone/>
            </a:pPr>
            <a:r>
              <a:rPr lang="en" dirty="0"/>
              <a:t>These are designed to </a:t>
            </a:r>
            <a:r>
              <a:rPr lang="en" b="1" dirty="0"/>
              <a:t>communicate and explain</a:t>
            </a:r>
            <a:r>
              <a:rPr lang="en" dirty="0"/>
              <a:t> results of analysis</a:t>
            </a:r>
          </a:p>
          <a:p>
            <a:pPr marL="609608" indent="0">
              <a:spcBef>
                <a:spcPts val="1600"/>
              </a:spcBef>
              <a:buNone/>
            </a:pPr>
            <a:r>
              <a:rPr lang="en" dirty="0"/>
              <a:t>These are examples of </a:t>
            </a:r>
            <a:r>
              <a:rPr lang="en" b="1" dirty="0"/>
              <a:t>storytelling with visualization</a:t>
            </a:r>
          </a:p>
          <a:p>
            <a:pPr marL="609608" indent="0">
              <a:spcBef>
                <a:spcPts val="1600"/>
              </a:spcBef>
              <a:buNone/>
            </a:pPr>
            <a:r>
              <a:rPr lang="en-US" dirty="0"/>
              <a:t>We call these </a:t>
            </a:r>
            <a:r>
              <a:rPr lang="en-US" b="1" i="1" dirty="0">
                <a:solidFill>
                  <a:schemeClr val="accent6"/>
                </a:solidFill>
              </a:rPr>
              <a:t>explanatory</a:t>
            </a:r>
            <a:endParaRPr b="1" dirty="0"/>
          </a:p>
          <a:p>
            <a:pPr marL="1219215" indent="0">
              <a:spcBef>
                <a:spcPts val="1600"/>
              </a:spcBef>
              <a:spcAft>
                <a:spcPts val="1600"/>
              </a:spcAft>
              <a:buNone/>
            </a:pPr>
            <a:r>
              <a:rPr lang="en" dirty="0"/>
              <a:t>Infographics, scientific figures, etc. </a:t>
            </a:r>
            <a:endParaRPr lang="en-US" b="1" i="1" dirty="0">
              <a:solidFill>
                <a:schemeClr val="accent6"/>
              </a:solidFill>
            </a:endParaRPr>
          </a:p>
        </p:txBody>
      </p:sp>
      <p:pic>
        <p:nvPicPr>
          <p:cNvPr id="465" name="Google Shape;465;p63" descr="images/paste-24.png"/>
          <p:cNvPicPr preferRelativeResize="0"/>
          <p:nvPr/>
        </p:nvPicPr>
        <p:blipFill rotWithShape="1">
          <a:blip r:embed="rId3">
            <a:alphaModFix/>
          </a:blip>
          <a:srcRect/>
          <a:stretch/>
        </p:blipFill>
        <p:spPr>
          <a:xfrm>
            <a:off x="6383671" y="4127598"/>
            <a:ext cx="5715732" cy="2090067"/>
          </a:xfrm>
          <a:prstGeom prst="rect">
            <a:avLst/>
          </a:prstGeom>
          <a:noFill/>
          <a:ln>
            <a:noFill/>
          </a:ln>
          <a:effectLst>
            <a:outerShdw blurRad="142875" dist="95250" dir="5400000" algn="bl" rotWithShape="0">
              <a:srgbClr val="000000">
                <a:alpha val="50000"/>
              </a:srgbClr>
            </a:outerShdw>
          </a:effectLst>
        </p:spPr>
      </p:pic>
      <p:pic>
        <p:nvPicPr>
          <p:cNvPr id="2" name="Google Shape;327;p41" descr="images/paste-20.png">
            <a:extLst>
              <a:ext uri="{FF2B5EF4-FFF2-40B4-BE49-F238E27FC236}">
                <a16:creationId xmlns:a16="http://schemas.microsoft.com/office/drawing/2014/main" id="{3BB265DD-7DE5-4C04-6252-5C974D2CB05B}"/>
              </a:ext>
            </a:extLst>
          </p:cNvPr>
          <p:cNvPicPr preferRelativeResize="0"/>
          <p:nvPr/>
        </p:nvPicPr>
        <p:blipFill rotWithShape="1">
          <a:blip r:embed="rId4">
            <a:alphaModFix/>
          </a:blip>
          <a:srcRect/>
          <a:stretch/>
        </p:blipFill>
        <p:spPr>
          <a:xfrm>
            <a:off x="6855501" y="1068234"/>
            <a:ext cx="4441110" cy="22289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5"/>
          <p:cNvSpPr txBox="1">
            <a:spLocks noGrp="1"/>
          </p:cNvSpPr>
          <p:nvPr>
            <p:ph type="sldNum" sz="quarter" idx="12"/>
          </p:nvPr>
        </p:nvSpPr>
        <p:spPr>
          <a:prstGeom prst="rect">
            <a:avLst/>
          </a:prstGeom>
        </p:spPr>
        <p:txBody>
          <a:bodyPr spcFirstLastPara="1" vert="horz" wrap="square" lIns="121900" tIns="121900" rIns="121900" bIns="121900" rtlCol="0" anchor="ctr" anchorCtr="0">
            <a:normAutofit fontScale="77500" lnSpcReduction="20000"/>
          </a:bodyPr>
          <a:lstStyle/>
          <a:p>
            <a:pPr algn="r"/>
            <a:fld id="{00000000-1234-1234-1234-123412341234}" type="slidenum">
              <a:rPr lang="en"/>
              <a:pPr algn="r"/>
              <a:t>3</a:t>
            </a:fld>
            <a:endParaRPr/>
          </a:p>
        </p:txBody>
      </p:sp>
      <p:sp>
        <p:nvSpPr>
          <p:cNvPr id="499" name="Google Shape;499;p65"/>
          <p:cNvSpPr txBox="1">
            <a:spLocks noGrp="1"/>
          </p:cNvSpPr>
          <p:nvPr>
            <p:ph type="title" idx="4294967295"/>
          </p:nvPr>
        </p:nvSpPr>
        <p:spPr>
          <a:xfrm>
            <a:off x="415925" y="355186"/>
            <a:ext cx="11360150" cy="5703888"/>
          </a:xfrm>
          <a:prstGeom prst="rect">
            <a:avLst/>
          </a:prstGeom>
        </p:spPr>
        <p:txBody>
          <a:bodyPr spcFirstLastPara="1" vert="horz" wrap="square" lIns="121900" tIns="121900" rIns="121900" bIns="121900" rtlCol="0" anchor="ctr" anchorCtr="0">
            <a:normAutofit/>
          </a:bodyPr>
          <a:lstStyle/>
          <a:p>
            <a:pPr algn="ctr"/>
            <a:r>
              <a:rPr lang="en" dirty="0"/>
              <a:t>This </a:t>
            </a:r>
            <a:r>
              <a:rPr lang="en" b="1" dirty="0"/>
              <a:t>structure of this course</a:t>
            </a:r>
            <a:r>
              <a:rPr lang="en" dirty="0"/>
              <a:t> follows this pattern</a:t>
            </a:r>
            <a:endParaRPr dirty="0"/>
          </a:p>
          <a:p>
            <a:pPr algn="ctr"/>
            <a:endParaRPr dirty="0"/>
          </a:p>
          <a:p>
            <a:pPr algn="ctr"/>
            <a:r>
              <a:rPr lang="en" dirty="0"/>
              <a:t>The </a:t>
            </a:r>
            <a:r>
              <a:rPr lang="en" b="1" dirty="0"/>
              <a:t>first half</a:t>
            </a:r>
            <a:r>
              <a:rPr lang="en" dirty="0"/>
              <a:t> will focus on </a:t>
            </a:r>
            <a:r>
              <a:rPr lang="en" b="1" dirty="0">
                <a:solidFill>
                  <a:srgbClr val="FF2F92"/>
                </a:solidFill>
              </a:rPr>
              <a:t>exploratory</a:t>
            </a:r>
            <a:endParaRPr dirty="0">
              <a:solidFill>
                <a:srgbClr val="FF2F92"/>
              </a:solidFill>
            </a:endParaRPr>
          </a:p>
          <a:p>
            <a:pPr algn="ctr"/>
            <a:r>
              <a:rPr lang="en" dirty="0"/>
              <a:t>data visualization</a:t>
            </a:r>
            <a:endParaRPr dirty="0"/>
          </a:p>
          <a:p>
            <a:pPr algn="ctr"/>
            <a:endParaRPr dirty="0"/>
          </a:p>
          <a:p>
            <a:pPr algn="ctr"/>
            <a:r>
              <a:rPr lang="en" dirty="0"/>
              <a:t>The </a:t>
            </a:r>
            <a:r>
              <a:rPr lang="en" b="1" dirty="0"/>
              <a:t>second half</a:t>
            </a:r>
            <a:r>
              <a:rPr lang="en" dirty="0"/>
              <a:t> will focus on </a:t>
            </a:r>
            <a:r>
              <a:rPr lang="en" b="1" dirty="0"/>
              <a:t>explanatory</a:t>
            </a:r>
            <a:r>
              <a:rPr lang="en" dirty="0"/>
              <a:t> </a:t>
            </a:r>
            <a:endParaRPr dirty="0"/>
          </a:p>
          <a:p>
            <a:pPr algn="ctr"/>
            <a:r>
              <a:rPr lang="en" dirty="0"/>
              <a:t>storytelling and infographics </a:t>
            </a:r>
            <a:endParaRPr dirty="0"/>
          </a:p>
        </p:txBody>
      </p:sp>
      <p:sp>
        <p:nvSpPr>
          <p:cNvPr id="2" name="TextBox 1">
            <a:extLst>
              <a:ext uri="{FF2B5EF4-FFF2-40B4-BE49-F238E27FC236}">
                <a16:creationId xmlns:a16="http://schemas.microsoft.com/office/drawing/2014/main" id="{5C87B1EF-D3F0-5D0F-733C-CAE591FEEA97}"/>
              </a:ext>
            </a:extLst>
          </p:cNvPr>
          <p:cNvSpPr txBox="1"/>
          <p:nvPr/>
        </p:nvSpPr>
        <p:spPr>
          <a:xfrm>
            <a:off x="1381469" y="5837833"/>
            <a:ext cx="2557688" cy="461665"/>
          </a:xfrm>
          <a:prstGeom prst="rect">
            <a:avLst/>
          </a:prstGeom>
          <a:noFill/>
        </p:spPr>
        <p:txBody>
          <a:bodyPr wrap="none" rtlCol="0">
            <a:spAutoFit/>
          </a:bodyPr>
          <a:lstStyle/>
          <a:p>
            <a:r>
              <a:rPr lang="en-US" sz="2400" dirty="0"/>
              <a:t>What is the </a:t>
            </a:r>
            <a:r>
              <a:rPr lang="en-US" sz="2400" i="1" dirty="0"/>
              <a:t>intent</a:t>
            </a:r>
            <a:r>
              <a:rPr lang="en-US" sz="2400" dirty="0"/>
              <a:t>?</a:t>
            </a:r>
          </a:p>
        </p:txBody>
      </p:sp>
      <p:sp>
        <p:nvSpPr>
          <p:cNvPr id="3" name="TextBox 2">
            <a:extLst>
              <a:ext uri="{FF2B5EF4-FFF2-40B4-BE49-F238E27FC236}">
                <a16:creationId xmlns:a16="http://schemas.microsoft.com/office/drawing/2014/main" id="{1589949E-1F77-4CB0-3084-95CCC098B9F8}"/>
              </a:ext>
            </a:extLst>
          </p:cNvPr>
          <p:cNvSpPr txBox="1"/>
          <p:nvPr/>
        </p:nvSpPr>
        <p:spPr>
          <a:xfrm>
            <a:off x="4402966" y="5828241"/>
            <a:ext cx="7373109" cy="461665"/>
          </a:xfrm>
          <a:prstGeom prst="rect">
            <a:avLst/>
          </a:prstGeom>
          <a:noFill/>
        </p:spPr>
        <p:txBody>
          <a:bodyPr wrap="none" rtlCol="0">
            <a:spAutoFit/>
          </a:bodyPr>
          <a:lstStyle/>
          <a:p>
            <a:r>
              <a:rPr lang="en-US" sz="2400" dirty="0"/>
              <a:t>Is the graphic displaying an underlying </a:t>
            </a:r>
            <a:r>
              <a:rPr lang="en-US" sz="2400" i="1" dirty="0"/>
              <a:t>model</a:t>
            </a:r>
            <a:r>
              <a:rPr lang="en-US" sz="2400" dirty="0"/>
              <a:t> of the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B0328-CD31-A643-76EB-5FE9CD56495B}"/>
              </a:ext>
            </a:extLst>
          </p:cNvPr>
          <p:cNvSpPr>
            <a:spLocks noGrp="1"/>
          </p:cNvSpPr>
          <p:nvPr>
            <p:ph type="sldNum" sz="quarter" idx="12"/>
          </p:nvPr>
        </p:nvSpPr>
        <p:spPr/>
        <p:txBody>
          <a:bodyPr/>
          <a:lstStyle/>
          <a:p>
            <a:fld id="{0D9DF20D-7D64-DD4E-93FD-71BB03726D71}" type="slidenum">
              <a:rPr lang="en-US" smtClean="0"/>
              <a:t>4</a:t>
            </a:fld>
            <a:endParaRPr lang="en-US"/>
          </a:p>
        </p:txBody>
      </p:sp>
      <p:sp>
        <p:nvSpPr>
          <p:cNvPr id="3" name="Title 2">
            <a:extLst>
              <a:ext uri="{FF2B5EF4-FFF2-40B4-BE49-F238E27FC236}">
                <a16:creationId xmlns:a16="http://schemas.microsoft.com/office/drawing/2014/main" id="{12D94894-55B6-35F4-E598-88C93ABC827E}"/>
              </a:ext>
            </a:extLst>
          </p:cNvPr>
          <p:cNvSpPr>
            <a:spLocks noGrp="1"/>
          </p:cNvSpPr>
          <p:nvPr>
            <p:ph type="title"/>
          </p:nvPr>
        </p:nvSpPr>
        <p:spPr/>
        <p:txBody>
          <a:bodyPr/>
          <a:lstStyle/>
          <a:p>
            <a:r>
              <a:rPr lang="en-US" dirty="0"/>
              <a:t>To explore data, we often need to code</a:t>
            </a:r>
          </a:p>
        </p:txBody>
      </p:sp>
      <p:grpSp>
        <p:nvGrpSpPr>
          <p:cNvPr id="22" name="Group 21">
            <a:extLst>
              <a:ext uri="{FF2B5EF4-FFF2-40B4-BE49-F238E27FC236}">
                <a16:creationId xmlns:a16="http://schemas.microsoft.com/office/drawing/2014/main" id="{91099B4F-F507-B605-90C1-E46EE2B1062D}"/>
              </a:ext>
            </a:extLst>
          </p:cNvPr>
          <p:cNvGrpSpPr/>
          <p:nvPr/>
        </p:nvGrpSpPr>
        <p:grpSpPr>
          <a:xfrm>
            <a:off x="1947176" y="799866"/>
            <a:ext cx="8297647" cy="6058134"/>
            <a:chOff x="-740400" y="1181344"/>
            <a:chExt cx="14714133" cy="10742826"/>
          </a:xfrm>
        </p:grpSpPr>
        <p:sp>
          <p:nvSpPr>
            <p:cNvPr id="5" name="Google Shape;230;p29">
              <a:extLst>
                <a:ext uri="{FF2B5EF4-FFF2-40B4-BE49-F238E27FC236}">
                  <a16:creationId xmlns:a16="http://schemas.microsoft.com/office/drawing/2014/main" id="{3CC1929E-839A-0866-036B-37E1AAF1E274}"/>
                </a:ext>
              </a:extLst>
            </p:cNvPr>
            <p:cNvSpPr txBox="1"/>
            <p:nvPr/>
          </p:nvSpPr>
          <p:spPr>
            <a:xfrm>
              <a:off x="1247600" y="2250540"/>
              <a:ext cx="1371200" cy="1309722"/>
            </a:xfrm>
            <a:prstGeom prst="rect">
              <a:avLst/>
            </a:prstGeom>
            <a:noFill/>
            <a:ln>
              <a:noFill/>
            </a:ln>
          </p:spPr>
          <p:txBody>
            <a:bodyPr spcFirstLastPara="1" wrap="square" lIns="243800" tIns="243800" rIns="243800" bIns="243800" anchor="t" anchorCtr="0">
              <a:spAutoFit/>
            </a:bodyPr>
            <a:lstStyle/>
            <a:p>
              <a:r>
                <a:rPr lang="en" sz="1600" i="1">
                  <a:solidFill>
                    <a:schemeClr val="dk2"/>
                  </a:solidFill>
                  <a:latin typeface="EB Garamond"/>
                  <a:ea typeface="EB Garamond"/>
                  <a:cs typeface="EB Garamond"/>
                  <a:sym typeface="EB Garamond"/>
                </a:rPr>
                <a:t>W</a:t>
              </a:r>
              <a:r>
                <a:rPr lang="en" sz="1600" i="1" baseline="-25000">
                  <a:solidFill>
                    <a:schemeClr val="dk2"/>
                  </a:solidFill>
                  <a:latin typeface="EB Garamond"/>
                  <a:ea typeface="EB Garamond"/>
                  <a:cs typeface="EB Garamond"/>
                  <a:sym typeface="EB Garamond"/>
                </a:rPr>
                <a:t>1</a:t>
              </a:r>
              <a:endParaRPr sz="1600" i="1" baseline="-25000">
                <a:solidFill>
                  <a:schemeClr val="dk2"/>
                </a:solidFill>
                <a:latin typeface="EB Garamond"/>
                <a:ea typeface="EB Garamond"/>
                <a:cs typeface="EB Garamond"/>
                <a:sym typeface="EB Garamond"/>
              </a:endParaRPr>
            </a:p>
          </p:txBody>
        </p:sp>
        <p:sp>
          <p:nvSpPr>
            <p:cNvPr id="6" name="Google Shape;231;p29">
              <a:extLst>
                <a:ext uri="{FF2B5EF4-FFF2-40B4-BE49-F238E27FC236}">
                  <a16:creationId xmlns:a16="http://schemas.microsoft.com/office/drawing/2014/main" id="{3359E4E5-CCB3-64BA-DCF1-22868B94774B}"/>
                </a:ext>
              </a:extLst>
            </p:cNvPr>
            <p:cNvSpPr txBox="1"/>
            <p:nvPr/>
          </p:nvSpPr>
          <p:spPr>
            <a:xfrm>
              <a:off x="-740400" y="5097135"/>
              <a:ext cx="2662400" cy="1637188"/>
            </a:xfrm>
            <a:prstGeom prst="rect">
              <a:avLst/>
            </a:prstGeom>
            <a:noFill/>
            <a:ln>
              <a:noFill/>
            </a:ln>
          </p:spPr>
          <p:txBody>
            <a:bodyPr spcFirstLastPara="1" wrap="square" lIns="243800" tIns="243800" rIns="243800" bIns="243800" anchor="t" anchorCtr="0">
              <a:spAutoFit/>
            </a:bodyPr>
            <a:lstStyle/>
            <a:p>
              <a:r>
                <a:rPr lang="en" sz="1400" b="1">
                  <a:solidFill>
                    <a:schemeClr val="dk2"/>
                  </a:solidFill>
                  <a:latin typeface="Lato"/>
                  <a:ea typeface="Lato"/>
                  <a:cs typeface="Lato"/>
                  <a:sym typeface="Lato"/>
                </a:rPr>
                <a:t>The Real World</a:t>
              </a:r>
              <a:endParaRPr sz="1400" i="1" baseline="-25000">
                <a:solidFill>
                  <a:schemeClr val="dk2"/>
                </a:solidFill>
                <a:latin typeface="EB Garamond"/>
                <a:ea typeface="EB Garamond"/>
                <a:cs typeface="EB Garamond"/>
                <a:sym typeface="EB Garamond"/>
              </a:endParaRPr>
            </a:p>
          </p:txBody>
        </p:sp>
        <p:sp>
          <p:nvSpPr>
            <p:cNvPr id="7" name="Google Shape;232;p29">
              <a:extLst>
                <a:ext uri="{FF2B5EF4-FFF2-40B4-BE49-F238E27FC236}">
                  <a16:creationId xmlns:a16="http://schemas.microsoft.com/office/drawing/2014/main" id="{FD49BF96-8D88-2126-2919-3C703F7C87D1}"/>
                </a:ext>
              </a:extLst>
            </p:cNvPr>
            <p:cNvSpPr/>
            <p:nvPr/>
          </p:nvSpPr>
          <p:spPr>
            <a:xfrm>
              <a:off x="2661134" y="3050874"/>
              <a:ext cx="8809667" cy="5818467"/>
            </a:xfrm>
            <a:custGeom>
              <a:avLst/>
              <a:gdLst/>
              <a:ahLst/>
              <a:cxnLst/>
              <a:rect l="l" t="t" r="r" b="b"/>
              <a:pathLst>
                <a:path w="132145" h="87277" extrusionOk="0">
                  <a:moveTo>
                    <a:pt x="898" y="0"/>
                  </a:moveTo>
                  <a:cubicBezTo>
                    <a:pt x="19744" y="4562"/>
                    <a:pt x="93036" y="18136"/>
                    <a:pt x="113976" y="27372"/>
                  </a:cubicBezTo>
                  <a:cubicBezTo>
                    <a:pt x="134917" y="36608"/>
                    <a:pt x="135740" y="46891"/>
                    <a:pt x="126541" y="55417"/>
                  </a:cubicBezTo>
                  <a:cubicBezTo>
                    <a:pt x="117342" y="63943"/>
                    <a:pt x="79873" y="73216"/>
                    <a:pt x="58783" y="78526"/>
                  </a:cubicBezTo>
                  <a:cubicBezTo>
                    <a:pt x="37693" y="83836"/>
                    <a:pt x="9797" y="85819"/>
                    <a:pt x="0" y="87277"/>
                  </a:cubicBezTo>
                </a:path>
              </a:pathLst>
            </a:custGeom>
            <a:noFill/>
            <a:ln w="76200" cap="flat" cmpd="sng">
              <a:solidFill>
                <a:srgbClr val="1155CC"/>
              </a:solidFill>
              <a:prstDash val="solid"/>
              <a:round/>
              <a:headEnd type="oval" w="med" len="med"/>
              <a:tailEnd type="triangle" w="med" len="med"/>
            </a:ln>
          </p:spPr>
          <p:txBody>
            <a:bodyPr/>
            <a:lstStyle/>
            <a:p>
              <a:endParaRPr lang="en-US" sz="2800"/>
            </a:p>
          </p:txBody>
        </p:sp>
        <p:sp>
          <p:nvSpPr>
            <p:cNvPr id="8" name="Google Shape;233;p29">
              <a:extLst>
                <a:ext uri="{FF2B5EF4-FFF2-40B4-BE49-F238E27FC236}">
                  <a16:creationId xmlns:a16="http://schemas.microsoft.com/office/drawing/2014/main" id="{5F6823FC-85FE-DDEE-8F7E-566A3D1110EE}"/>
                </a:ext>
              </a:extLst>
            </p:cNvPr>
            <p:cNvSpPr txBox="1"/>
            <p:nvPr/>
          </p:nvSpPr>
          <p:spPr>
            <a:xfrm>
              <a:off x="1281666" y="8488874"/>
              <a:ext cx="1253601" cy="1600802"/>
            </a:xfrm>
            <a:prstGeom prst="rect">
              <a:avLst/>
            </a:prstGeom>
            <a:noFill/>
            <a:ln>
              <a:noFill/>
            </a:ln>
          </p:spPr>
          <p:txBody>
            <a:bodyPr spcFirstLastPara="1" wrap="square" lIns="243800" tIns="243800" rIns="243800" bIns="243800" anchor="t" anchorCtr="0">
              <a:spAutoFit/>
            </a:bodyPr>
            <a:lstStyle/>
            <a:p>
              <a:r>
                <a:rPr lang="en" sz="1600" i="1">
                  <a:solidFill>
                    <a:schemeClr val="dk2"/>
                  </a:solidFill>
                  <a:latin typeface="EB Garamond"/>
                  <a:ea typeface="EB Garamond"/>
                  <a:cs typeface="EB Garamond"/>
                  <a:sym typeface="EB Garamond"/>
                </a:rPr>
                <a:t>W</a:t>
              </a:r>
              <a:r>
                <a:rPr lang="en" sz="1600" i="1" baseline="-25000">
                  <a:solidFill>
                    <a:schemeClr val="dk2"/>
                  </a:solidFill>
                  <a:latin typeface="EB Garamond"/>
                  <a:ea typeface="EB Garamond"/>
                  <a:cs typeface="EB Garamond"/>
                  <a:sym typeface="EB Garamond"/>
                </a:rPr>
                <a:t>2</a:t>
              </a:r>
              <a:endParaRPr sz="1600" i="1" baseline="-25000">
                <a:solidFill>
                  <a:schemeClr val="dk2"/>
                </a:solidFill>
                <a:latin typeface="EB Garamond"/>
                <a:ea typeface="EB Garamond"/>
                <a:cs typeface="EB Garamond"/>
                <a:sym typeface="EB Garamond"/>
              </a:endParaRPr>
            </a:p>
          </p:txBody>
        </p:sp>
        <p:sp>
          <p:nvSpPr>
            <p:cNvPr id="9" name="Google Shape;234;p29">
              <a:extLst>
                <a:ext uri="{FF2B5EF4-FFF2-40B4-BE49-F238E27FC236}">
                  <a16:creationId xmlns:a16="http://schemas.microsoft.com/office/drawing/2014/main" id="{E7A7A9EE-1D79-63DD-7631-66D05790C4D4}"/>
                </a:ext>
              </a:extLst>
            </p:cNvPr>
            <p:cNvSpPr txBox="1"/>
            <p:nvPr/>
          </p:nvSpPr>
          <p:spPr>
            <a:xfrm>
              <a:off x="120600" y="9577473"/>
              <a:ext cx="3515200" cy="2346697"/>
            </a:xfrm>
            <a:prstGeom prst="rect">
              <a:avLst/>
            </a:prstGeom>
            <a:noFill/>
            <a:ln>
              <a:noFill/>
            </a:ln>
          </p:spPr>
          <p:txBody>
            <a:bodyPr spcFirstLastPara="1" wrap="square" lIns="243800" tIns="243800" rIns="243800" bIns="243800" anchor="t" anchorCtr="0">
              <a:spAutoFit/>
            </a:bodyPr>
            <a:lstStyle/>
            <a:p>
              <a:r>
                <a:rPr lang="en" b="1">
                  <a:solidFill>
                    <a:schemeClr val="dk2"/>
                  </a:solidFill>
                  <a:latin typeface="Lato"/>
                  <a:ea typeface="Lato"/>
                  <a:cs typeface="Lato"/>
                  <a:sym typeface="Lato"/>
                </a:rPr>
                <a:t>Interfacing</a:t>
              </a:r>
              <a:r>
                <a:rPr lang="en">
                  <a:solidFill>
                    <a:schemeClr val="dk2"/>
                  </a:solidFill>
                  <a:latin typeface="Lato"/>
                  <a:ea typeface="Lato"/>
                  <a:cs typeface="Lato"/>
                  <a:sym typeface="Lato"/>
                </a:rPr>
                <a:t> with the real world</a:t>
              </a:r>
              <a:endParaRPr>
                <a:solidFill>
                  <a:schemeClr val="dk2"/>
                </a:solidFill>
                <a:latin typeface="Lato"/>
                <a:ea typeface="Lato"/>
                <a:cs typeface="Lato"/>
                <a:sym typeface="Lato"/>
              </a:endParaRPr>
            </a:p>
          </p:txBody>
        </p:sp>
        <p:sp>
          <p:nvSpPr>
            <p:cNvPr id="10" name="Google Shape;235;p29">
              <a:extLst>
                <a:ext uri="{FF2B5EF4-FFF2-40B4-BE49-F238E27FC236}">
                  <a16:creationId xmlns:a16="http://schemas.microsoft.com/office/drawing/2014/main" id="{FF114852-2DDA-4D05-713E-9601AD4B3433}"/>
                </a:ext>
              </a:extLst>
            </p:cNvPr>
            <p:cNvSpPr txBox="1"/>
            <p:nvPr/>
          </p:nvSpPr>
          <p:spPr>
            <a:xfrm>
              <a:off x="4390134" y="9577473"/>
              <a:ext cx="5908800" cy="1855499"/>
            </a:xfrm>
            <a:prstGeom prst="rect">
              <a:avLst/>
            </a:prstGeom>
            <a:noFill/>
            <a:ln>
              <a:noFill/>
            </a:ln>
          </p:spPr>
          <p:txBody>
            <a:bodyPr spcFirstLastPara="1" wrap="square" lIns="243800" tIns="243800" rIns="243800" bIns="243800" anchor="t" anchorCtr="0">
              <a:spAutoFit/>
            </a:bodyPr>
            <a:lstStyle/>
            <a:p>
              <a:r>
                <a:rPr lang="en" b="1">
                  <a:solidFill>
                    <a:schemeClr val="dk2"/>
                  </a:solidFill>
                  <a:latin typeface="Lato"/>
                  <a:ea typeface="Lato"/>
                  <a:cs typeface="Lato"/>
                  <a:sym typeface="Lato"/>
                </a:rPr>
                <a:t>Transferring</a:t>
              </a:r>
              <a:r>
                <a:rPr lang="en">
                  <a:solidFill>
                    <a:schemeClr val="dk2"/>
                  </a:solidFill>
                  <a:latin typeface="Lato"/>
                  <a:ea typeface="Lato"/>
                  <a:cs typeface="Lato"/>
                  <a:sym typeface="Lato"/>
                </a:rPr>
                <a:t> information between world and models</a:t>
              </a:r>
              <a:endParaRPr i="1" baseline="-25000">
                <a:solidFill>
                  <a:schemeClr val="dk2"/>
                </a:solidFill>
                <a:latin typeface="Lato"/>
                <a:ea typeface="Lato"/>
                <a:cs typeface="Lato"/>
                <a:sym typeface="Lato"/>
              </a:endParaRPr>
            </a:p>
          </p:txBody>
        </p:sp>
        <p:sp>
          <p:nvSpPr>
            <p:cNvPr id="11" name="Google Shape;236;p29">
              <a:extLst>
                <a:ext uri="{FF2B5EF4-FFF2-40B4-BE49-F238E27FC236}">
                  <a16:creationId xmlns:a16="http://schemas.microsoft.com/office/drawing/2014/main" id="{9D7209BC-BDCF-F359-76D1-37C47607FCAB}"/>
                </a:ext>
              </a:extLst>
            </p:cNvPr>
            <p:cNvSpPr txBox="1"/>
            <p:nvPr/>
          </p:nvSpPr>
          <p:spPr>
            <a:xfrm>
              <a:off x="10814401" y="9577473"/>
              <a:ext cx="2755199" cy="1855499"/>
            </a:xfrm>
            <a:prstGeom prst="rect">
              <a:avLst/>
            </a:prstGeom>
            <a:noFill/>
            <a:ln>
              <a:noFill/>
            </a:ln>
          </p:spPr>
          <p:txBody>
            <a:bodyPr spcFirstLastPara="1" wrap="square" lIns="243800" tIns="243800" rIns="243800" bIns="243800" anchor="t" anchorCtr="0">
              <a:spAutoFit/>
            </a:bodyPr>
            <a:lstStyle/>
            <a:p>
              <a:r>
                <a:rPr lang="en" b="1">
                  <a:solidFill>
                    <a:schemeClr val="dk2"/>
                  </a:solidFill>
                  <a:latin typeface="Lato"/>
                  <a:ea typeface="Lato"/>
                  <a:cs typeface="Lato"/>
                  <a:sym typeface="Lato"/>
                </a:rPr>
                <a:t>Models</a:t>
              </a:r>
              <a:r>
                <a:rPr lang="en">
                  <a:solidFill>
                    <a:schemeClr val="dk2"/>
                  </a:solidFill>
                  <a:latin typeface="Lato"/>
                  <a:ea typeface="Lato"/>
                  <a:cs typeface="Lato"/>
                  <a:sym typeface="Lato"/>
                </a:rPr>
                <a:t> of the world</a:t>
              </a:r>
              <a:endParaRPr>
                <a:solidFill>
                  <a:schemeClr val="dk2"/>
                </a:solidFill>
                <a:latin typeface="Lato"/>
                <a:ea typeface="Lato"/>
                <a:cs typeface="Lato"/>
                <a:sym typeface="Lato"/>
              </a:endParaRPr>
            </a:p>
          </p:txBody>
        </p:sp>
        <p:cxnSp>
          <p:nvCxnSpPr>
            <p:cNvPr id="12" name="Google Shape;237;p29">
              <a:extLst>
                <a:ext uri="{FF2B5EF4-FFF2-40B4-BE49-F238E27FC236}">
                  <a16:creationId xmlns:a16="http://schemas.microsoft.com/office/drawing/2014/main" id="{691689A2-2580-6911-0A4A-BFE72B8611E6}"/>
                </a:ext>
              </a:extLst>
            </p:cNvPr>
            <p:cNvCxnSpPr/>
            <p:nvPr/>
          </p:nvCxnSpPr>
          <p:spPr>
            <a:xfrm>
              <a:off x="4285333" y="2054406"/>
              <a:ext cx="104800" cy="7718400"/>
            </a:xfrm>
            <a:prstGeom prst="straightConnector1">
              <a:avLst/>
            </a:prstGeom>
            <a:noFill/>
            <a:ln w="38100" cap="flat" cmpd="sng">
              <a:solidFill>
                <a:srgbClr val="999999"/>
              </a:solidFill>
              <a:prstDash val="dash"/>
              <a:round/>
              <a:headEnd type="none" w="med" len="med"/>
              <a:tailEnd type="none" w="med" len="med"/>
            </a:ln>
          </p:spPr>
        </p:cxnSp>
        <p:cxnSp>
          <p:nvCxnSpPr>
            <p:cNvPr id="13" name="Google Shape;238;p29">
              <a:extLst>
                <a:ext uri="{FF2B5EF4-FFF2-40B4-BE49-F238E27FC236}">
                  <a16:creationId xmlns:a16="http://schemas.microsoft.com/office/drawing/2014/main" id="{10A60291-C9ED-A693-41AC-7C76E90CFC64}"/>
                </a:ext>
              </a:extLst>
            </p:cNvPr>
            <p:cNvCxnSpPr/>
            <p:nvPr/>
          </p:nvCxnSpPr>
          <p:spPr>
            <a:xfrm>
              <a:off x="10178533" y="2024539"/>
              <a:ext cx="120000" cy="7732800"/>
            </a:xfrm>
            <a:prstGeom prst="straightConnector1">
              <a:avLst/>
            </a:prstGeom>
            <a:noFill/>
            <a:ln w="38100" cap="flat" cmpd="sng">
              <a:solidFill>
                <a:srgbClr val="999999"/>
              </a:solidFill>
              <a:prstDash val="dash"/>
              <a:round/>
              <a:headEnd type="none" w="med" len="med"/>
              <a:tailEnd type="none" w="med" len="med"/>
            </a:ln>
          </p:spPr>
        </p:cxnSp>
        <p:sp>
          <p:nvSpPr>
            <p:cNvPr id="14" name="Google Shape;241;p29">
              <a:extLst>
                <a:ext uri="{FF2B5EF4-FFF2-40B4-BE49-F238E27FC236}">
                  <a16:creationId xmlns:a16="http://schemas.microsoft.com/office/drawing/2014/main" id="{1F988850-1254-AFFC-AA51-441DD3FEFAE2}"/>
                </a:ext>
              </a:extLst>
            </p:cNvPr>
            <p:cNvSpPr txBox="1"/>
            <p:nvPr/>
          </p:nvSpPr>
          <p:spPr>
            <a:xfrm>
              <a:off x="12196133" y="5122539"/>
              <a:ext cx="1777600" cy="1231200"/>
            </a:xfrm>
            <a:prstGeom prst="rect">
              <a:avLst/>
            </a:prstGeom>
            <a:noFill/>
            <a:ln>
              <a:noFill/>
            </a:ln>
          </p:spPr>
          <p:txBody>
            <a:bodyPr spcFirstLastPara="1" wrap="square" lIns="243800" tIns="243800" rIns="243800" bIns="243800" anchor="ctr" anchorCtr="0">
              <a:noAutofit/>
            </a:bodyPr>
            <a:lstStyle/>
            <a:p>
              <a:r>
                <a:rPr lang="en" sz="2400" b="1">
                  <a:solidFill>
                    <a:schemeClr val="dk1"/>
                  </a:solidFill>
                  <a:latin typeface="Lato"/>
                  <a:ea typeface="Lato"/>
                  <a:cs typeface="Lato"/>
                  <a:sym typeface="Lato"/>
                </a:rPr>
                <a:t>III</a:t>
              </a:r>
              <a:endParaRPr sz="2400" b="1">
                <a:solidFill>
                  <a:schemeClr val="dk1"/>
                </a:solidFill>
                <a:latin typeface="Lato"/>
                <a:ea typeface="Lato"/>
                <a:cs typeface="Lato"/>
                <a:sym typeface="Lato"/>
              </a:endParaRPr>
            </a:p>
          </p:txBody>
        </p:sp>
        <p:sp>
          <p:nvSpPr>
            <p:cNvPr id="15" name="Google Shape;242;p29">
              <a:extLst>
                <a:ext uri="{FF2B5EF4-FFF2-40B4-BE49-F238E27FC236}">
                  <a16:creationId xmlns:a16="http://schemas.microsoft.com/office/drawing/2014/main" id="{4AF716C5-D911-9E90-16DF-C0EE37241611}"/>
                </a:ext>
              </a:extLst>
            </p:cNvPr>
            <p:cNvSpPr txBox="1"/>
            <p:nvPr/>
          </p:nvSpPr>
          <p:spPr>
            <a:xfrm>
              <a:off x="2136200" y="5122507"/>
              <a:ext cx="1777600" cy="1231200"/>
            </a:xfrm>
            <a:prstGeom prst="rect">
              <a:avLst/>
            </a:prstGeom>
            <a:noFill/>
            <a:ln>
              <a:noFill/>
            </a:ln>
          </p:spPr>
          <p:txBody>
            <a:bodyPr spcFirstLastPara="1" wrap="square" lIns="243800" tIns="243800" rIns="243800" bIns="243800" anchor="ctr" anchorCtr="0">
              <a:noAutofit/>
            </a:bodyPr>
            <a:lstStyle/>
            <a:p>
              <a:r>
                <a:rPr lang="en" sz="2400" b="1">
                  <a:solidFill>
                    <a:schemeClr val="dk1"/>
                  </a:solidFill>
                  <a:latin typeface="Lato"/>
                  <a:ea typeface="Lato"/>
                  <a:cs typeface="Lato"/>
                  <a:sym typeface="Lato"/>
                </a:rPr>
                <a:t>I</a:t>
              </a:r>
              <a:endParaRPr sz="2400" b="1">
                <a:solidFill>
                  <a:schemeClr val="dk1"/>
                </a:solidFill>
                <a:latin typeface="Lato"/>
                <a:ea typeface="Lato"/>
                <a:cs typeface="Lato"/>
                <a:sym typeface="Lato"/>
              </a:endParaRPr>
            </a:p>
          </p:txBody>
        </p:sp>
        <p:sp>
          <p:nvSpPr>
            <p:cNvPr id="16" name="Google Shape;243;p29">
              <a:extLst>
                <a:ext uri="{FF2B5EF4-FFF2-40B4-BE49-F238E27FC236}">
                  <a16:creationId xmlns:a16="http://schemas.microsoft.com/office/drawing/2014/main" id="{5B3E86BA-5DEE-157C-C3BB-5668ECEC1687}"/>
                </a:ext>
              </a:extLst>
            </p:cNvPr>
            <p:cNvSpPr txBox="1"/>
            <p:nvPr/>
          </p:nvSpPr>
          <p:spPr>
            <a:xfrm>
              <a:off x="5796466" y="5122507"/>
              <a:ext cx="1777600" cy="1231200"/>
            </a:xfrm>
            <a:prstGeom prst="rect">
              <a:avLst/>
            </a:prstGeom>
            <a:noFill/>
            <a:ln>
              <a:noFill/>
            </a:ln>
          </p:spPr>
          <p:txBody>
            <a:bodyPr spcFirstLastPara="1" wrap="square" lIns="243800" tIns="243800" rIns="243800" bIns="243800" anchor="ctr" anchorCtr="0">
              <a:noAutofit/>
            </a:bodyPr>
            <a:lstStyle/>
            <a:p>
              <a:r>
                <a:rPr lang="en" sz="2400" b="1">
                  <a:solidFill>
                    <a:schemeClr val="dk1"/>
                  </a:solidFill>
                  <a:latin typeface="Lato"/>
                  <a:ea typeface="Lato"/>
                  <a:cs typeface="Lato"/>
                  <a:sym typeface="Lato"/>
                </a:rPr>
                <a:t>II</a:t>
              </a:r>
              <a:endParaRPr sz="2400" b="1">
                <a:solidFill>
                  <a:schemeClr val="dk1"/>
                </a:solidFill>
                <a:latin typeface="Lato"/>
                <a:ea typeface="Lato"/>
                <a:cs typeface="Lato"/>
                <a:sym typeface="Lato"/>
              </a:endParaRPr>
            </a:p>
          </p:txBody>
        </p:sp>
        <p:pic>
          <p:nvPicPr>
            <p:cNvPr id="17" name="Google Shape;245;p29" descr="Create a black and white line drawing of a data table that I can use a clip art in a slide show">
              <a:extLst>
                <a:ext uri="{FF2B5EF4-FFF2-40B4-BE49-F238E27FC236}">
                  <a16:creationId xmlns:a16="http://schemas.microsoft.com/office/drawing/2014/main" id="{CA0CA740-785F-0FAD-C8A0-C3BC42D7AF66}"/>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4407747" y="1910703"/>
              <a:ext cx="2755203" cy="1462837"/>
            </a:xfrm>
            <a:prstGeom prst="rect">
              <a:avLst/>
            </a:prstGeom>
            <a:noFill/>
            <a:ln>
              <a:noFill/>
            </a:ln>
          </p:spPr>
        </p:pic>
        <p:pic>
          <p:nvPicPr>
            <p:cNvPr id="18" name="Google Shape;246;p29" descr="Now create an image of a line graph in the same style. Make it simple, showing only a trend line and axes">
              <a:extLst>
                <a:ext uri="{FF2B5EF4-FFF2-40B4-BE49-F238E27FC236}">
                  <a16:creationId xmlns:a16="http://schemas.microsoft.com/office/drawing/2014/main" id="{F95E2D63-6D01-44FE-19FD-99140AFDBCF1}"/>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95461" y="1849633"/>
              <a:ext cx="2755203" cy="1816267"/>
            </a:xfrm>
            <a:prstGeom prst="rect">
              <a:avLst/>
            </a:prstGeom>
            <a:noFill/>
            <a:ln>
              <a:noFill/>
            </a:ln>
            <a:effectLst>
              <a:outerShdw blurRad="57150" dist="19050" dir="5400000" algn="bl" rotWithShape="0">
                <a:srgbClr val="000000">
                  <a:alpha val="50000"/>
                </a:srgbClr>
              </a:outerShdw>
            </a:effectLst>
          </p:spPr>
        </p:pic>
        <p:pic>
          <p:nvPicPr>
            <p:cNvPr id="19" name="Google Shape;247;p29" descr="A line art image of an infographic that can be made small for insertion into a slide">
              <a:extLst>
                <a:ext uri="{FF2B5EF4-FFF2-40B4-BE49-F238E27FC236}">
                  <a16:creationId xmlns:a16="http://schemas.microsoft.com/office/drawing/2014/main" id="{F806FA96-4E95-95C4-C94C-2FB9D8563A08}"/>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114326" y="6278806"/>
              <a:ext cx="2917475" cy="3247467"/>
            </a:xfrm>
            <a:prstGeom prst="rect">
              <a:avLst/>
            </a:prstGeom>
            <a:noFill/>
            <a:ln>
              <a:noFill/>
            </a:ln>
            <a:effectLst>
              <a:outerShdw blurRad="57150" dist="19050" dir="5400000" algn="bl" rotWithShape="0">
                <a:srgbClr val="000000">
                  <a:alpha val="50000"/>
                </a:srgbClr>
              </a:outerShdw>
            </a:effectLst>
          </p:spPr>
        </p:pic>
        <p:sp>
          <p:nvSpPr>
            <p:cNvPr id="20" name="TextBox 19">
              <a:extLst>
                <a:ext uri="{FF2B5EF4-FFF2-40B4-BE49-F238E27FC236}">
                  <a16:creationId xmlns:a16="http://schemas.microsoft.com/office/drawing/2014/main" id="{DE4B45EA-8C02-8CB6-8176-87884BAF1648}"/>
                </a:ext>
              </a:extLst>
            </p:cNvPr>
            <p:cNvSpPr txBox="1"/>
            <p:nvPr/>
          </p:nvSpPr>
          <p:spPr>
            <a:xfrm>
              <a:off x="6339380" y="1181344"/>
              <a:ext cx="2136944" cy="6731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chemeClr val="accent6"/>
                  </a:solidFill>
                  <a:effectLst/>
                  <a:uFillTx/>
                  <a:latin typeface="+mn-lt"/>
                  <a:ea typeface="+mn-ea"/>
                  <a:cs typeface="+mn-cs"/>
                  <a:sym typeface="Helvetica Neue"/>
                </a:rPr>
                <a:t>Exploratory</a:t>
              </a:r>
            </a:p>
          </p:txBody>
        </p:sp>
        <p:sp>
          <p:nvSpPr>
            <p:cNvPr id="21" name="TextBox 20">
              <a:extLst>
                <a:ext uri="{FF2B5EF4-FFF2-40B4-BE49-F238E27FC236}">
                  <a16:creationId xmlns:a16="http://schemas.microsoft.com/office/drawing/2014/main" id="{E8FBB334-DF9F-51B9-07D7-443CEE9119FA}"/>
                </a:ext>
              </a:extLst>
            </p:cNvPr>
            <p:cNvSpPr txBox="1"/>
            <p:nvPr/>
          </p:nvSpPr>
          <p:spPr>
            <a:xfrm>
              <a:off x="6635227" y="9108615"/>
              <a:ext cx="2202781" cy="6731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chemeClr val="accent6"/>
                  </a:solidFill>
                  <a:effectLst/>
                  <a:uFillTx/>
                  <a:latin typeface="+mn-lt"/>
                  <a:ea typeface="+mn-ea"/>
                  <a:cs typeface="+mn-cs"/>
                  <a:sym typeface="Helvetica Neue"/>
                </a:rPr>
                <a:t>Explanatory</a:t>
              </a:r>
            </a:p>
          </p:txBody>
        </p:sp>
      </p:grpSp>
    </p:spTree>
    <p:extLst>
      <p:ext uri="{BB962C8B-B14F-4D97-AF65-F5344CB8AC3E}">
        <p14:creationId xmlns:p14="http://schemas.microsoft.com/office/powerpoint/2010/main" val="456529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DDB17-A16C-E7FD-90E6-7557D71504B8}"/>
              </a:ext>
            </a:extLst>
          </p:cNvPr>
          <p:cNvSpPr>
            <a:spLocks noGrp="1"/>
          </p:cNvSpPr>
          <p:nvPr>
            <p:ph type="sldNum" sz="quarter" idx="12"/>
          </p:nvPr>
        </p:nvSpPr>
        <p:spPr/>
        <p:txBody>
          <a:bodyPr/>
          <a:lstStyle/>
          <a:p>
            <a:fld id="{0D9DF20D-7D64-DD4E-93FD-71BB03726D71}" type="slidenum">
              <a:rPr lang="en-US" smtClean="0"/>
              <a:t>5</a:t>
            </a:fld>
            <a:endParaRPr lang="en-US"/>
          </a:p>
        </p:txBody>
      </p:sp>
      <p:sp>
        <p:nvSpPr>
          <p:cNvPr id="3" name="Title 2">
            <a:extLst>
              <a:ext uri="{FF2B5EF4-FFF2-40B4-BE49-F238E27FC236}">
                <a16:creationId xmlns:a16="http://schemas.microsoft.com/office/drawing/2014/main" id="{11A4C505-E856-5D3B-141B-B821B5F93FA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DE3C13DF-1CC2-CB19-0E7B-FBC5CAF1D653}"/>
              </a:ext>
            </a:extLst>
          </p:cNvPr>
          <p:cNvPicPr>
            <a:picLocks noGrp="1" noChangeAspect="1"/>
          </p:cNvPicPr>
          <p:nvPr>
            <p:ph idx="1"/>
          </p:nvPr>
        </p:nvPicPr>
        <p:blipFill>
          <a:blip r:embed="rId2"/>
          <a:stretch>
            <a:fillRect/>
          </a:stretch>
        </p:blipFill>
        <p:spPr>
          <a:xfrm>
            <a:off x="0" y="0"/>
            <a:ext cx="12192000" cy="6858000"/>
          </a:xfrm>
          <a:prstGeom prst="rect">
            <a:avLst/>
          </a:prstGeom>
          <a:solidFill>
            <a:prstClr val="white">
              <a:alpha val="80497"/>
            </a:prstClr>
          </a:solidFill>
        </p:spPr>
      </p:pic>
    </p:spTree>
    <p:extLst>
      <p:ext uri="{BB962C8B-B14F-4D97-AF65-F5344CB8AC3E}">
        <p14:creationId xmlns:p14="http://schemas.microsoft.com/office/powerpoint/2010/main" val="782367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E20D4626-8CF9-F21C-0524-F9B9EF95EA98}"/>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Introduction to Coding in Python</a:t>
            </a:r>
          </a:p>
        </p:txBody>
      </p:sp>
      <p:sp>
        <p:nvSpPr>
          <p:cNvPr id="3" name="Subtitle 2">
            <a:extLst>
              <a:ext uri="{FF2B5EF4-FFF2-40B4-BE49-F238E27FC236}">
                <a16:creationId xmlns:a16="http://schemas.microsoft.com/office/drawing/2014/main" id="{2B07D101-4575-8F4C-84AF-14F51CC11A42}"/>
              </a:ext>
            </a:extLst>
          </p:cNvPr>
          <p:cNvSpPr>
            <a:spLocks noGrp="1"/>
          </p:cNvSpPr>
          <p:nvPr>
            <p:ph type="subTitle" idx="1"/>
          </p:nvPr>
        </p:nvSpPr>
        <p:spPr>
          <a:xfrm>
            <a:off x="3215729" y="4165152"/>
            <a:ext cx="5760846" cy="1311088"/>
          </a:xfrm>
        </p:spPr>
        <p:txBody>
          <a:bodyPr>
            <a:normAutofit/>
          </a:bodyPr>
          <a:lstStyle/>
          <a:p>
            <a:r>
              <a:rPr lang="en-US" dirty="0">
                <a:solidFill>
                  <a:schemeClr val="tx2"/>
                </a:solidFill>
                <a:ea typeface="Menlo" panose="020B0609030804020204" pitchFamily="49" charset="0"/>
              </a:rPr>
              <a:t>Pre-Lab 1</a:t>
            </a:r>
          </a:p>
        </p:txBody>
      </p:sp>
      <p:sp>
        <p:nvSpPr>
          <p:cNvPr id="4" name="TextBox 3">
            <a:extLst>
              <a:ext uri="{FF2B5EF4-FFF2-40B4-BE49-F238E27FC236}">
                <a16:creationId xmlns:a16="http://schemas.microsoft.com/office/drawing/2014/main" id="{8927DBC6-9134-FFEB-F270-BF3BA525B63B}"/>
              </a:ext>
            </a:extLst>
          </p:cNvPr>
          <p:cNvSpPr txBox="1"/>
          <p:nvPr/>
        </p:nvSpPr>
        <p:spPr>
          <a:xfrm>
            <a:off x="0" y="-3985"/>
            <a:ext cx="3304572" cy="584775"/>
          </a:xfrm>
          <a:prstGeom prst="rect">
            <a:avLst/>
          </a:prstGeom>
          <a:noFill/>
        </p:spPr>
        <p:txBody>
          <a:bodyPr wrap="square" rtlCol="0">
            <a:spAutoFit/>
          </a:bodyPr>
          <a:lstStyle/>
          <a:p>
            <a:r>
              <a:rPr lang="en-US" sz="1600" dirty="0">
                <a:solidFill>
                  <a:schemeClr val="tx2"/>
                </a:solidFill>
                <a:latin typeface=""/>
              </a:rPr>
              <a:t>Files needed today:</a:t>
            </a:r>
          </a:p>
          <a:p>
            <a:r>
              <a:rPr lang="en-US" sz="1400" dirty="0">
                <a:solidFill>
                  <a:schemeClr val="accent6"/>
                </a:solidFill>
                <a:latin typeface="Menlo" panose="020B0609030804020204" pitchFamily="49" charset="0"/>
                <a:ea typeface="Menlo" panose="020B0609030804020204" pitchFamily="49" charset="0"/>
                <a:cs typeface="Menlo" panose="020B0609030804020204" pitchFamily="49" charset="0"/>
              </a:rPr>
              <a:t>Lab_01.ipynb </a:t>
            </a:r>
            <a:r>
              <a:rPr lang="en-US" sz="1600" dirty="0">
                <a:solidFill>
                  <a:schemeClr val="tx2"/>
                </a:solidFill>
                <a:latin typeface=""/>
              </a:rPr>
              <a:t>[canvas]</a:t>
            </a:r>
          </a:p>
        </p:txBody>
      </p:sp>
      <p:sp>
        <p:nvSpPr>
          <p:cNvPr id="5" name="Slide Number Placeholder 4">
            <a:extLst>
              <a:ext uri="{FF2B5EF4-FFF2-40B4-BE49-F238E27FC236}">
                <a16:creationId xmlns:a16="http://schemas.microsoft.com/office/drawing/2014/main" id="{AE119525-BC43-A8AC-1358-35C2E4A5EB00}"/>
              </a:ext>
            </a:extLst>
          </p:cNvPr>
          <p:cNvSpPr>
            <a:spLocks noGrp="1"/>
          </p:cNvSpPr>
          <p:nvPr>
            <p:ph type="sldNum" sz="quarter" idx="12"/>
          </p:nvPr>
        </p:nvSpPr>
        <p:spPr/>
        <p:txBody>
          <a:bodyPr/>
          <a:lstStyle/>
          <a:p>
            <a:fld id="{0D9DF20D-7D64-DD4E-93FD-71BB03726D71}" type="slidenum">
              <a:rPr lang="en-US" smtClean="0"/>
              <a:pPr/>
              <a:t>6</a:t>
            </a:fld>
            <a:endParaRPr lang="en-US"/>
          </a:p>
        </p:txBody>
      </p:sp>
    </p:spTree>
    <p:extLst>
      <p:ext uri="{BB962C8B-B14F-4D97-AF65-F5344CB8AC3E}">
        <p14:creationId xmlns:p14="http://schemas.microsoft.com/office/powerpoint/2010/main" val="3990560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39">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41">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8" name="Group 43">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59" name="Freeform: Shape 44">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SF Pro Semibold" pitchFamily="2" charset="0"/>
                <a:ea typeface="SF Pro Semibold" pitchFamily="2" charset="0"/>
                <a:cs typeface="SF Pro Semibold" pitchFamily="2" charset="0"/>
              </a:endParaRPr>
            </a:p>
          </p:txBody>
        </p:sp>
        <p:sp>
          <p:nvSpPr>
            <p:cNvPr id="60" name="Freeform: Shape 45">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SF Pro Semibold" pitchFamily="2" charset="0"/>
                <a:ea typeface="SF Pro Semibold" pitchFamily="2" charset="0"/>
                <a:cs typeface="SF Pro Semibold" pitchFamily="2" charset="0"/>
              </a:endParaRPr>
            </a:p>
          </p:txBody>
        </p:sp>
        <p:sp>
          <p:nvSpPr>
            <p:cNvPr id="61" name="Freeform: Shape 46">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SF Pro Semibold" pitchFamily="2" charset="0"/>
                <a:ea typeface="SF Pro Semibold" pitchFamily="2" charset="0"/>
                <a:cs typeface="SF Pro Semibold" pitchFamily="2" charset="0"/>
              </a:endParaRPr>
            </a:p>
          </p:txBody>
        </p:sp>
        <p:sp>
          <p:nvSpPr>
            <p:cNvPr id="62" name="Freeform: Shape 47">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SF Pro Semibold" pitchFamily="2" charset="0"/>
                <a:ea typeface="SF Pro Semibold" pitchFamily="2" charset="0"/>
                <a:cs typeface="SF Pro Semibold" pitchFamily="2" charset="0"/>
              </a:endParaRPr>
            </a:p>
          </p:txBody>
        </p:sp>
      </p:grpSp>
      <p:sp>
        <p:nvSpPr>
          <p:cNvPr id="3" name="Content Placeholder 2">
            <a:extLst>
              <a:ext uri="{FF2B5EF4-FFF2-40B4-BE49-F238E27FC236}">
                <a16:creationId xmlns:a16="http://schemas.microsoft.com/office/drawing/2014/main" id="{5E851F7C-A0EB-B51F-1E83-D9EBF1EFE50E}"/>
              </a:ext>
            </a:extLst>
          </p:cNvPr>
          <p:cNvSpPr>
            <a:spLocks noGrp="1"/>
          </p:cNvSpPr>
          <p:nvPr>
            <p:ph idx="1"/>
          </p:nvPr>
        </p:nvSpPr>
        <p:spPr>
          <a:xfrm>
            <a:off x="5968698" y="437479"/>
            <a:ext cx="5419634" cy="6239661"/>
          </a:xfrm>
        </p:spPr>
        <p:txBody>
          <a:bodyPr anchor="ctr">
            <a:normAutofit/>
          </a:bodyPr>
          <a:lstStyle/>
          <a:p>
            <a:r>
              <a:rPr lang="en-US" sz="2000" dirty="0">
                <a:solidFill>
                  <a:schemeClr val="tx2"/>
                </a:solidFill>
              </a:rPr>
              <a:t>You should have: </a:t>
            </a:r>
          </a:p>
          <a:p>
            <a:pPr lvl="1"/>
            <a:r>
              <a:rPr lang="en-US" sz="2000" dirty="0">
                <a:solidFill>
                  <a:schemeClr val="accent6"/>
                </a:solidFill>
                <a:ea typeface="SF Pro Heavy" pitchFamily="2" charset="0"/>
                <a:cs typeface="SF Pro Heavy" pitchFamily="2" charset="0"/>
              </a:rPr>
              <a:t>Anaconda</a:t>
            </a:r>
            <a:r>
              <a:rPr lang="en-US" sz="2000" dirty="0">
                <a:solidFill>
                  <a:schemeClr val="tx2"/>
                </a:solidFill>
              </a:rPr>
              <a:t> installed </a:t>
            </a:r>
          </a:p>
          <a:p>
            <a:pPr lvl="1"/>
            <a:r>
              <a:rPr lang="en-US" sz="2000" dirty="0">
                <a:solidFill>
                  <a:schemeClr val="accent6"/>
                </a:solidFill>
                <a:ea typeface="SF Pro Heavy" pitchFamily="2" charset="0"/>
                <a:cs typeface="SF Pro Heavy" pitchFamily="2" charset="0"/>
              </a:rPr>
              <a:t>VS Code </a:t>
            </a:r>
            <a:r>
              <a:rPr lang="en-US" sz="2000" dirty="0">
                <a:solidFill>
                  <a:schemeClr val="tx2"/>
                </a:solidFill>
              </a:rPr>
              <a:t>installed (or an IDE you like)</a:t>
            </a:r>
          </a:p>
          <a:p>
            <a:r>
              <a:rPr lang="en-US" sz="2000" dirty="0"/>
              <a:t>Today</a:t>
            </a:r>
            <a:r>
              <a:rPr lang="en-US" sz="2000" dirty="0">
                <a:solidFill>
                  <a:schemeClr val="tx2"/>
                </a:solidFill>
              </a:rPr>
              <a:t> we will add:</a:t>
            </a:r>
          </a:p>
          <a:p>
            <a:pPr lvl="1"/>
            <a:r>
              <a:rPr lang="en-US" sz="2000" dirty="0">
                <a:solidFill>
                  <a:schemeClr val="tx2"/>
                </a:solidFill>
              </a:rPr>
              <a:t>A </a:t>
            </a:r>
            <a:r>
              <a:rPr lang="en-US" sz="2000" dirty="0">
                <a:solidFill>
                  <a:schemeClr val="accent6"/>
                </a:solidFill>
                <a:ea typeface="SF Pro Heavy" pitchFamily="2" charset="0"/>
                <a:cs typeface="SF Pro Heavy" pitchFamily="2" charset="0"/>
              </a:rPr>
              <a:t>folder</a:t>
            </a:r>
            <a:r>
              <a:rPr lang="en-US" sz="2000" dirty="0">
                <a:solidFill>
                  <a:schemeClr val="tx2"/>
                </a:solidFill>
              </a:rPr>
              <a:t> location to organize your files (code files and data files for this class)</a:t>
            </a:r>
          </a:p>
          <a:p>
            <a:pPr lvl="1"/>
            <a:r>
              <a:rPr lang="en-US" sz="2000" dirty="0">
                <a:solidFill>
                  <a:schemeClr val="tx2"/>
                </a:solidFill>
              </a:rPr>
              <a:t>VS Code extensions:</a:t>
            </a:r>
          </a:p>
          <a:p>
            <a:pPr lvl="2"/>
            <a:r>
              <a:rPr lang="en-US" dirty="0" err="1">
                <a:solidFill>
                  <a:schemeClr val="tx2"/>
                </a:solidFill>
              </a:rPr>
              <a:t>Jupyter</a:t>
            </a:r>
            <a:r>
              <a:rPr lang="en-US" dirty="0">
                <a:solidFill>
                  <a:schemeClr val="tx2"/>
                </a:solidFill>
              </a:rPr>
              <a:t> notebook extensions</a:t>
            </a:r>
          </a:p>
          <a:p>
            <a:pPr lvl="2"/>
            <a:r>
              <a:rPr lang="en-US" dirty="0">
                <a:solidFill>
                  <a:schemeClr val="tx2"/>
                </a:solidFill>
              </a:rPr>
              <a:t>Optional extensions: CSV viewer</a:t>
            </a:r>
          </a:p>
          <a:p>
            <a:pPr lvl="1"/>
            <a:r>
              <a:rPr lang="en-US" sz="2000" dirty="0"/>
              <a:t>Python </a:t>
            </a:r>
            <a:r>
              <a:rPr lang="en-US" sz="2000" dirty="0">
                <a:solidFill>
                  <a:schemeClr val="accent6"/>
                </a:solidFill>
              </a:rPr>
              <a:t>packages </a:t>
            </a:r>
            <a:r>
              <a:rPr lang="en-US" sz="2000" dirty="0"/>
              <a:t>needed for this class</a:t>
            </a:r>
          </a:p>
        </p:txBody>
      </p:sp>
      <p:sp>
        <p:nvSpPr>
          <p:cNvPr id="4" name="Title 1">
            <a:extLst>
              <a:ext uri="{FF2B5EF4-FFF2-40B4-BE49-F238E27FC236}">
                <a16:creationId xmlns:a16="http://schemas.microsoft.com/office/drawing/2014/main" id="{D013CD3A-9150-2810-E805-C485A5450491}"/>
              </a:ext>
            </a:extLst>
          </p:cNvPr>
          <p:cNvSpPr txBox="1">
            <a:spLocks/>
          </p:cNvSpPr>
          <p:nvPr/>
        </p:nvSpPr>
        <p:spPr>
          <a:xfrm>
            <a:off x="303146" y="2248005"/>
            <a:ext cx="3735454" cy="28726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2"/>
                </a:solidFill>
                <a:latin typeface=""/>
                <a:ea typeface="SF Pro Semibold" pitchFamily="2" charset="0"/>
                <a:cs typeface="SF Pro Semibold" pitchFamily="2" charset="0"/>
              </a:rPr>
              <a:t>Setting up your computer for this class</a:t>
            </a:r>
            <a:endParaRPr lang="en-US" dirty="0">
              <a:latin typeface=""/>
              <a:ea typeface="SF Pro Semibold" pitchFamily="2" charset="0"/>
              <a:cs typeface="SF Pro Semibold" pitchFamily="2" charset="0"/>
            </a:endParaRPr>
          </a:p>
        </p:txBody>
      </p:sp>
      <p:sp>
        <p:nvSpPr>
          <p:cNvPr id="2" name="Slide Number Placeholder 1">
            <a:extLst>
              <a:ext uri="{FF2B5EF4-FFF2-40B4-BE49-F238E27FC236}">
                <a16:creationId xmlns:a16="http://schemas.microsoft.com/office/drawing/2014/main" id="{1710F5C4-FFC5-25C5-38BC-8E8EC7874BC5}"/>
              </a:ext>
            </a:extLst>
          </p:cNvPr>
          <p:cNvSpPr>
            <a:spLocks noGrp="1"/>
          </p:cNvSpPr>
          <p:nvPr>
            <p:ph type="sldNum" sz="quarter" idx="12"/>
          </p:nvPr>
        </p:nvSpPr>
        <p:spPr/>
        <p:txBody>
          <a:bodyPr/>
          <a:lstStyle/>
          <a:p>
            <a:fld id="{0D9DF20D-7D64-DD4E-93FD-71BB03726D71}" type="slidenum">
              <a:rPr lang="en-US" smtClean="0"/>
              <a:pPr/>
              <a:t>7</a:t>
            </a:fld>
            <a:endParaRPr lang="en-US"/>
          </a:p>
        </p:txBody>
      </p:sp>
    </p:spTree>
    <p:extLst>
      <p:ext uri="{BB962C8B-B14F-4D97-AF65-F5344CB8AC3E}">
        <p14:creationId xmlns:p14="http://schemas.microsoft.com/office/powerpoint/2010/main" val="191798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8153-1A2B-8B7D-B0FF-BE4A37204F69}"/>
              </a:ext>
            </a:extLst>
          </p:cNvPr>
          <p:cNvSpPr>
            <a:spLocks noGrp="1"/>
          </p:cNvSpPr>
          <p:nvPr>
            <p:ph type="title"/>
          </p:nvPr>
        </p:nvSpPr>
        <p:spPr/>
        <p:txBody>
          <a:bodyPr/>
          <a:lstStyle/>
          <a:p>
            <a:r>
              <a:rPr lang="en-US" dirty="0"/>
              <a:t>How do coding tools fit together?</a:t>
            </a:r>
          </a:p>
        </p:txBody>
      </p:sp>
      <p:sp>
        <p:nvSpPr>
          <p:cNvPr id="3" name="Content Placeholder 2">
            <a:extLst>
              <a:ext uri="{FF2B5EF4-FFF2-40B4-BE49-F238E27FC236}">
                <a16:creationId xmlns:a16="http://schemas.microsoft.com/office/drawing/2014/main" id="{64451826-FCAC-24B3-EBE8-BBDACD1D5412}"/>
              </a:ext>
            </a:extLst>
          </p:cNvPr>
          <p:cNvSpPr>
            <a:spLocks noGrp="1"/>
          </p:cNvSpPr>
          <p:nvPr>
            <p:ph idx="1"/>
          </p:nvPr>
        </p:nvSpPr>
        <p:spPr>
          <a:xfrm>
            <a:off x="5334000" y="375920"/>
            <a:ext cx="4925568" cy="6197600"/>
          </a:xfrm>
        </p:spPr>
        <p:txBody>
          <a:bodyPr anchor="ctr"/>
          <a:lstStyle/>
          <a:p>
            <a:r>
              <a:rPr lang="en-US" dirty="0"/>
              <a:t>Writing code ≠ running code</a:t>
            </a:r>
          </a:p>
          <a:p>
            <a:r>
              <a:rPr lang="en-US" dirty="0"/>
              <a:t>Think of coding like running a </a:t>
            </a:r>
            <a:r>
              <a:rPr lang="en-US" b="1" dirty="0"/>
              <a:t>restaurant</a:t>
            </a:r>
          </a:p>
          <a:p>
            <a:pPr lvl="1"/>
            <a:r>
              <a:rPr lang="en-US" dirty="0"/>
              <a:t>.</a:t>
            </a:r>
            <a:r>
              <a:rPr lang="en-US" dirty="0" err="1"/>
              <a:t>py</a:t>
            </a:r>
            <a:r>
              <a:rPr lang="en-US" dirty="0"/>
              <a:t> files</a:t>
            </a:r>
          </a:p>
          <a:p>
            <a:pPr lvl="1"/>
            <a:r>
              <a:rPr lang="en-US" dirty="0" err="1"/>
              <a:t>Jupyter</a:t>
            </a:r>
            <a:r>
              <a:rPr lang="en-US" dirty="0"/>
              <a:t> notebooks</a:t>
            </a:r>
          </a:p>
          <a:p>
            <a:pPr lvl="1"/>
            <a:r>
              <a:rPr lang="en-US" dirty="0"/>
              <a:t>VS Code (IDE)</a:t>
            </a:r>
          </a:p>
          <a:p>
            <a:pPr lvl="1"/>
            <a:r>
              <a:rPr lang="en-US" dirty="0"/>
              <a:t>Python interpreter</a:t>
            </a:r>
          </a:p>
          <a:p>
            <a:pPr lvl="1"/>
            <a:r>
              <a:rPr lang="en-US" dirty="0"/>
              <a:t>Terminal/Command Prompt</a:t>
            </a:r>
          </a:p>
          <a:p>
            <a:pPr lvl="1"/>
            <a:r>
              <a:rPr lang="en-US" dirty="0"/>
              <a:t>Anaconda &amp; environments</a:t>
            </a:r>
          </a:p>
          <a:p>
            <a:pPr lvl="1"/>
            <a:r>
              <a:rPr lang="en-US" dirty="0"/>
              <a:t>GitHub and git</a:t>
            </a:r>
          </a:p>
          <a:p>
            <a:r>
              <a:rPr lang="en-US" dirty="0"/>
              <a:t>Your </a:t>
            </a:r>
            <a:r>
              <a:rPr lang="en-US" dirty="0">
                <a:solidFill>
                  <a:schemeClr val="accent6"/>
                </a:solidFill>
              </a:rPr>
              <a:t>code</a:t>
            </a:r>
            <a:r>
              <a:rPr lang="en-US" dirty="0"/>
              <a:t> = the recipe</a:t>
            </a:r>
          </a:p>
          <a:p>
            <a:pPr lvl="1"/>
            <a:r>
              <a:rPr lang="en-US" dirty="0"/>
              <a:t>It describes ingredients and steps, but a recipe does not cook itself!</a:t>
            </a:r>
          </a:p>
        </p:txBody>
      </p:sp>
      <p:grpSp>
        <p:nvGrpSpPr>
          <p:cNvPr id="7" name="Group 6">
            <a:extLst>
              <a:ext uri="{FF2B5EF4-FFF2-40B4-BE49-F238E27FC236}">
                <a16:creationId xmlns:a16="http://schemas.microsoft.com/office/drawing/2014/main" id="{DEE219B9-4BF1-FDC4-1F08-98C41E178A88}"/>
              </a:ext>
            </a:extLst>
          </p:cNvPr>
          <p:cNvGrpSpPr/>
          <p:nvPr/>
        </p:nvGrpSpPr>
        <p:grpSpPr>
          <a:xfrm>
            <a:off x="10000488" y="3499656"/>
            <a:ext cx="2191512" cy="2532336"/>
            <a:chOff x="10000488" y="3499656"/>
            <a:chExt cx="2191512" cy="2532336"/>
          </a:xfrm>
        </p:grpSpPr>
        <p:pic>
          <p:nvPicPr>
            <p:cNvPr id="5" name="Picture 4">
              <a:extLst>
                <a:ext uri="{FF2B5EF4-FFF2-40B4-BE49-F238E27FC236}">
                  <a16:creationId xmlns:a16="http://schemas.microsoft.com/office/drawing/2014/main" id="{167151D5-0C8E-3361-C026-F4B06326FC25}"/>
                </a:ext>
              </a:extLst>
            </p:cNvPr>
            <p:cNvPicPr>
              <a:picLocks noChangeAspect="1"/>
            </p:cNvPicPr>
            <p:nvPr/>
          </p:nvPicPr>
          <p:blipFill>
            <a:blip r:embed="rId3"/>
            <a:stretch>
              <a:fillRect/>
            </a:stretch>
          </p:blipFill>
          <p:spPr>
            <a:xfrm>
              <a:off x="10000488" y="3840480"/>
              <a:ext cx="2191512" cy="2191512"/>
            </a:xfrm>
            <a:prstGeom prst="rect">
              <a:avLst/>
            </a:prstGeom>
          </p:spPr>
        </p:pic>
        <p:sp>
          <p:nvSpPr>
            <p:cNvPr id="6" name="TextBox 5">
              <a:extLst>
                <a:ext uri="{FF2B5EF4-FFF2-40B4-BE49-F238E27FC236}">
                  <a16:creationId xmlns:a16="http://schemas.microsoft.com/office/drawing/2014/main" id="{D7D56E6F-D367-2506-57BC-85B9CF9FD245}"/>
                </a:ext>
              </a:extLst>
            </p:cNvPr>
            <p:cNvSpPr txBox="1"/>
            <p:nvPr/>
          </p:nvSpPr>
          <p:spPr>
            <a:xfrm>
              <a:off x="10690299" y="3499656"/>
              <a:ext cx="811889" cy="369332"/>
            </a:xfrm>
            <a:prstGeom prst="rect">
              <a:avLst/>
            </a:prstGeom>
            <a:noFill/>
          </p:spPr>
          <p:txBody>
            <a:bodyPr wrap="none" rtlCol="0">
              <a:spAutoFit/>
            </a:bodyPr>
            <a:lstStyle/>
            <a:p>
              <a:r>
                <a:rPr lang="en-US" dirty="0">
                  <a:solidFill>
                    <a:schemeClr val="accent6"/>
                  </a:solidFill>
                </a:rPr>
                <a:t>.</a:t>
              </a:r>
              <a:r>
                <a:rPr lang="en-US" dirty="0" err="1">
                  <a:solidFill>
                    <a:schemeClr val="accent6"/>
                  </a:solidFill>
                </a:rPr>
                <a:t>py</a:t>
              </a:r>
              <a:r>
                <a:rPr lang="en-US" dirty="0">
                  <a:solidFill>
                    <a:schemeClr val="accent6"/>
                  </a:solidFill>
                </a:rPr>
                <a:t> file</a:t>
              </a:r>
            </a:p>
          </p:txBody>
        </p:sp>
      </p:grpSp>
      <p:sp>
        <p:nvSpPr>
          <p:cNvPr id="4" name="Slide Number Placeholder 3">
            <a:extLst>
              <a:ext uri="{FF2B5EF4-FFF2-40B4-BE49-F238E27FC236}">
                <a16:creationId xmlns:a16="http://schemas.microsoft.com/office/drawing/2014/main" id="{5DBC4A34-A062-61CC-189E-1DA96573E9BE}"/>
              </a:ext>
            </a:extLst>
          </p:cNvPr>
          <p:cNvSpPr>
            <a:spLocks noGrp="1"/>
          </p:cNvSpPr>
          <p:nvPr>
            <p:ph type="sldNum" sz="quarter" idx="12"/>
          </p:nvPr>
        </p:nvSpPr>
        <p:spPr/>
        <p:txBody>
          <a:bodyPr/>
          <a:lstStyle/>
          <a:p>
            <a:fld id="{0D9DF20D-7D64-DD4E-93FD-71BB03726D71}" type="slidenum">
              <a:rPr lang="en-US" smtClean="0"/>
              <a:pPr/>
              <a:t>8</a:t>
            </a:fld>
            <a:endParaRPr lang="en-US"/>
          </a:p>
        </p:txBody>
      </p:sp>
    </p:spTree>
    <p:extLst>
      <p:ext uri="{BB962C8B-B14F-4D97-AF65-F5344CB8AC3E}">
        <p14:creationId xmlns:p14="http://schemas.microsoft.com/office/powerpoint/2010/main" val="429083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A39A-DE2F-305B-2F41-C89914D025F3}"/>
              </a:ext>
            </a:extLst>
          </p:cNvPr>
          <p:cNvSpPr>
            <a:spLocks noGrp="1"/>
          </p:cNvSpPr>
          <p:nvPr>
            <p:ph type="title"/>
          </p:nvPr>
        </p:nvSpPr>
        <p:spPr/>
        <p:txBody>
          <a:bodyPr/>
          <a:lstStyle/>
          <a:p>
            <a:r>
              <a:rPr lang="en-US" sz="3600" dirty="0">
                <a:solidFill>
                  <a:schemeClr val="accent6"/>
                </a:solidFill>
              </a:rPr>
              <a:t>Folder</a:t>
            </a:r>
            <a:r>
              <a:rPr lang="en-US" sz="3600" dirty="0">
                <a:solidFill>
                  <a:schemeClr val="tx2"/>
                </a:solidFill>
              </a:rPr>
              <a:t> Organization: The recipe book</a:t>
            </a:r>
            <a:endParaRPr lang="en-US" dirty="0"/>
          </a:p>
        </p:txBody>
      </p:sp>
      <p:sp>
        <p:nvSpPr>
          <p:cNvPr id="3" name="Content Placeholder 2">
            <a:extLst>
              <a:ext uri="{FF2B5EF4-FFF2-40B4-BE49-F238E27FC236}">
                <a16:creationId xmlns:a16="http://schemas.microsoft.com/office/drawing/2014/main" id="{A3BDA78D-D83E-7EBB-6362-38B76B1191FE}"/>
              </a:ext>
            </a:extLst>
          </p:cNvPr>
          <p:cNvSpPr>
            <a:spLocks noGrp="1"/>
          </p:cNvSpPr>
          <p:nvPr>
            <p:ph idx="1"/>
          </p:nvPr>
        </p:nvSpPr>
        <p:spPr>
          <a:xfrm>
            <a:off x="5660571" y="1335313"/>
            <a:ext cx="5987143" cy="5042263"/>
          </a:xfrm>
        </p:spPr>
        <p:txBody>
          <a:bodyPr>
            <a:normAutofit/>
          </a:bodyPr>
          <a:lstStyle/>
          <a:p>
            <a:r>
              <a:rPr lang="en-US" dirty="0"/>
              <a:t>Pick </a:t>
            </a:r>
            <a:r>
              <a:rPr lang="en-US" dirty="0">
                <a:solidFill>
                  <a:schemeClr val="accent6"/>
                </a:solidFill>
              </a:rPr>
              <a:t>one location </a:t>
            </a:r>
            <a:r>
              <a:rPr lang="en-US" dirty="0"/>
              <a:t>to make a folder for this class (Documents? UVA Box? Home?)</a:t>
            </a:r>
          </a:p>
          <a:p>
            <a:pPr lvl="1"/>
            <a:r>
              <a:rPr lang="en-US" dirty="0"/>
              <a:t>Each lab will have its own subfolder that we will put in this folder</a:t>
            </a:r>
          </a:p>
          <a:p>
            <a:pPr lvl="1"/>
            <a:r>
              <a:rPr lang="en-US" dirty="0"/>
              <a:t>Any extra data/files from Canvas should go here</a:t>
            </a:r>
          </a:p>
          <a:p>
            <a:r>
              <a:rPr lang="en-US" dirty="0"/>
              <a:t>Think about what you want to name your files!</a:t>
            </a:r>
          </a:p>
          <a:p>
            <a:r>
              <a:rPr lang="en-US" dirty="0"/>
              <a:t>You will open this folder every time you work on this class!</a:t>
            </a:r>
          </a:p>
          <a:p>
            <a:pPr lvl="1"/>
            <a:endParaRPr lang="en-US" dirty="0"/>
          </a:p>
        </p:txBody>
      </p:sp>
      <p:pic>
        <p:nvPicPr>
          <p:cNvPr id="7" name="Picture 6">
            <a:extLst>
              <a:ext uri="{FF2B5EF4-FFF2-40B4-BE49-F238E27FC236}">
                <a16:creationId xmlns:a16="http://schemas.microsoft.com/office/drawing/2014/main" id="{87F3137F-7EB9-456E-268E-652BC3576C41}"/>
              </a:ext>
            </a:extLst>
          </p:cNvPr>
          <p:cNvPicPr>
            <a:picLocks noChangeAspect="1"/>
          </p:cNvPicPr>
          <p:nvPr/>
        </p:nvPicPr>
        <p:blipFill>
          <a:blip r:embed="rId3"/>
          <a:stretch>
            <a:fillRect/>
          </a:stretch>
        </p:blipFill>
        <p:spPr>
          <a:xfrm>
            <a:off x="2170873" y="296672"/>
            <a:ext cx="2446528" cy="2446528"/>
          </a:xfrm>
          <a:prstGeom prst="rect">
            <a:avLst/>
          </a:prstGeom>
        </p:spPr>
      </p:pic>
      <p:sp>
        <p:nvSpPr>
          <p:cNvPr id="4" name="Slide Number Placeholder 3">
            <a:extLst>
              <a:ext uri="{FF2B5EF4-FFF2-40B4-BE49-F238E27FC236}">
                <a16:creationId xmlns:a16="http://schemas.microsoft.com/office/drawing/2014/main" id="{88FC3A65-EBE5-8C8D-2D0D-8763D032ACCA}"/>
              </a:ext>
            </a:extLst>
          </p:cNvPr>
          <p:cNvSpPr>
            <a:spLocks noGrp="1"/>
          </p:cNvSpPr>
          <p:nvPr>
            <p:ph type="sldNum" sz="quarter" idx="12"/>
          </p:nvPr>
        </p:nvSpPr>
        <p:spPr/>
        <p:txBody>
          <a:bodyPr/>
          <a:lstStyle/>
          <a:p>
            <a:fld id="{0D9DF20D-7D64-DD4E-93FD-71BB03726D71}" type="slidenum">
              <a:rPr lang="en-US" smtClean="0"/>
              <a:pPr/>
              <a:t>9</a:t>
            </a:fld>
            <a:endParaRPr lang="en-US"/>
          </a:p>
        </p:txBody>
      </p:sp>
    </p:spTree>
    <p:extLst>
      <p:ext uri="{BB962C8B-B14F-4D97-AF65-F5344CB8AC3E}">
        <p14:creationId xmlns:p14="http://schemas.microsoft.com/office/powerpoint/2010/main" val="24014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121D6-FB0A-826D-5AD7-359AFBDF9A03}"/>
              </a:ext>
            </a:extLst>
          </p:cNvPr>
          <p:cNvSpPr>
            <a:spLocks noGrp="1"/>
          </p:cNvSpPr>
          <p:nvPr>
            <p:ph type="title"/>
          </p:nvPr>
        </p:nvSpPr>
        <p:spPr/>
        <p:txBody>
          <a:bodyPr/>
          <a:lstStyle/>
          <a:p>
            <a:r>
              <a:rPr lang="en-US" dirty="0"/>
              <a:t>Python </a:t>
            </a:r>
            <a:r>
              <a:rPr lang="en-US" dirty="0">
                <a:solidFill>
                  <a:schemeClr val="accent6"/>
                </a:solidFill>
              </a:rPr>
              <a:t>interpreter</a:t>
            </a:r>
            <a:r>
              <a:rPr lang="en-US" dirty="0"/>
              <a:t>: </a:t>
            </a:r>
            <a:br>
              <a:rPr lang="en-US" dirty="0"/>
            </a:br>
            <a:r>
              <a:rPr lang="en-US" dirty="0"/>
              <a:t>The Chef</a:t>
            </a:r>
          </a:p>
        </p:txBody>
      </p:sp>
      <p:sp>
        <p:nvSpPr>
          <p:cNvPr id="3" name="Content Placeholder 2">
            <a:extLst>
              <a:ext uri="{FF2B5EF4-FFF2-40B4-BE49-F238E27FC236}">
                <a16:creationId xmlns:a16="http://schemas.microsoft.com/office/drawing/2014/main" id="{8C14D81A-918B-1E1D-90FA-17922B6D0265}"/>
              </a:ext>
            </a:extLst>
          </p:cNvPr>
          <p:cNvSpPr>
            <a:spLocks noGrp="1"/>
          </p:cNvSpPr>
          <p:nvPr>
            <p:ph idx="1"/>
          </p:nvPr>
        </p:nvSpPr>
        <p:spPr/>
        <p:txBody>
          <a:bodyPr anchor="ctr"/>
          <a:lstStyle/>
          <a:p>
            <a:r>
              <a:rPr lang="en-US" dirty="0"/>
              <a:t>The chef reads the recipe line by line and executes each instruction</a:t>
            </a:r>
          </a:p>
          <a:p>
            <a:r>
              <a:rPr lang="en-US" dirty="0"/>
              <a:t>Different chefs exist:</a:t>
            </a:r>
          </a:p>
          <a:p>
            <a:pPr lvl="1"/>
            <a:r>
              <a:rPr lang="en-US" dirty="0"/>
              <a:t>Python 3.7</a:t>
            </a:r>
          </a:p>
          <a:p>
            <a:pPr lvl="1"/>
            <a:r>
              <a:rPr lang="en-US" dirty="0"/>
              <a:t>Python 3.9</a:t>
            </a:r>
          </a:p>
          <a:p>
            <a:pPr lvl="1"/>
            <a:r>
              <a:rPr lang="en-US" dirty="0"/>
              <a:t>Python 3.11 …</a:t>
            </a:r>
          </a:p>
          <a:p>
            <a:r>
              <a:rPr lang="en-US" dirty="0"/>
              <a:t>Same recipe with different chef → slightly different outcomes!</a:t>
            </a:r>
          </a:p>
        </p:txBody>
      </p:sp>
      <p:pic>
        <p:nvPicPr>
          <p:cNvPr id="9" name="Picture 8">
            <a:extLst>
              <a:ext uri="{FF2B5EF4-FFF2-40B4-BE49-F238E27FC236}">
                <a16:creationId xmlns:a16="http://schemas.microsoft.com/office/drawing/2014/main" id="{D70456D9-749D-D90D-BA68-B1ED3D27643D}"/>
              </a:ext>
            </a:extLst>
          </p:cNvPr>
          <p:cNvPicPr>
            <a:picLocks noChangeAspect="1"/>
          </p:cNvPicPr>
          <p:nvPr/>
        </p:nvPicPr>
        <p:blipFill>
          <a:blip r:embed="rId2"/>
          <a:stretch>
            <a:fillRect/>
          </a:stretch>
        </p:blipFill>
        <p:spPr>
          <a:xfrm>
            <a:off x="2423160" y="211732"/>
            <a:ext cx="2139696" cy="2139696"/>
          </a:xfrm>
          <a:prstGeom prst="rect">
            <a:avLst/>
          </a:prstGeom>
        </p:spPr>
      </p:pic>
      <p:sp>
        <p:nvSpPr>
          <p:cNvPr id="4" name="Slide Number Placeholder 3">
            <a:extLst>
              <a:ext uri="{FF2B5EF4-FFF2-40B4-BE49-F238E27FC236}">
                <a16:creationId xmlns:a16="http://schemas.microsoft.com/office/drawing/2014/main" id="{DA5151E5-D906-BE2E-5B49-B1CA1532819D}"/>
              </a:ext>
            </a:extLst>
          </p:cNvPr>
          <p:cNvSpPr>
            <a:spLocks noGrp="1"/>
          </p:cNvSpPr>
          <p:nvPr>
            <p:ph type="sldNum" sz="quarter" idx="12"/>
          </p:nvPr>
        </p:nvSpPr>
        <p:spPr/>
        <p:txBody>
          <a:bodyPr/>
          <a:lstStyle/>
          <a:p>
            <a:fld id="{0D9DF20D-7D64-DD4E-93FD-71BB03726D71}" type="slidenum">
              <a:rPr lang="en-US" smtClean="0"/>
              <a:pPr/>
              <a:t>10</a:t>
            </a:fld>
            <a:endParaRPr lang="en-US"/>
          </a:p>
        </p:txBody>
      </p:sp>
    </p:spTree>
    <p:extLst>
      <p:ext uri="{BB962C8B-B14F-4D97-AF65-F5344CB8AC3E}">
        <p14:creationId xmlns:p14="http://schemas.microsoft.com/office/powerpoint/2010/main" val="277934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E2CE-CB24-2DE4-05F4-85CF5A101C20}"/>
              </a:ext>
            </a:extLst>
          </p:cNvPr>
          <p:cNvSpPr>
            <a:spLocks noGrp="1"/>
          </p:cNvSpPr>
          <p:nvPr>
            <p:ph type="title"/>
          </p:nvPr>
        </p:nvSpPr>
        <p:spPr/>
        <p:txBody>
          <a:bodyPr>
            <a:normAutofit/>
          </a:bodyPr>
          <a:lstStyle/>
          <a:p>
            <a:r>
              <a:rPr lang="en-US" sz="3200" dirty="0">
                <a:solidFill>
                  <a:schemeClr val="accent6"/>
                </a:solidFill>
              </a:rPr>
              <a:t>Terminal</a:t>
            </a:r>
            <a:r>
              <a:rPr lang="en-US" sz="3200" dirty="0"/>
              <a:t> &amp; Command Prompt:</a:t>
            </a:r>
            <a:br>
              <a:rPr lang="en-US" sz="3200" dirty="0"/>
            </a:br>
            <a:r>
              <a:rPr lang="en-US" sz="3200" dirty="0"/>
              <a:t>The Order Counter</a:t>
            </a:r>
          </a:p>
        </p:txBody>
      </p:sp>
      <p:sp>
        <p:nvSpPr>
          <p:cNvPr id="3" name="Content Placeholder 2">
            <a:extLst>
              <a:ext uri="{FF2B5EF4-FFF2-40B4-BE49-F238E27FC236}">
                <a16:creationId xmlns:a16="http://schemas.microsoft.com/office/drawing/2014/main" id="{52685585-20A1-E473-4EB4-F92D69E8BB32}"/>
              </a:ext>
            </a:extLst>
          </p:cNvPr>
          <p:cNvSpPr>
            <a:spLocks noGrp="1"/>
          </p:cNvSpPr>
          <p:nvPr>
            <p:ph idx="1"/>
          </p:nvPr>
        </p:nvSpPr>
        <p:spPr/>
        <p:txBody>
          <a:bodyPr/>
          <a:lstStyle/>
          <a:p>
            <a:r>
              <a:rPr lang="en-US" dirty="0"/>
              <a:t>The terminal is where orders are placed</a:t>
            </a:r>
          </a:p>
          <a:p>
            <a:endParaRPr lang="en-US" dirty="0"/>
          </a:p>
          <a:p>
            <a:endParaRPr lang="en-US" dirty="0"/>
          </a:p>
          <a:p>
            <a:endParaRPr lang="en-US" dirty="0"/>
          </a:p>
          <a:p>
            <a:r>
              <a:rPr lang="en-US" dirty="0"/>
              <a:t>Means “Chef Python, make the </a:t>
            </a:r>
            <a:r>
              <a:rPr lang="en-US" dirty="0" err="1">
                <a:solidFill>
                  <a:schemeClr val="accent6"/>
                </a:solidFill>
              </a:rPr>
              <a:t>analysis.py</a:t>
            </a:r>
            <a:r>
              <a:rPr lang="en-US" dirty="0">
                <a:solidFill>
                  <a:schemeClr val="accent6"/>
                </a:solidFill>
              </a:rPr>
              <a:t> </a:t>
            </a:r>
            <a:r>
              <a:rPr lang="en-US" dirty="0"/>
              <a:t>recipe”</a:t>
            </a:r>
          </a:p>
          <a:p>
            <a:r>
              <a:rPr lang="en-US" dirty="0"/>
              <a:t>We can access the terminal through stand-alone apps (terminal, command prompt) or </a:t>
            </a:r>
            <a:r>
              <a:rPr lang="en-US" i="1" dirty="0"/>
              <a:t>within VS code</a:t>
            </a:r>
          </a:p>
          <a:p>
            <a:pPr lvl="1"/>
            <a:r>
              <a:rPr lang="en-US" dirty="0"/>
              <a:t>Like different windows at the same order counter</a:t>
            </a:r>
          </a:p>
        </p:txBody>
      </p:sp>
      <p:pic>
        <p:nvPicPr>
          <p:cNvPr id="6" name="Picture 5">
            <a:extLst>
              <a:ext uri="{FF2B5EF4-FFF2-40B4-BE49-F238E27FC236}">
                <a16:creationId xmlns:a16="http://schemas.microsoft.com/office/drawing/2014/main" id="{E59E99F5-5C72-2661-4A13-C74191418E6A}"/>
              </a:ext>
            </a:extLst>
          </p:cNvPr>
          <p:cNvPicPr>
            <a:picLocks noChangeAspect="1"/>
          </p:cNvPicPr>
          <p:nvPr/>
        </p:nvPicPr>
        <p:blipFill>
          <a:blip r:embed="rId2"/>
          <a:stretch>
            <a:fillRect/>
          </a:stretch>
        </p:blipFill>
        <p:spPr>
          <a:xfrm>
            <a:off x="5222240" y="1300480"/>
            <a:ext cx="6502400" cy="1422400"/>
          </a:xfrm>
          <a:prstGeom prst="rect">
            <a:avLst/>
          </a:prstGeom>
        </p:spPr>
      </p:pic>
      <p:pic>
        <p:nvPicPr>
          <p:cNvPr id="8" name="Picture 7">
            <a:extLst>
              <a:ext uri="{FF2B5EF4-FFF2-40B4-BE49-F238E27FC236}">
                <a16:creationId xmlns:a16="http://schemas.microsoft.com/office/drawing/2014/main" id="{854F491A-68E0-CA4A-D60F-58A717507493}"/>
              </a:ext>
            </a:extLst>
          </p:cNvPr>
          <p:cNvPicPr>
            <a:picLocks noChangeAspect="1"/>
          </p:cNvPicPr>
          <p:nvPr/>
        </p:nvPicPr>
        <p:blipFill>
          <a:blip r:embed="rId3"/>
          <a:stretch>
            <a:fillRect/>
          </a:stretch>
        </p:blipFill>
        <p:spPr>
          <a:xfrm>
            <a:off x="2356104" y="375920"/>
            <a:ext cx="2218436" cy="2218436"/>
          </a:xfrm>
          <a:prstGeom prst="rect">
            <a:avLst/>
          </a:prstGeom>
        </p:spPr>
      </p:pic>
      <p:sp>
        <p:nvSpPr>
          <p:cNvPr id="4" name="Slide Number Placeholder 3">
            <a:extLst>
              <a:ext uri="{FF2B5EF4-FFF2-40B4-BE49-F238E27FC236}">
                <a16:creationId xmlns:a16="http://schemas.microsoft.com/office/drawing/2014/main" id="{95253E9A-831D-A5D9-DD9D-A08F0E96E80E}"/>
              </a:ext>
            </a:extLst>
          </p:cNvPr>
          <p:cNvSpPr>
            <a:spLocks noGrp="1"/>
          </p:cNvSpPr>
          <p:nvPr>
            <p:ph type="sldNum" sz="quarter" idx="12"/>
          </p:nvPr>
        </p:nvSpPr>
        <p:spPr/>
        <p:txBody>
          <a:bodyPr/>
          <a:lstStyle/>
          <a:p>
            <a:fld id="{0D9DF20D-7D64-DD4E-93FD-71BB03726D71}" type="slidenum">
              <a:rPr lang="en-US" smtClean="0"/>
              <a:pPr/>
              <a:t>11</a:t>
            </a:fld>
            <a:endParaRPr lang="en-US"/>
          </a:p>
        </p:txBody>
      </p:sp>
    </p:spTree>
    <p:extLst>
      <p:ext uri="{BB962C8B-B14F-4D97-AF65-F5344CB8AC3E}">
        <p14:creationId xmlns:p14="http://schemas.microsoft.com/office/powerpoint/2010/main" val="251379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6DED9-AB66-7367-B947-491FF7D141A7}"/>
              </a:ext>
            </a:extLst>
          </p:cNvPr>
          <p:cNvSpPr>
            <a:spLocks noGrp="1"/>
          </p:cNvSpPr>
          <p:nvPr>
            <p:ph type="title"/>
          </p:nvPr>
        </p:nvSpPr>
        <p:spPr/>
        <p:txBody>
          <a:bodyPr/>
          <a:lstStyle/>
          <a:p>
            <a:r>
              <a:rPr lang="en-US" dirty="0"/>
              <a:t>The Restaurant: The Big Picture</a:t>
            </a:r>
          </a:p>
        </p:txBody>
      </p:sp>
      <p:grpSp>
        <p:nvGrpSpPr>
          <p:cNvPr id="20" name="Group 19">
            <a:extLst>
              <a:ext uri="{FF2B5EF4-FFF2-40B4-BE49-F238E27FC236}">
                <a16:creationId xmlns:a16="http://schemas.microsoft.com/office/drawing/2014/main" id="{37C46679-2A34-3AE7-D8F5-93A416BCACB0}"/>
              </a:ext>
            </a:extLst>
          </p:cNvPr>
          <p:cNvGrpSpPr/>
          <p:nvPr/>
        </p:nvGrpSpPr>
        <p:grpSpPr>
          <a:xfrm>
            <a:off x="571500" y="1419352"/>
            <a:ext cx="1929384" cy="2706779"/>
            <a:chOff x="571500" y="1419352"/>
            <a:chExt cx="1929384" cy="2706779"/>
          </a:xfrm>
        </p:grpSpPr>
        <p:pic>
          <p:nvPicPr>
            <p:cNvPr id="5" name="Picture 4">
              <a:extLst>
                <a:ext uri="{FF2B5EF4-FFF2-40B4-BE49-F238E27FC236}">
                  <a16:creationId xmlns:a16="http://schemas.microsoft.com/office/drawing/2014/main" id="{862EF8E8-4316-4F9C-26EB-4444A928EA56}"/>
                </a:ext>
              </a:extLst>
            </p:cNvPr>
            <p:cNvPicPr>
              <a:picLocks noChangeAspect="1"/>
            </p:cNvPicPr>
            <p:nvPr/>
          </p:nvPicPr>
          <p:blipFill>
            <a:blip r:embed="rId2"/>
            <a:stretch>
              <a:fillRect/>
            </a:stretch>
          </p:blipFill>
          <p:spPr>
            <a:xfrm>
              <a:off x="658368" y="2370483"/>
              <a:ext cx="1146048" cy="1146048"/>
            </a:xfrm>
            <a:prstGeom prst="rect">
              <a:avLst/>
            </a:prstGeom>
          </p:spPr>
        </p:pic>
        <p:sp>
          <p:nvSpPr>
            <p:cNvPr id="7" name="TextBox 6">
              <a:extLst>
                <a:ext uri="{FF2B5EF4-FFF2-40B4-BE49-F238E27FC236}">
                  <a16:creationId xmlns:a16="http://schemas.microsoft.com/office/drawing/2014/main" id="{AA128A6A-D308-8123-9748-DA10C32753D9}"/>
                </a:ext>
              </a:extLst>
            </p:cNvPr>
            <p:cNvSpPr txBox="1"/>
            <p:nvPr/>
          </p:nvSpPr>
          <p:spPr>
            <a:xfrm>
              <a:off x="571500" y="1419352"/>
              <a:ext cx="1929384" cy="646331"/>
            </a:xfrm>
            <a:prstGeom prst="rect">
              <a:avLst/>
            </a:prstGeom>
            <a:noFill/>
          </p:spPr>
          <p:txBody>
            <a:bodyPr wrap="square" rtlCol="0">
              <a:spAutoFit/>
            </a:bodyPr>
            <a:lstStyle/>
            <a:p>
              <a:pPr algn="ctr"/>
              <a:r>
                <a:rPr lang="en-US" dirty="0">
                  <a:latin typeface=""/>
                </a:rPr>
                <a:t>You write recipes (</a:t>
              </a:r>
              <a:r>
                <a:rPr lang="en-US" dirty="0">
                  <a:solidFill>
                    <a:schemeClr val="accent6"/>
                  </a:solidFill>
                  <a:latin typeface=""/>
                </a:rPr>
                <a:t>code</a:t>
              </a:r>
              <a:r>
                <a:rPr lang="en-US" dirty="0">
                  <a:latin typeface=""/>
                </a:rPr>
                <a:t>)…</a:t>
              </a:r>
            </a:p>
          </p:txBody>
        </p:sp>
        <p:pic>
          <p:nvPicPr>
            <p:cNvPr id="8" name="Picture 7">
              <a:extLst>
                <a:ext uri="{FF2B5EF4-FFF2-40B4-BE49-F238E27FC236}">
                  <a16:creationId xmlns:a16="http://schemas.microsoft.com/office/drawing/2014/main" id="{B48581BD-7F29-7DE6-8344-10F3210C2F55}"/>
                </a:ext>
              </a:extLst>
            </p:cNvPr>
            <p:cNvPicPr>
              <a:picLocks noChangeAspect="1"/>
            </p:cNvPicPr>
            <p:nvPr/>
          </p:nvPicPr>
          <p:blipFill>
            <a:blip r:embed="rId2"/>
            <a:stretch>
              <a:fillRect/>
            </a:stretch>
          </p:blipFill>
          <p:spPr>
            <a:xfrm>
              <a:off x="810768" y="2522883"/>
              <a:ext cx="1146048" cy="1146048"/>
            </a:xfrm>
            <a:prstGeom prst="rect">
              <a:avLst/>
            </a:prstGeom>
          </p:spPr>
        </p:pic>
        <p:pic>
          <p:nvPicPr>
            <p:cNvPr id="9" name="Picture 8">
              <a:extLst>
                <a:ext uri="{FF2B5EF4-FFF2-40B4-BE49-F238E27FC236}">
                  <a16:creationId xmlns:a16="http://schemas.microsoft.com/office/drawing/2014/main" id="{443ACD8B-8A05-C877-02E4-774286166826}"/>
                </a:ext>
              </a:extLst>
            </p:cNvPr>
            <p:cNvPicPr>
              <a:picLocks noChangeAspect="1"/>
            </p:cNvPicPr>
            <p:nvPr/>
          </p:nvPicPr>
          <p:blipFill>
            <a:blip r:embed="rId2"/>
            <a:stretch>
              <a:fillRect/>
            </a:stretch>
          </p:blipFill>
          <p:spPr>
            <a:xfrm>
              <a:off x="963168" y="2675283"/>
              <a:ext cx="1146048" cy="1146048"/>
            </a:xfrm>
            <a:prstGeom prst="rect">
              <a:avLst/>
            </a:prstGeom>
          </p:spPr>
        </p:pic>
        <p:pic>
          <p:nvPicPr>
            <p:cNvPr id="12" name="Picture 11">
              <a:extLst>
                <a:ext uri="{FF2B5EF4-FFF2-40B4-BE49-F238E27FC236}">
                  <a16:creationId xmlns:a16="http://schemas.microsoft.com/office/drawing/2014/main" id="{B57ECE6A-56AA-D54F-ECAE-539A8F12388F}"/>
                </a:ext>
              </a:extLst>
            </p:cNvPr>
            <p:cNvPicPr>
              <a:picLocks noChangeAspect="1"/>
            </p:cNvPicPr>
            <p:nvPr/>
          </p:nvPicPr>
          <p:blipFill>
            <a:blip r:embed="rId2"/>
            <a:stretch>
              <a:fillRect/>
            </a:stretch>
          </p:blipFill>
          <p:spPr>
            <a:xfrm>
              <a:off x="1115568" y="2827683"/>
              <a:ext cx="1146048" cy="1146048"/>
            </a:xfrm>
            <a:prstGeom prst="rect">
              <a:avLst/>
            </a:prstGeom>
          </p:spPr>
        </p:pic>
        <p:pic>
          <p:nvPicPr>
            <p:cNvPr id="13" name="Picture 12">
              <a:extLst>
                <a:ext uri="{FF2B5EF4-FFF2-40B4-BE49-F238E27FC236}">
                  <a16:creationId xmlns:a16="http://schemas.microsoft.com/office/drawing/2014/main" id="{CE514B59-21DD-7349-9F8C-471F2B420540}"/>
                </a:ext>
              </a:extLst>
            </p:cNvPr>
            <p:cNvPicPr>
              <a:picLocks noChangeAspect="1"/>
            </p:cNvPicPr>
            <p:nvPr/>
          </p:nvPicPr>
          <p:blipFill>
            <a:blip r:embed="rId2"/>
            <a:stretch>
              <a:fillRect/>
            </a:stretch>
          </p:blipFill>
          <p:spPr>
            <a:xfrm>
              <a:off x="1267968" y="2980083"/>
              <a:ext cx="1146048" cy="1146048"/>
            </a:xfrm>
            <a:prstGeom prst="rect">
              <a:avLst/>
            </a:prstGeom>
          </p:spPr>
        </p:pic>
      </p:grpSp>
      <p:grpSp>
        <p:nvGrpSpPr>
          <p:cNvPr id="21" name="Group 20">
            <a:extLst>
              <a:ext uri="{FF2B5EF4-FFF2-40B4-BE49-F238E27FC236}">
                <a16:creationId xmlns:a16="http://schemas.microsoft.com/office/drawing/2014/main" id="{50CF3A63-01F5-22AE-87C2-ED9343A00578}"/>
              </a:ext>
            </a:extLst>
          </p:cNvPr>
          <p:cNvGrpSpPr/>
          <p:nvPr/>
        </p:nvGrpSpPr>
        <p:grpSpPr>
          <a:xfrm>
            <a:off x="2624582" y="1280852"/>
            <a:ext cx="2670979" cy="2854103"/>
            <a:chOff x="2624582" y="1280852"/>
            <a:chExt cx="2670979" cy="2854103"/>
          </a:xfrm>
        </p:grpSpPr>
        <p:sp>
          <p:nvSpPr>
            <p:cNvPr id="10" name="TextBox 9">
              <a:extLst>
                <a:ext uri="{FF2B5EF4-FFF2-40B4-BE49-F238E27FC236}">
                  <a16:creationId xmlns:a16="http://schemas.microsoft.com/office/drawing/2014/main" id="{D2850767-A32E-12AC-010E-E95F353F5A41}"/>
                </a:ext>
              </a:extLst>
            </p:cNvPr>
            <p:cNvSpPr txBox="1"/>
            <p:nvPr/>
          </p:nvSpPr>
          <p:spPr>
            <a:xfrm>
              <a:off x="3485050" y="1280852"/>
              <a:ext cx="1810511" cy="923330"/>
            </a:xfrm>
            <a:prstGeom prst="rect">
              <a:avLst/>
            </a:prstGeom>
            <a:noFill/>
          </p:spPr>
          <p:txBody>
            <a:bodyPr wrap="square" rtlCol="0">
              <a:spAutoFit/>
            </a:bodyPr>
            <a:lstStyle/>
            <a:p>
              <a:pPr algn="ctr"/>
              <a:r>
                <a:rPr lang="en-US" dirty="0">
                  <a:latin typeface=""/>
                </a:rPr>
                <a:t>… and put them in a recipe book (</a:t>
              </a:r>
              <a:r>
                <a:rPr lang="en-US" dirty="0">
                  <a:solidFill>
                    <a:schemeClr val="accent6"/>
                  </a:solidFill>
                  <a:latin typeface=""/>
                </a:rPr>
                <a:t>folder</a:t>
              </a:r>
              <a:r>
                <a:rPr lang="en-US" dirty="0">
                  <a:latin typeface=""/>
                </a:rPr>
                <a:t>)…</a:t>
              </a:r>
            </a:p>
          </p:txBody>
        </p:sp>
        <p:pic>
          <p:nvPicPr>
            <p:cNvPr id="11" name="Picture 10">
              <a:extLst>
                <a:ext uri="{FF2B5EF4-FFF2-40B4-BE49-F238E27FC236}">
                  <a16:creationId xmlns:a16="http://schemas.microsoft.com/office/drawing/2014/main" id="{59D4AA80-AB33-F7E6-F776-C711E49F9946}"/>
                </a:ext>
              </a:extLst>
            </p:cNvPr>
            <p:cNvPicPr>
              <a:picLocks noChangeAspect="1"/>
            </p:cNvPicPr>
            <p:nvPr/>
          </p:nvPicPr>
          <p:blipFill>
            <a:blip r:embed="rId3"/>
            <a:stretch>
              <a:fillRect/>
            </a:stretch>
          </p:blipFill>
          <p:spPr>
            <a:xfrm>
              <a:off x="3363807" y="2294283"/>
              <a:ext cx="1840672" cy="1840672"/>
            </a:xfrm>
            <a:prstGeom prst="rect">
              <a:avLst/>
            </a:prstGeom>
          </p:spPr>
        </p:pic>
        <p:sp>
          <p:nvSpPr>
            <p:cNvPr id="14" name="Right Brace 13">
              <a:extLst>
                <a:ext uri="{FF2B5EF4-FFF2-40B4-BE49-F238E27FC236}">
                  <a16:creationId xmlns:a16="http://schemas.microsoft.com/office/drawing/2014/main" id="{3E47DFAB-EA4B-992C-CFBB-9F32EA9FC6A9}"/>
                </a:ext>
              </a:extLst>
            </p:cNvPr>
            <p:cNvSpPr/>
            <p:nvPr/>
          </p:nvSpPr>
          <p:spPr>
            <a:xfrm>
              <a:off x="2624582" y="2294283"/>
              <a:ext cx="512064" cy="1831848"/>
            </a:xfrm>
            <a:prstGeom prst="rightBrace">
              <a:avLst>
                <a:gd name="adj1" fmla="val 4404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5F23932-8A47-8FC3-4406-B13751B6E49E}"/>
              </a:ext>
            </a:extLst>
          </p:cNvPr>
          <p:cNvGrpSpPr/>
          <p:nvPr/>
        </p:nvGrpSpPr>
        <p:grpSpPr>
          <a:xfrm>
            <a:off x="6224270" y="1280852"/>
            <a:ext cx="2273893" cy="3003267"/>
            <a:chOff x="6224270" y="1280852"/>
            <a:chExt cx="2273893" cy="3003267"/>
          </a:xfrm>
        </p:grpSpPr>
        <p:pic>
          <p:nvPicPr>
            <p:cNvPr id="15" name="Picture 14">
              <a:extLst>
                <a:ext uri="{FF2B5EF4-FFF2-40B4-BE49-F238E27FC236}">
                  <a16:creationId xmlns:a16="http://schemas.microsoft.com/office/drawing/2014/main" id="{65217A5B-CDC2-785A-57E6-EBC6B96D6BEF}"/>
                </a:ext>
              </a:extLst>
            </p:cNvPr>
            <p:cNvPicPr>
              <a:picLocks noChangeAspect="1"/>
            </p:cNvPicPr>
            <p:nvPr/>
          </p:nvPicPr>
          <p:blipFill>
            <a:blip r:embed="rId4"/>
            <a:stretch>
              <a:fillRect/>
            </a:stretch>
          </p:blipFill>
          <p:spPr>
            <a:xfrm>
              <a:off x="6224270" y="2065683"/>
              <a:ext cx="2218436" cy="2218436"/>
            </a:xfrm>
            <a:prstGeom prst="rect">
              <a:avLst/>
            </a:prstGeom>
          </p:spPr>
        </p:pic>
        <p:sp>
          <p:nvSpPr>
            <p:cNvPr id="16" name="TextBox 15">
              <a:extLst>
                <a:ext uri="{FF2B5EF4-FFF2-40B4-BE49-F238E27FC236}">
                  <a16:creationId xmlns:a16="http://schemas.microsoft.com/office/drawing/2014/main" id="{0A18F1DA-CFEB-2717-5C3E-DDBD73C12F1F}"/>
                </a:ext>
              </a:extLst>
            </p:cNvPr>
            <p:cNvSpPr txBox="1"/>
            <p:nvPr/>
          </p:nvSpPr>
          <p:spPr>
            <a:xfrm>
              <a:off x="6279727" y="1280852"/>
              <a:ext cx="2218436" cy="923330"/>
            </a:xfrm>
            <a:prstGeom prst="rect">
              <a:avLst/>
            </a:prstGeom>
            <a:noFill/>
          </p:spPr>
          <p:txBody>
            <a:bodyPr wrap="square" rtlCol="0">
              <a:spAutoFit/>
            </a:bodyPr>
            <a:lstStyle/>
            <a:p>
              <a:pPr algn="ctr"/>
              <a:r>
                <a:rPr lang="en-US" dirty="0">
                  <a:latin typeface=""/>
                </a:rPr>
                <a:t>… which you can send to the order counter (</a:t>
              </a:r>
              <a:r>
                <a:rPr lang="en-US" dirty="0">
                  <a:solidFill>
                    <a:schemeClr val="accent6"/>
                  </a:solidFill>
                  <a:latin typeface=""/>
                </a:rPr>
                <a:t>terminal</a:t>
              </a:r>
              <a:r>
                <a:rPr lang="en-US" dirty="0">
                  <a:latin typeface=""/>
                </a:rPr>
                <a:t>)…</a:t>
              </a:r>
            </a:p>
          </p:txBody>
        </p:sp>
      </p:grpSp>
      <p:grpSp>
        <p:nvGrpSpPr>
          <p:cNvPr id="23" name="Group 22">
            <a:extLst>
              <a:ext uri="{FF2B5EF4-FFF2-40B4-BE49-F238E27FC236}">
                <a16:creationId xmlns:a16="http://schemas.microsoft.com/office/drawing/2014/main" id="{780A5407-EF04-FF40-EC4C-AD5D7527FA68}"/>
              </a:ext>
            </a:extLst>
          </p:cNvPr>
          <p:cNvGrpSpPr/>
          <p:nvPr/>
        </p:nvGrpSpPr>
        <p:grpSpPr>
          <a:xfrm>
            <a:off x="9482329" y="1280852"/>
            <a:ext cx="2139696" cy="2829331"/>
            <a:chOff x="9482329" y="1280852"/>
            <a:chExt cx="2139696" cy="2829331"/>
          </a:xfrm>
        </p:grpSpPr>
        <p:pic>
          <p:nvPicPr>
            <p:cNvPr id="17" name="Picture 16">
              <a:extLst>
                <a:ext uri="{FF2B5EF4-FFF2-40B4-BE49-F238E27FC236}">
                  <a16:creationId xmlns:a16="http://schemas.microsoft.com/office/drawing/2014/main" id="{F45884BF-A75D-6027-7005-8DA2B30B4C42}"/>
                </a:ext>
              </a:extLst>
            </p:cNvPr>
            <p:cNvPicPr>
              <a:picLocks noChangeAspect="1"/>
            </p:cNvPicPr>
            <p:nvPr/>
          </p:nvPicPr>
          <p:blipFill>
            <a:blip r:embed="rId5"/>
            <a:stretch>
              <a:fillRect/>
            </a:stretch>
          </p:blipFill>
          <p:spPr>
            <a:xfrm>
              <a:off x="9742593" y="2261233"/>
              <a:ext cx="1848950" cy="1848950"/>
            </a:xfrm>
            <a:prstGeom prst="rect">
              <a:avLst/>
            </a:prstGeom>
          </p:spPr>
        </p:pic>
        <p:sp>
          <p:nvSpPr>
            <p:cNvPr id="18" name="TextBox 17">
              <a:extLst>
                <a:ext uri="{FF2B5EF4-FFF2-40B4-BE49-F238E27FC236}">
                  <a16:creationId xmlns:a16="http://schemas.microsoft.com/office/drawing/2014/main" id="{7C147789-2DED-0AE5-0A47-9F69A45AC2A4}"/>
                </a:ext>
              </a:extLst>
            </p:cNvPr>
            <p:cNvSpPr txBox="1"/>
            <p:nvPr/>
          </p:nvSpPr>
          <p:spPr>
            <a:xfrm>
              <a:off x="9482329" y="1280852"/>
              <a:ext cx="2139696" cy="923330"/>
            </a:xfrm>
            <a:prstGeom prst="rect">
              <a:avLst/>
            </a:prstGeom>
            <a:noFill/>
          </p:spPr>
          <p:txBody>
            <a:bodyPr wrap="square" rtlCol="0">
              <a:spAutoFit/>
            </a:bodyPr>
            <a:lstStyle/>
            <a:p>
              <a:pPr algn="ctr"/>
              <a:r>
                <a:rPr lang="en-US" dirty="0">
                  <a:latin typeface=""/>
                </a:rPr>
                <a:t>…which tells the chef (</a:t>
              </a:r>
              <a:r>
                <a:rPr lang="en-US" dirty="0">
                  <a:solidFill>
                    <a:schemeClr val="accent6"/>
                  </a:solidFill>
                  <a:latin typeface=""/>
                </a:rPr>
                <a:t>Python</a:t>
              </a:r>
              <a:r>
                <a:rPr lang="en-US" dirty="0">
                  <a:latin typeface=""/>
                </a:rPr>
                <a:t>) what to cook</a:t>
              </a:r>
            </a:p>
          </p:txBody>
        </p:sp>
      </p:grpSp>
      <p:grpSp>
        <p:nvGrpSpPr>
          <p:cNvPr id="26" name="Group 25">
            <a:extLst>
              <a:ext uri="{FF2B5EF4-FFF2-40B4-BE49-F238E27FC236}">
                <a16:creationId xmlns:a16="http://schemas.microsoft.com/office/drawing/2014/main" id="{371BB6C0-4D89-A4F9-FC8C-8C60F8B07F19}"/>
              </a:ext>
            </a:extLst>
          </p:cNvPr>
          <p:cNvGrpSpPr/>
          <p:nvPr/>
        </p:nvGrpSpPr>
        <p:grpSpPr>
          <a:xfrm>
            <a:off x="210312" y="1060704"/>
            <a:ext cx="11649456" cy="3824224"/>
            <a:chOff x="210312" y="1060704"/>
            <a:chExt cx="11649456" cy="3824224"/>
          </a:xfrm>
        </p:grpSpPr>
        <p:sp>
          <p:nvSpPr>
            <p:cNvPr id="24" name="Rounded Rectangle 23">
              <a:extLst>
                <a:ext uri="{FF2B5EF4-FFF2-40B4-BE49-F238E27FC236}">
                  <a16:creationId xmlns:a16="http://schemas.microsoft.com/office/drawing/2014/main" id="{746E81DE-D90B-2A26-36DC-7EB4879CC48E}"/>
                </a:ext>
              </a:extLst>
            </p:cNvPr>
            <p:cNvSpPr/>
            <p:nvPr/>
          </p:nvSpPr>
          <p:spPr>
            <a:xfrm>
              <a:off x="210312" y="1060704"/>
              <a:ext cx="11649456" cy="3465576"/>
            </a:xfrm>
            <a:prstGeom prst="round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D5CB4E9-5619-B8DC-8451-AB2B5531D6A0}"/>
                </a:ext>
              </a:extLst>
            </p:cNvPr>
            <p:cNvSpPr txBox="1"/>
            <p:nvPr/>
          </p:nvSpPr>
          <p:spPr>
            <a:xfrm>
              <a:off x="583861" y="4515596"/>
              <a:ext cx="3031599" cy="369332"/>
            </a:xfrm>
            <a:prstGeom prst="rect">
              <a:avLst/>
            </a:prstGeom>
            <a:noFill/>
          </p:spPr>
          <p:txBody>
            <a:bodyPr wrap="none" rtlCol="0">
              <a:spAutoFit/>
            </a:bodyPr>
            <a:lstStyle/>
            <a:p>
              <a:r>
                <a:rPr lang="en-US" b="1" dirty="0">
                  <a:latin typeface=""/>
                </a:rPr>
                <a:t>The Restaurant (</a:t>
              </a:r>
              <a:r>
                <a:rPr lang="en-US" b="1" dirty="0">
                  <a:solidFill>
                    <a:schemeClr val="accent6"/>
                  </a:solidFill>
                  <a:latin typeface=""/>
                </a:rPr>
                <a:t>VS Code</a:t>
              </a:r>
              <a:r>
                <a:rPr lang="en-US" b="1" dirty="0">
                  <a:latin typeface=""/>
                </a:rPr>
                <a:t>)</a:t>
              </a:r>
            </a:p>
          </p:txBody>
        </p:sp>
      </p:grpSp>
      <p:sp>
        <p:nvSpPr>
          <p:cNvPr id="27" name="TextBox 26">
            <a:extLst>
              <a:ext uri="{FF2B5EF4-FFF2-40B4-BE49-F238E27FC236}">
                <a16:creationId xmlns:a16="http://schemas.microsoft.com/office/drawing/2014/main" id="{F56A3BE8-6CDC-7A67-8668-CFA2980F13E7}"/>
              </a:ext>
            </a:extLst>
          </p:cNvPr>
          <p:cNvSpPr txBox="1"/>
          <p:nvPr/>
        </p:nvSpPr>
        <p:spPr>
          <a:xfrm>
            <a:off x="2170268" y="5311111"/>
            <a:ext cx="8218917" cy="523220"/>
          </a:xfrm>
          <a:prstGeom prst="rect">
            <a:avLst/>
          </a:prstGeom>
          <a:noFill/>
        </p:spPr>
        <p:txBody>
          <a:bodyPr wrap="none" rtlCol="0">
            <a:spAutoFit/>
          </a:bodyPr>
          <a:lstStyle/>
          <a:p>
            <a:r>
              <a:rPr lang="en-US" sz="2800" dirty="0">
                <a:solidFill>
                  <a:schemeClr val="accent6"/>
                </a:solidFill>
                <a:latin typeface=""/>
              </a:rPr>
              <a:t>All of this happens inside the restaurant, VS Code!</a:t>
            </a:r>
          </a:p>
        </p:txBody>
      </p:sp>
      <p:sp>
        <p:nvSpPr>
          <p:cNvPr id="28" name="Rounded Rectangular Callout 27">
            <a:extLst>
              <a:ext uri="{FF2B5EF4-FFF2-40B4-BE49-F238E27FC236}">
                <a16:creationId xmlns:a16="http://schemas.microsoft.com/office/drawing/2014/main" id="{8F540F3E-3D50-D49A-011F-DE74B8E3924C}"/>
              </a:ext>
            </a:extLst>
          </p:cNvPr>
          <p:cNvSpPr/>
          <p:nvPr/>
        </p:nvSpPr>
        <p:spPr>
          <a:xfrm>
            <a:off x="8577072" y="1911096"/>
            <a:ext cx="1289304" cy="1032411"/>
          </a:xfrm>
          <a:prstGeom prst="wedgeRoundRectCallout">
            <a:avLst>
              <a:gd name="adj1" fmla="val -48493"/>
              <a:gd name="adj2" fmla="val 73128"/>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
              </a:rPr>
              <a:t>I need an </a:t>
            </a:r>
            <a:r>
              <a:rPr lang="en-US" sz="1200" dirty="0" err="1">
                <a:solidFill>
                  <a:schemeClr val="accent6"/>
                </a:solidFill>
                <a:latin typeface=""/>
              </a:rPr>
              <a:t>analysis.py</a:t>
            </a:r>
            <a:r>
              <a:rPr lang="en-US" sz="1200" dirty="0">
                <a:solidFill>
                  <a:schemeClr val="tx2"/>
                </a:solidFill>
                <a:latin typeface=""/>
              </a:rPr>
              <a:t>, stat!</a:t>
            </a:r>
          </a:p>
        </p:txBody>
      </p:sp>
      <p:sp>
        <p:nvSpPr>
          <p:cNvPr id="3" name="Slide Number Placeholder 2">
            <a:extLst>
              <a:ext uri="{FF2B5EF4-FFF2-40B4-BE49-F238E27FC236}">
                <a16:creationId xmlns:a16="http://schemas.microsoft.com/office/drawing/2014/main" id="{4A01ECAE-C5FF-3A8F-47A3-51930EA2C928}"/>
              </a:ext>
            </a:extLst>
          </p:cNvPr>
          <p:cNvSpPr>
            <a:spLocks noGrp="1"/>
          </p:cNvSpPr>
          <p:nvPr>
            <p:ph type="sldNum" sz="quarter" idx="12"/>
          </p:nvPr>
        </p:nvSpPr>
        <p:spPr/>
        <p:txBody>
          <a:bodyPr/>
          <a:lstStyle/>
          <a:p>
            <a:fld id="{0D9DF20D-7D64-DD4E-93FD-71BB03726D71}" type="slidenum">
              <a:rPr lang="en-US" smtClean="0"/>
              <a:t>12</a:t>
            </a:fld>
            <a:endParaRPr lang="en-US"/>
          </a:p>
        </p:txBody>
      </p:sp>
    </p:spTree>
    <p:extLst>
      <p:ext uri="{BB962C8B-B14F-4D97-AF65-F5344CB8AC3E}">
        <p14:creationId xmlns:p14="http://schemas.microsoft.com/office/powerpoint/2010/main" val="279813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edge">
                                      <p:cBhvr>
                                        <p:cTn id="27" dur="2000"/>
                                        <p:tgtEl>
                                          <p:spTgt spid="26"/>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9D74A-D15D-F2A0-410C-48FFDC287B84}"/>
              </a:ext>
            </a:extLst>
          </p:cNvPr>
          <p:cNvSpPr>
            <a:spLocks noGrp="1"/>
          </p:cNvSpPr>
          <p:nvPr>
            <p:ph type="title"/>
          </p:nvPr>
        </p:nvSpPr>
        <p:spPr/>
        <p:txBody>
          <a:bodyPr>
            <a:normAutofit/>
          </a:bodyPr>
          <a:lstStyle/>
          <a:p>
            <a:r>
              <a:rPr lang="en-US" sz="3600" dirty="0">
                <a:solidFill>
                  <a:schemeClr val="tx2"/>
                </a:solidFill>
              </a:rPr>
              <a:t>VS Code &amp; </a:t>
            </a:r>
            <a:r>
              <a:rPr lang="en-US" sz="3600" dirty="0">
                <a:solidFill>
                  <a:schemeClr val="accent6"/>
                </a:solidFill>
              </a:rPr>
              <a:t>I</a:t>
            </a:r>
            <a:r>
              <a:rPr lang="en-US" sz="3600" dirty="0">
                <a:solidFill>
                  <a:schemeClr val="tx2"/>
                </a:solidFill>
              </a:rPr>
              <a:t>ntegrated </a:t>
            </a:r>
            <a:r>
              <a:rPr lang="en-US" sz="3600" dirty="0">
                <a:solidFill>
                  <a:schemeClr val="accent6"/>
                </a:solidFill>
              </a:rPr>
              <a:t>D</a:t>
            </a:r>
            <a:r>
              <a:rPr lang="en-US" sz="3600" dirty="0">
                <a:solidFill>
                  <a:schemeClr val="tx2"/>
                </a:solidFill>
              </a:rPr>
              <a:t>evelopment </a:t>
            </a:r>
            <a:r>
              <a:rPr lang="en-US" sz="3600" dirty="0">
                <a:solidFill>
                  <a:schemeClr val="accent6"/>
                </a:solidFill>
              </a:rPr>
              <a:t>E</a:t>
            </a:r>
            <a:r>
              <a:rPr lang="en-US" sz="3600" dirty="0">
                <a:solidFill>
                  <a:schemeClr val="tx2"/>
                </a:solidFill>
              </a:rPr>
              <a:t>nvironments:</a:t>
            </a:r>
            <a:br>
              <a:rPr lang="en-US" sz="3600" dirty="0">
                <a:solidFill>
                  <a:schemeClr val="tx2"/>
                </a:solidFill>
              </a:rPr>
            </a:br>
            <a:r>
              <a:rPr lang="en-US" sz="3600" dirty="0">
                <a:solidFill>
                  <a:schemeClr val="tx2"/>
                </a:solidFill>
              </a:rPr>
              <a:t>The </a:t>
            </a:r>
            <a:r>
              <a:rPr lang="en-US" dirty="0"/>
              <a:t>Restaurant</a:t>
            </a:r>
          </a:p>
        </p:txBody>
      </p:sp>
      <p:sp>
        <p:nvSpPr>
          <p:cNvPr id="3" name="Content Placeholder 2">
            <a:extLst>
              <a:ext uri="{FF2B5EF4-FFF2-40B4-BE49-F238E27FC236}">
                <a16:creationId xmlns:a16="http://schemas.microsoft.com/office/drawing/2014/main" id="{6E1370CB-6BD0-3032-0D26-572D37061149}"/>
              </a:ext>
            </a:extLst>
          </p:cNvPr>
          <p:cNvSpPr>
            <a:spLocks noGrp="1"/>
          </p:cNvSpPr>
          <p:nvPr>
            <p:ph idx="1"/>
          </p:nvPr>
        </p:nvSpPr>
        <p:spPr>
          <a:xfrm>
            <a:off x="5334000" y="286277"/>
            <a:ext cx="6554854" cy="3142723"/>
          </a:xfrm>
        </p:spPr>
        <p:txBody>
          <a:bodyPr>
            <a:noAutofit/>
          </a:bodyPr>
          <a:lstStyle/>
          <a:p>
            <a:r>
              <a:rPr lang="en-US" sz="1800" dirty="0"/>
              <a:t>VS code is a place to work on code (write recipes), view data files (peek in the kitchen), and run your code through a terminal (tell the chef what to cook)</a:t>
            </a:r>
          </a:p>
          <a:p>
            <a:r>
              <a:rPr lang="en-US" sz="1800" dirty="0">
                <a:solidFill>
                  <a:schemeClr val="accent6"/>
                </a:solidFill>
              </a:rPr>
              <a:t>Integrated</a:t>
            </a:r>
            <a:r>
              <a:rPr lang="en-US" sz="1800" dirty="0"/>
              <a:t>: many tools in one place</a:t>
            </a:r>
          </a:p>
          <a:p>
            <a:r>
              <a:rPr lang="en-US" sz="1800" dirty="0">
                <a:solidFill>
                  <a:schemeClr val="accent6"/>
                </a:solidFill>
              </a:rPr>
              <a:t>Development</a:t>
            </a:r>
            <a:r>
              <a:rPr lang="en-US" sz="1800" dirty="0"/>
              <a:t>: place to build code</a:t>
            </a:r>
          </a:p>
          <a:p>
            <a:r>
              <a:rPr lang="en-US" sz="1800" dirty="0">
                <a:solidFill>
                  <a:schemeClr val="accent6"/>
                </a:solidFill>
              </a:rPr>
              <a:t>Environment</a:t>
            </a:r>
            <a:r>
              <a:rPr lang="en-US" sz="1800" dirty="0"/>
              <a:t>: workspace</a:t>
            </a:r>
          </a:p>
        </p:txBody>
      </p:sp>
      <p:pic>
        <p:nvPicPr>
          <p:cNvPr id="4" name="Picture 3">
            <a:extLst>
              <a:ext uri="{FF2B5EF4-FFF2-40B4-BE49-F238E27FC236}">
                <a16:creationId xmlns:a16="http://schemas.microsoft.com/office/drawing/2014/main" id="{D5FC0D18-D864-5ACB-0E46-2CC70F758D04}"/>
              </a:ext>
            </a:extLst>
          </p:cNvPr>
          <p:cNvPicPr>
            <a:picLocks noChangeAspect="1"/>
          </p:cNvPicPr>
          <p:nvPr/>
        </p:nvPicPr>
        <p:blipFill>
          <a:blip r:embed="rId2"/>
          <a:stretch>
            <a:fillRect/>
          </a:stretch>
        </p:blipFill>
        <p:spPr>
          <a:xfrm>
            <a:off x="5587123" y="2248005"/>
            <a:ext cx="5744605" cy="3839311"/>
          </a:xfrm>
          <a:prstGeom prst="rect">
            <a:avLst/>
          </a:prstGeom>
        </p:spPr>
      </p:pic>
      <p:sp>
        <p:nvSpPr>
          <p:cNvPr id="5" name="Slide Number Placeholder 4">
            <a:extLst>
              <a:ext uri="{FF2B5EF4-FFF2-40B4-BE49-F238E27FC236}">
                <a16:creationId xmlns:a16="http://schemas.microsoft.com/office/drawing/2014/main" id="{3EE087F0-247D-88E3-DF83-376AA2DAC66A}"/>
              </a:ext>
            </a:extLst>
          </p:cNvPr>
          <p:cNvSpPr>
            <a:spLocks noGrp="1"/>
          </p:cNvSpPr>
          <p:nvPr>
            <p:ph type="sldNum" sz="quarter" idx="12"/>
          </p:nvPr>
        </p:nvSpPr>
        <p:spPr/>
        <p:txBody>
          <a:bodyPr/>
          <a:lstStyle/>
          <a:p>
            <a:fld id="{0D9DF20D-7D64-DD4E-93FD-71BB03726D71}" type="slidenum">
              <a:rPr lang="en-US" smtClean="0"/>
              <a:pPr/>
              <a:t>13</a:t>
            </a:fld>
            <a:endParaRPr lang="en-US"/>
          </a:p>
        </p:txBody>
      </p:sp>
    </p:spTree>
    <p:extLst>
      <p:ext uri="{BB962C8B-B14F-4D97-AF65-F5344CB8AC3E}">
        <p14:creationId xmlns:p14="http://schemas.microsoft.com/office/powerpoint/2010/main" val="346640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631F44-44CC-C113-C90D-E21BD869F42F}"/>
              </a:ext>
            </a:extLst>
          </p:cNvPr>
          <p:cNvPicPr>
            <a:picLocks noChangeAspect="1"/>
          </p:cNvPicPr>
          <p:nvPr/>
        </p:nvPicPr>
        <p:blipFill>
          <a:blip r:embed="rId3"/>
          <a:stretch>
            <a:fillRect/>
          </a:stretch>
        </p:blipFill>
        <p:spPr>
          <a:xfrm>
            <a:off x="2209800" y="891250"/>
            <a:ext cx="7772400" cy="5177296"/>
          </a:xfrm>
          <a:prstGeom prst="rect">
            <a:avLst/>
          </a:prstGeom>
        </p:spPr>
      </p:pic>
      <p:sp>
        <p:nvSpPr>
          <p:cNvPr id="8" name="TextBox 7">
            <a:extLst>
              <a:ext uri="{FF2B5EF4-FFF2-40B4-BE49-F238E27FC236}">
                <a16:creationId xmlns:a16="http://schemas.microsoft.com/office/drawing/2014/main" id="{AEB5BFF2-F953-D560-CD2C-50B170414A7A}"/>
              </a:ext>
            </a:extLst>
          </p:cNvPr>
          <p:cNvSpPr txBox="1"/>
          <p:nvPr/>
        </p:nvSpPr>
        <p:spPr>
          <a:xfrm>
            <a:off x="3103345" y="521918"/>
            <a:ext cx="1805302" cy="369332"/>
          </a:xfrm>
          <a:prstGeom prst="rect">
            <a:avLst/>
          </a:prstGeom>
          <a:noFill/>
        </p:spPr>
        <p:txBody>
          <a:bodyPr wrap="none" rtlCol="0">
            <a:spAutoFit/>
          </a:bodyPr>
          <a:lstStyle/>
          <a:p>
            <a:r>
              <a:rPr lang="en-US" dirty="0">
                <a:latin typeface="SF Pro Semibold" pitchFamily="2" charset="0"/>
                <a:ea typeface="SF Pro Semibold" pitchFamily="2" charset="0"/>
                <a:cs typeface="SF Pro Semibold" pitchFamily="2" charset="0"/>
              </a:rPr>
              <a:t>Welcome screen</a:t>
            </a:r>
          </a:p>
        </p:txBody>
      </p:sp>
      <p:sp>
        <p:nvSpPr>
          <p:cNvPr id="10" name="TextBox 9">
            <a:extLst>
              <a:ext uri="{FF2B5EF4-FFF2-40B4-BE49-F238E27FC236}">
                <a16:creationId xmlns:a16="http://schemas.microsoft.com/office/drawing/2014/main" id="{A430D6B7-4245-7254-A4DD-8F066AB78571}"/>
              </a:ext>
            </a:extLst>
          </p:cNvPr>
          <p:cNvSpPr txBox="1"/>
          <p:nvPr/>
        </p:nvSpPr>
        <p:spPr>
          <a:xfrm>
            <a:off x="3628663" y="2806860"/>
            <a:ext cx="1487908" cy="369332"/>
          </a:xfrm>
          <a:prstGeom prst="rect">
            <a:avLst/>
          </a:prstGeom>
          <a:noFill/>
        </p:spPr>
        <p:txBody>
          <a:bodyPr wrap="none" rtlCol="0">
            <a:spAutoFit/>
          </a:bodyPr>
          <a:lstStyle/>
          <a:p>
            <a:r>
              <a:rPr lang="en-US" dirty="0">
                <a:latin typeface="SF Pro Semibold" pitchFamily="2" charset="0"/>
                <a:ea typeface="SF Pro Semibold" pitchFamily="2" charset="0"/>
                <a:cs typeface="SF Pro Semibold" pitchFamily="2" charset="0"/>
              </a:rPr>
              <a:t>Open a folder</a:t>
            </a:r>
          </a:p>
        </p:txBody>
      </p:sp>
      <p:pic>
        <p:nvPicPr>
          <p:cNvPr id="12" name="Picture 11">
            <a:extLst>
              <a:ext uri="{FF2B5EF4-FFF2-40B4-BE49-F238E27FC236}">
                <a16:creationId xmlns:a16="http://schemas.microsoft.com/office/drawing/2014/main" id="{6CD0605A-9E7F-F65F-6F32-DF509D820B71}"/>
              </a:ext>
            </a:extLst>
          </p:cNvPr>
          <p:cNvPicPr>
            <a:picLocks noChangeAspect="1"/>
          </p:cNvPicPr>
          <p:nvPr/>
        </p:nvPicPr>
        <p:blipFill>
          <a:blip r:embed="rId4"/>
          <a:stretch>
            <a:fillRect/>
          </a:stretch>
        </p:blipFill>
        <p:spPr>
          <a:xfrm>
            <a:off x="2209800" y="882621"/>
            <a:ext cx="7772400" cy="5194553"/>
          </a:xfrm>
          <a:prstGeom prst="rect">
            <a:avLst/>
          </a:prstGeom>
        </p:spPr>
      </p:pic>
      <p:sp>
        <p:nvSpPr>
          <p:cNvPr id="14" name="TextBox 13">
            <a:extLst>
              <a:ext uri="{FF2B5EF4-FFF2-40B4-BE49-F238E27FC236}">
                <a16:creationId xmlns:a16="http://schemas.microsoft.com/office/drawing/2014/main" id="{57651E64-CF34-B955-4704-AE641C40F790}"/>
              </a:ext>
            </a:extLst>
          </p:cNvPr>
          <p:cNvSpPr txBox="1"/>
          <p:nvPr/>
        </p:nvSpPr>
        <p:spPr>
          <a:xfrm>
            <a:off x="4722470" y="4625791"/>
            <a:ext cx="2520242" cy="369332"/>
          </a:xfrm>
          <a:prstGeom prst="rect">
            <a:avLst/>
          </a:prstGeom>
          <a:noFill/>
        </p:spPr>
        <p:txBody>
          <a:bodyPr wrap="none" rtlCol="0">
            <a:spAutoFit/>
          </a:bodyPr>
          <a:lstStyle/>
          <a:p>
            <a:r>
              <a:rPr lang="en-US" dirty="0">
                <a:latin typeface="SF Pro Semibold" pitchFamily="2" charset="0"/>
                <a:ea typeface="SF Pro Semibold" pitchFamily="2" charset="0"/>
                <a:cs typeface="SF Pro Semibold" pitchFamily="2" charset="0"/>
              </a:rPr>
              <a:t>Recently opened folders</a:t>
            </a:r>
          </a:p>
        </p:txBody>
      </p:sp>
      <p:sp>
        <p:nvSpPr>
          <p:cNvPr id="16" name="TextBox 15">
            <a:extLst>
              <a:ext uri="{FF2B5EF4-FFF2-40B4-BE49-F238E27FC236}">
                <a16:creationId xmlns:a16="http://schemas.microsoft.com/office/drawing/2014/main" id="{D164C538-3C57-1857-B385-48CBB692E859}"/>
              </a:ext>
            </a:extLst>
          </p:cNvPr>
          <p:cNvSpPr txBox="1"/>
          <p:nvPr/>
        </p:nvSpPr>
        <p:spPr>
          <a:xfrm>
            <a:off x="3337071" y="6235925"/>
            <a:ext cx="5517857" cy="369332"/>
          </a:xfrm>
          <a:prstGeom prst="rect">
            <a:avLst/>
          </a:prstGeom>
          <a:noFill/>
        </p:spPr>
        <p:txBody>
          <a:bodyPr wrap="none" rtlCol="0">
            <a:spAutoFit/>
          </a:bodyPr>
          <a:lstStyle/>
          <a:p>
            <a:r>
              <a:rPr lang="en-US" dirty="0">
                <a:solidFill>
                  <a:schemeClr val="accent6"/>
                </a:solidFill>
                <a:latin typeface="SF Pro Semibold" pitchFamily="2" charset="0"/>
                <a:ea typeface="SF Pro Semibold" pitchFamily="2" charset="0"/>
                <a:cs typeface="SF Pro Semibold" pitchFamily="2" charset="0"/>
              </a:rPr>
              <a:t>Always start by opening your class folder from VS code!</a:t>
            </a:r>
          </a:p>
        </p:txBody>
      </p:sp>
      <p:sp>
        <p:nvSpPr>
          <p:cNvPr id="18" name="Title 1">
            <a:extLst>
              <a:ext uri="{FF2B5EF4-FFF2-40B4-BE49-F238E27FC236}">
                <a16:creationId xmlns:a16="http://schemas.microsoft.com/office/drawing/2014/main" id="{8930B86C-282A-2935-9530-CE858AE8161D}"/>
              </a:ext>
            </a:extLst>
          </p:cNvPr>
          <p:cNvSpPr txBox="1">
            <a:spLocks/>
          </p:cNvSpPr>
          <p:nvPr/>
        </p:nvSpPr>
        <p:spPr>
          <a:xfrm>
            <a:off x="8472667" y="-49213"/>
            <a:ext cx="371933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chemeClr val="tx1"/>
                </a:solidFill>
                <a:latin typeface=""/>
                <a:ea typeface="SF Pro Semibold" pitchFamily="2" charset="0"/>
                <a:cs typeface="SF Pro Semibold" pitchFamily="2" charset="0"/>
              </a:defRPr>
            </a:lvl1pPr>
          </a:lstStyle>
          <a:p>
            <a:r>
              <a:rPr lang="en-US" b="1">
                <a:solidFill>
                  <a:schemeClr val="tx2"/>
                </a:solidFill>
              </a:rPr>
              <a:t>VS Code IDE</a:t>
            </a:r>
            <a:endParaRPr lang="en-US" b="1" dirty="0">
              <a:solidFill>
                <a:schemeClr val="tx2"/>
              </a:solidFill>
            </a:endParaRPr>
          </a:p>
        </p:txBody>
      </p:sp>
      <p:sp>
        <p:nvSpPr>
          <p:cNvPr id="2" name="Slide Number Placeholder 1">
            <a:extLst>
              <a:ext uri="{FF2B5EF4-FFF2-40B4-BE49-F238E27FC236}">
                <a16:creationId xmlns:a16="http://schemas.microsoft.com/office/drawing/2014/main" id="{5781F4C1-1B5E-6B2A-492E-5408048887BD}"/>
              </a:ext>
            </a:extLst>
          </p:cNvPr>
          <p:cNvSpPr>
            <a:spLocks noGrp="1"/>
          </p:cNvSpPr>
          <p:nvPr>
            <p:ph type="sldNum" sz="quarter" idx="12"/>
          </p:nvPr>
        </p:nvSpPr>
        <p:spPr/>
        <p:txBody>
          <a:bodyPr/>
          <a:lstStyle/>
          <a:p>
            <a:fld id="{0D9DF20D-7D64-DD4E-93FD-71BB03726D71}" type="slidenum">
              <a:rPr lang="en-US" smtClean="0"/>
              <a:t>14</a:t>
            </a:fld>
            <a:endParaRPr lang="en-US"/>
          </a:p>
        </p:txBody>
      </p:sp>
    </p:spTree>
    <p:extLst>
      <p:ext uri="{BB962C8B-B14F-4D97-AF65-F5344CB8AC3E}">
        <p14:creationId xmlns:p14="http://schemas.microsoft.com/office/powerpoint/2010/main" val="288912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3EFD-B04A-73F8-8AC2-71C055839EF1}"/>
              </a:ext>
            </a:extLst>
          </p:cNvPr>
          <p:cNvSpPr>
            <a:spLocks noGrp="1"/>
          </p:cNvSpPr>
          <p:nvPr>
            <p:ph type="title"/>
          </p:nvPr>
        </p:nvSpPr>
        <p:spPr/>
        <p:txBody>
          <a:bodyPr/>
          <a:lstStyle/>
          <a:p>
            <a:r>
              <a:rPr lang="en-US" dirty="0"/>
              <a:t>Let’s practice!</a:t>
            </a:r>
          </a:p>
        </p:txBody>
      </p:sp>
      <p:sp>
        <p:nvSpPr>
          <p:cNvPr id="3" name="Text Placeholder 2">
            <a:extLst>
              <a:ext uri="{FF2B5EF4-FFF2-40B4-BE49-F238E27FC236}">
                <a16:creationId xmlns:a16="http://schemas.microsoft.com/office/drawing/2014/main" id="{9BF01DE4-0718-9909-92CF-EEF3958BAB23}"/>
              </a:ext>
            </a:extLst>
          </p:cNvPr>
          <p:cNvSpPr>
            <a:spLocks noGrp="1"/>
          </p:cNvSpPr>
          <p:nvPr>
            <p:ph type="body" idx="1"/>
          </p:nvPr>
        </p:nvSpPr>
        <p:spPr>
          <a:xfrm>
            <a:off x="3113567" y="3429000"/>
            <a:ext cx="5964866" cy="2260278"/>
          </a:xfrm>
        </p:spPr>
        <p:txBody>
          <a:bodyPr>
            <a:normAutofit fontScale="92500" lnSpcReduction="20000"/>
          </a:bodyPr>
          <a:lstStyle/>
          <a:p>
            <a:r>
              <a:rPr lang="en-US" dirty="0"/>
              <a:t>Make a </a:t>
            </a:r>
            <a:r>
              <a:rPr lang="en-US" b="1" dirty="0">
                <a:solidFill>
                  <a:schemeClr val="accent6"/>
                </a:solidFill>
              </a:rPr>
              <a:t>folder</a:t>
            </a:r>
            <a:r>
              <a:rPr lang="en-US" dirty="0"/>
              <a:t> for this class on your computer (not in Downloads please!!)</a:t>
            </a:r>
          </a:p>
          <a:p>
            <a:r>
              <a:rPr lang="en-US" dirty="0"/>
              <a:t>Open </a:t>
            </a:r>
            <a:r>
              <a:rPr lang="en-US" b="1" dirty="0">
                <a:solidFill>
                  <a:schemeClr val="accent6"/>
                </a:solidFill>
              </a:rPr>
              <a:t>VS Code </a:t>
            </a:r>
            <a:r>
              <a:rPr lang="en-US" dirty="0"/>
              <a:t>(or another editor). </a:t>
            </a:r>
          </a:p>
          <a:p>
            <a:r>
              <a:rPr lang="en-US" dirty="0"/>
              <a:t>If you have a PC, open VS code THROUGH </a:t>
            </a:r>
            <a:r>
              <a:rPr lang="en-US" b="1" dirty="0">
                <a:solidFill>
                  <a:schemeClr val="accent6"/>
                </a:solidFill>
              </a:rPr>
              <a:t>ANACONDA NAVIGATOR.</a:t>
            </a:r>
          </a:p>
          <a:p>
            <a:r>
              <a:rPr lang="en-US" dirty="0"/>
              <a:t>Stand your name card up on its edge when you are done. Raise your hand for help! </a:t>
            </a:r>
          </a:p>
        </p:txBody>
      </p:sp>
      <p:sp>
        <p:nvSpPr>
          <p:cNvPr id="4" name="Slide Number Placeholder 3">
            <a:extLst>
              <a:ext uri="{FF2B5EF4-FFF2-40B4-BE49-F238E27FC236}">
                <a16:creationId xmlns:a16="http://schemas.microsoft.com/office/drawing/2014/main" id="{44F9773F-1D58-DEB1-554C-DD6C342C2323}"/>
              </a:ext>
            </a:extLst>
          </p:cNvPr>
          <p:cNvSpPr>
            <a:spLocks noGrp="1"/>
          </p:cNvSpPr>
          <p:nvPr>
            <p:ph type="sldNum" sz="quarter" idx="12"/>
          </p:nvPr>
        </p:nvSpPr>
        <p:spPr/>
        <p:txBody>
          <a:bodyPr/>
          <a:lstStyle/>
          <a:p>
            <a:fld id="{0D9DF20D-7D64-DD4E-93FD-71BB03726D71}" type="slidenum">
              <a:rPr lang="en-US" smtClean="0"/>
              <a:pPr/>
              <a:t>15</a:t>
            </a:fld>
            <a:endParaRPr lang="en-US"/>
          </a:p>
        </p:txBody>
      </p:sp>
    </p:spTree>
    <p:extLst>
      <p:ext uri="{BB962C8B-B14F-4D97-AF65-F5344CB8AC3E}">
        <p14:creationId xmlns:p14="http://schemas.microsoft.com/office/powerpoint/2010/main" val="1159808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A073-2AFB-D975-1A4F-678D18645FBC}"/>
              </a:ext>
            </a:extLst>
          </p:cNvPr>
          <p:cNvSpPr>
            <a:spLocks noGrp="1"/>
          </p:cNvSpPr>
          <p:nvPr>
            <p:ph type="title" idx="4294967295"/>
          </p:nvPr>
        </p:nvSpPr>
        <p:spPr>
          <a:xfrm>
            <a:off x="8472667" y="-49213"/>
            <a:ext cx="3719333" cy="1325563"/>
          </a:xfrm>
        </p:spPr>
        <p:txBody>
          <a:bodyPr/>
          <a:lstStyle/>
          <a:p>
            <a:r>
              <a:rPr lang="en-US" sz="4000" b="1" dirty="0">
                <a:solidFill>
                  <a:schemeClr val="tx2"/>
                </a:solidFill>
              </a:rPr>
              <a:t>VS Code IDE</a:t>
            </a:r>
          </a:p>
        </p:txBody>
      </p:sp>
      <p:pic>
        <p:nvPicPr>
          <p:cNvPr id="6" name="Picture 5">
            <a:extLst>
              <a:ext uri="{FF2B5EF4-FFF2-40B4-BE49-F238E27FC236}">
                <a16:creationId xmlns:a16="http://schemas.microsoft.com/office/drawing/2014/main" id="{77C08497-2298-D4ED-650B-FF1C9EF574C9}"/>
              </a:ext>
            </a:extLst>
          </p:cNvPr>
          <p:cNvPicPr>
            <a:picLocks noChangeAspect="1"/>
          </p:cNvPicPr>
          <p:nvPr/>
        </p:nvPicPr>
        <p:blipFill>
          <a:blip r:embed="rId3"/>
          <a:stretch>
            <a:fillRect/>
          </a:stretch>
        </p:blipFill>
        <p:spPr>
          <a:xfrm>
            <a:off x="1308909" y="899695"/>
            <a:ext cx="8983870" cy="5502683"/>
          </a:xfrm>
          <a:prstGeom prst="rect">
            <a:avLst/>
          </a:prstGeom>
        </p:spPr>
      </p:pic>
      <p:sp>
        <p:nvSpPr>
          <p:cNvPr id="8" name="TextBox 7">
            <a:extLst>
              <a:ext uri="{FF2B5EF4-FFF2-40B4-BE49-F238E27FC236}">
                <a16:creationId xmlns:a16="http://schemas.microsoft.com/office/drawing/2014/main" id="{A0DF72BA-8DB7-1B8C-E713-DEF184CAE266}"/>
              </a:ext>
            </a:extLst>
          </p:cNvPr>
          <p:cNvSpPr txBox="1"/>
          <p:nvPr/>
        </p:nvSpPr>
        <p:spPr>
          <a:xfrm>
            <a:off x="5543070" y="4802178"/>
            <a:ext cx="2634441" cy="338554"/>
          </a:xfrm>
          <a:prstGeom prst="rect">
            <a:avLst/>
          </a:prstGeom>
          <a:solidFill>
            <a:schemeClr val="bg1"/>
          </a:solidFill>
          <a:ln>
            <a:solidFill>
              <a:schemeClr val="tx1"/>
            </a:solidFill>
          </a:ln>
        </p:spPr>
        <p:txBody>
          <a:bodyPr wrap="square" rtlCol="0">
            <a:spAutoFit/>
          </a:bodyPr>
          <a:lstStyle/>
          <a:p>
            <a:r>
              <a:rPr lang="en-US" sz="1600" dirty="0">
                <a:latin typeface=""/>
              </a:rPr>
              <a:t>Console/Terminal/Output</a:t>
            </a:r>
          </a:p>
        </p:txBody>
      </p:sp>
      <p:sp>
        <p:nvSpPr>
          <p:cNvPr id="9" name="TextBox 8">
            <a:extLst>
              <a:ext uri="{FF2B5EF4-FFF2-40B4-BE49-F238E27FC236}">
                <a16:creationId xmlns:a16="http://schemas.microsoft.com/office/drawing/2014/main" id="{9B8C1609-76FA-3527-5247-24D27D8F7CC6}"/>
              </a:ext>
            </a:extLst>
          </p:cNvPr>
          <p:cNvSpPr txBox="1"/>
          <p:nvPr/>
        </p:nvSpPr>
        <p:spPr>
          <a:xfrm>
            <a:off x="5785551" y="1820107"/>
            <a:ext cx="1334020" cy="338554"/>
          </a:xfrm>
          <a:prstGeom prst="rect">
            <a:avLst/>
          </a:prstGeom>
          <a:solidFill>
            <a:schemeClr val="bg1"/>
          </a:solidFill>
          <a:ln>
            <a:solidFill>
              <a:schemeClr val="tx1"/>
            </a:solidFill>
          </a:ln>
        </p:spPr>
        <p:txBody>
          <a:bodyPr wrap="square" rtlCol="0">
            <a:spAutoFit/>
          </a:bodyPr>
          <a:lstStyle/>
          <a:p>
            <a:r>
              <a:rPr lang="en-US" sz="1600">
                <a:latin typeface=""/>
              </a:rPr>
              <a:t>Script Editor</a:t>
            </a:r>
          </a:p>
        </p:txBody>
      </p:sp>
      <p:sp>
        <p:nvSpPr>
          <p:cNvPr id="10" name="TextBox 9">
            <a:extLst>
              <a:ext uri="{FF2B5EF4-FFF2-40B4-BE49-F238E27FC236}">
                <a16:creationId xmlns:a16="http://schemas.microsoft.com/office/drawing/2014/main" id="{F060A834-1E71-C91C-60C8-5060694EBDF6}"/>
              </a:ext>
            </a:extLst>
          </p:cNvPr>
          <p:cNvSpPr txBox="1"/>
          <p:nvPr/>
        </p:nvSpPr>
        <p:spPr>
          <a:xfrm>
            <a:off x="8979178" y="1272986"/>
            <a:ext cx="1143000" cy="338554"/>
          </a:xfrm>
          <a:prstGeom prst="rect">
            <a:avLst/>
          </a:prstGeom>
          <a:solidFill>
            <a:schemeClr val="bg1"/>
          </a:solidFill>
          <a:ln>
            <a:solidFill>
              <a:schemeClr val="tx1"/>
            </a:solidFill>
          </a:ln>
        </p:spPr>
        <p:txBody>
          <a:bodyPr wrap="square" rtlCol="0">
            <a:spAutoFit/>
          </a:bodyPr>
          <a:lstStyle/>
          <a:p>
            <a:r>
              <a:rPr lang="en-US" sz="1600" dirty="0">
                <a:latin typeface=""/>
              </a:rPr>
              <a:t>Run File</a:t>
            </a:r>
          </a:p>
        </p:txBody>
      </p:sp>
      <p:sp>
        <p:nvSpPr>
          <p:cNvPr id="5" name="TextBox 4">
            <a:extLst>
              <a:ext uri="{FF2B5EF4-FFF2-40B4-BE49-F238E27FC236}">
                <a16:creationId xmlns:a16="http://schemas.microsoft.com/office/drawing/2014/main" id="{2B14352D-E00A-2449-0990-247A74398D54}"/>
              </a:ext>
            </a:extLst>
          </p:cNvPr>
          <p:cNvSpPr txBox="1"/>
          <p:nvPr/>
        </p:nvSpPr>
        <p:spPr>
          <a:xfrm>
            <a:off x="1586989" y="899695"/>
            <a:ext cx="1945148" cy="338554"/>
          </a:xfrm>
          <a:prstGeom prst="rect">
            <a:avLst/>
          </a:prstGeom>
          <a:noFill/>
        </p:spPr>
        <p:txBody>
          <a:bodyPr wrap="none" rtlCol="0">
            <a:spAutoFit/>
          </a:bodyPr>
          <a:lstStyle/>
          <a:p>
            <a:r>
              <a:rPr lang="en-US" sz="1600" dirty="0">
                <a:latin typeface=""/>
              </a:rPr>
              <a:t>Your chosen folder!</a:t>
            </a:r>
          </a:p>
        </p:txBody>
      </p:sp>
      <p:sp>
        <p:nvSpPr>
          <p:cNvPr id="7" name="TextBox 6">
            <a:extLst>
              <a:ext uri="{FF2B5EF4-FFF2-40B4-BE49-F238E27FC236}">
                <a16:creationId xmlns:a16="http://schemas.microsoft.com/office/drawing/2014/main" id="{DE525AB0-867E-CC44-702B-AB61B45B701E}"/>
              </a:ext>
            </a:extLst>
          </p:cNvPr>
          <p:cNvSpPr txBox="1"/>
          <p:nvPr/>
        </p:nvSpPr>
        <p:spPr>
          <a:xfrm>
            <a:off x="5262074" y="1036949"/>
            <a:ext cx="1279517" cy="338554"/>
          </a:xfrm>
          <a:prstGeom prst="rect">
            <a:avLst/>
          </a:prstGeom>
          <a:noFill/>
        </p:spPr>
        <p:txBody>
          <a:bodyPr wrap="none" rtlCol="0">
            <a:spAutoFit/>
          </a:bodyPr>
          <a:lstStyle/>
          <a:p>
            <a:r>
              <a:rPr lang="en-US" sz="1600" dirty="0">
                <a:latin typeface=""/>
              </a:rPr>
              <a:t>Name of file</a:t>
            </a:r>
          </a:p>
        </p:txBody>
      </p:sp>
      <p:sp>
        <p:nvSpPr>
          <p:cNvPr id="13" name="TextBox 12">
            <a:extLst>
              <a:ext uri="{FF2B5EF4-FFF2-40B4-BE49-F238E27FC236}">
                <a16:creationId xmlns:a16="http://schemas.microsoft.com/office/drawing/2014/main" id="{A24E4FAA-79B9-8A61-7FC6-E544AE329376}"/>
              </a:ext>
            </a:extLst>
          </p:cNvPr>
          <p:cNvSpPr txBox="1"/>
          <p:nvPr/>
        </p:nvSpPr>
        <p:spPr>
          <a:xfrm>
            <a:off x="5262074" y="610328"/>
            <a:ext cx="2558714" cy="338554"/>
          </a:xfrm>
          <a:prstGeom prst="rect">
            <a:avLst/>
          </a:prstGeom>
          <a:noFill/>
        </p:spPr>
        <p:txBody>
          <a:bodyPr wrap="none" rtlCol="0">
            <a:spAutoFit/>
          </a:bodyPr>
          <a:lstStyle/>
          <a:p>
            <a:r>
              <a:rPr lang="en-US" sz="1600" dirty="0">
                <a:latin typeface=""/>
              </a:rPr>
              <a:t>Search or run a command</a:t>
            </a:r>
          </a:p>
        </p:txBody>
      </p:sp>
      <p:sp>
        <p:nvSpPr>
          <p:cNvPr id="14" name="TextBox 13">
            <a:extLst>
              <a:ext uri="{FF2B5EF4-FFF2-40B4-BE49-F238E27FC236}">
                <a16:creationId xmlns:a16="http://schemas.microsoft.com/office/drawing/2014/main" id="{E05EEA4F-4183-10CD-F74D-FB49B4C7C2AE}"/>
              </a:ext>
            </a:extLst>
          </p:cNvPr>
          <p:cNvSpPr txBox="1"/>
          <p:nvPr/>
        </p:nvSpPr>
        <p:spPr>
          <a:xfrm>
            <a:off x="219303" y="2495922"/>
            <a:ext cx="1186543" cy="338554"/>
          </a:xfrm>
          <a:prstGeom prst="rect">
            <a:avLst/>
          </a:prstGeom>
          <a:noFill/>
        </p:spPr>
        <p:txBody>
          <a:bodyPr wrap="none" rtlCol="0">
            <a:spAutoFit/>
          </a:bodyPr>
          <a:lstStyle/>
          <a:p>
            <a:r>
              <a:rPr lang="en-US" sz="1600" dirty="0">
                <a:latin typeface=""/>
              </a:rPr>
              <a:t>Extensions</a:t>
            </a:r>
          </a:p>
        </p:txBody>
      </p:sp>
      <p:sp>
        <p:nvSpPr>
          <p:cNvPr id="15" name="TextBox 14">
            <a:extLst>
              <a:ext uri="{FF2B5EF4-FFF2-40B4-BE49-F238E27FC236}">
                <a16:creationId xmlns:a16="http://schemas.microsoft.com/office/drawing/2014/main" id="{BCC342ED-5D5E-263C-7CE7-D3632CBFCAE0}"/>
              </a:ext>
            </a:extLst>
          </p:cNvPr>
          <p:cNvSpPr txBox="1"/>
          <p:nvPr/>
        </p:nvSpPr>
        <p:spPr>
          <a:xfrm>
            <a:off x="147360" y="1328477"/>
            <a:ext cx="1233493" cy="338554"/>
          </a:xfrm>
          <a:prstGeom prst="rect">
            <a:avLst/>
          </a:prstGeom>
          <a:noFill/>
        </p:spPr>
        <p:txBody>
          <a:bodyPr wrap="square" rtlCol="0">
            <a:spAutoFit/>
          </a:bodyPr>
          <a:lstStyle/>
          <a:p>
            <a:pPr algn="r"/>
            <a:r>
              <a:rPr lang="en-US" sz="1600" dirty="0">
                <a:latin typeface=""/>
              </a:rPr>
              <a:t>Search</a:t>
            </a:r>
          </a:p>
        </p:txBody>
      </p:sp>
      <p:sp>
        <p:nvSpPr>
          <p:cNvPr id="16" name="TextBox 15">
            <a:extLst>
              <a:ext uri="{FF2B5EF4-FFF2-40B4-BE49-F238E27FC236}">
                <a16:creationId xmlns:a16="http://schemas.microsoft.com/office/drawing/2014/main" id="{2C469576-E5FD-5119-F436-140017244604}"/>
              </a:ext>
            </a:extLst>
          </p:cNvPr>
          <p:cNvSpPr txBox="1"/>
          <p:nvPr/>
        </p:nvSpPr>
        <p:spPr>
          <a:xfrm>
            <a:off x="8825011" y="6322413"/>
            <a:ext cx="1540806" cy="338554"/>
          </a:xfrm>
          <a:prstGeom prst="rect">
            <a:avLst/>
          </a:prstGeom>
          <a:noFill/>
        </p:spPr>
        <p:txBody>
          <a:bodyPr wrap="none" rtlCol="0">
            <a:spAutoFit/>
          </a:bodyPr>
          <a:lstStyle/>
          <a:p>
            <a:r>
              <a:rPr lang="en-US" sz="1600" dirty="0">
                <a:latin typeface=""/>
              </a:rPr>
              <a:t>Python version</a:t>
            </a:r>
          </a:p>
        </p:txBody>
      </p:sp>
      <p:sp>
        <p:nvSpPr>
          <p:cNvPr id="17" name="TextBox 16">
            <a:extLst>
              <a:ext uri="{FF2B5EF4-FFF2-40B4-BE49-F238E27FC236}">
                <a16:creationId xmlns:a16="http://schemas.microsoft.com/office/drawing/2014/main" id="{B494054E-FB9F-EBC4-CAFD-BA68C3B4E127}"/>
              </a:ext>
            </a:extLst>
          </p:cNvPr>
          <p:cNvSpPr txBox="1"/>
          <p:nvPr/>
        </p:nvSpPr>
        <p:spPr>
          <a:xfrm>
            <a:off x="55418" y="1082639"/>
            <a:ext cx="1334020" cy="338554"/>
          </a:xfrm>
          <a:prstGeom prst="rect">
            <a:avLst/>
          </a:prstGeom>
          <a:noFill/>
        </p:spPr>
        <p:txBody>
          <a:bodyPr wrap="none" rtlCol="0">
            <a:spAutoFit/>
          </a:bodyPr>
          <a:lstStyle/>
          <a:p>
            <a:r>
              <a:rPr lang="en-US" sz="1600" dirty="0">
                <a:latin typeface=""/>
              </a:rPr>
              <a:t>File Explorer</a:t>
            </a:r>
          </a:p>
        </p:txBody>
      </p:sp>
      <p:pic>
        <p:nvPicPr>
          <p:cNvPr id="3" name="Picture 2">
            <a:extLst>
              <a:ext uri="{FF2B5EF4-FFF2-40B4-BE49-F238E27FC236}">
                <a16:creationId xmlns:a16="http://schemas.microsoft.com/office/drawing/2014/main" id="{FA5AD2FA-C256-3178-435B-6FB37DC31F42}"/>
              </a:ext>
            </a:extLst>
          </p:cNvPr>
          <p:cNvPicPr>
            <a:picLocks noChangeAspect="1"/>
          </p:cNvPicPr>
          <p:nvPr/>
        </p:nvPicPr>
        <p:blipFill>
          <a:blip r:embed="rId4"/>
          <a:srcRect r="29187" b="58493"/>
          <a:stretch>
            <a:fillRect/>
          </a:stretch>
        </p:blipFill>
        <p:spPr>
          <a:xfrm>
            <a:off x="10365817" y="1668644"/>
            <a:ext cx="2250588" cy="827278"/>
          </a:xfrm>
          <a:prstGeom prst="rect">
            <a:avLst/>
          </a:prstGeom>
        </p:spPr>
      </p:pic>
      <p:sp>
        <p:nvSpPr>
          <p:cNvPr id="4" name="TextBox 3">
            <a:extLst>
              <a:ext uri="{FF2B5EF4-FFF2-40B4-BE49-F238E27FC236}">
                <a16:creationId xmlns:a16="http://schemas.microsoft.com/office/drawing/2014/main" id="{D16ECEA7-DC57-6FFA-939B-B72EFAA969E1}"/>
              </a:ext>
            </a:extLst>
          </p:cNvPr>
          <p:cNvSpPr txBox="1"/>
          <p:nvPr/>
        </p:nvSpPr>
        <p:spPr>
          <a:xfrm>
            <a:off x="10502551" y="1282709"/>
            <a:ext cx="1542089" cy="338554"/>
          </a:xfrm>
          <a:prstGeom prst="rect">
            <a:avLst/>
          </a:prstGeom>
          <a:noFill/>
        </p:spPr>
        <p:txBody>
          <a:bodyPr wrap="none" rtlCol="0">
            <a:spAutoFit/>
          </a:bodyPr>
          <a:lstStyle/>
          <a:p>
            <a:r>
              <a:rPr lang="en-US" sz="1600" dirty="0">
                <a:latin typeface=""/>
              </a:rPr>
              <a:t>Terminal (Mac)</a:t>
            </a:r>
          </a:p>
        </p:txBody>
      </p:sp>
      <p:pic>
        <p:nvPicPr>
          <p:cNvPr id="1026" name="Picture 2" descr="10 Ways to Open the Command Prompt in Windows 10">
            <a:extLst>
              <a:ext uri="{FF2B5EF4-FFF2-40B4-BE49-F238E27FC236}">
                <a16:creationId xmlns:a16="http://schemas.microsoft.com/office/drawing/2014/main" id="{B7FBF786-BAD9-CE33-8D66-E52A1FD469B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4884" t="31705"/>
          <a:stretch>
            <a:fillRect/>
          </a:stretch>
        </p:blipFill>
        <p:spPr bwMode="auto">
          <a:xfrm>
            <a:off x="10369144" y="3428784"/>
            <a:ext cx="2026482" cy="10363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F91C341-48CE-53F2-D130-9FEF919C2ED5}"/>
              </a:ext>
            </a:extLst>
          </p:cNvPr>
          <p:cNvSpPr txBox="1"/>
          <p:nvPr/>
        </p:nvSpPr>
        <p:spPr>
          <a:xfrm>
            <a:off x="10322818" y="2589301"/>
            <a:ext cx="1907895" cy="830997"/>
          </a:xfrm>
          <a:prstGeom prst="rect">
            <a:avLst/>
          </a:prstGeom>
          <a:noFill/>
        </p:spPr>
        <p:txBody>
          <a:bodyPr wrap="none" rtlCol="0">
            <a:spAutoFit/>
          </a:bodyPr>
          <a:lstStyle/>
          <a:p>
            <a:r>
              <a:rPr lang="en-US" sz="1600" dirty="0">
                <a:latin typeface=""/>
              </a:rPr>
              <a:t>Command Prompt/</a:t>
            </a:r>
          </a:p>
          <a:p>
            <a:r>
              <a:rPr lang="en-US" sz="1600" dirty="0">
                <a:latin typeface=""/>
              </a:rPr>
              <a:t>Anaconda Prompt</a:t>
            </a:r>
            <a:br>
              <a:rPr lang="en-US" sz="1600" dirty="0">
                <a:latin typeface=""/>
              </a:rPr>
            </a:br>
            <a:r>
              <a:rPr lang="en-US" sz="1600" dirty="0">
                <a:latin typeface=""/>
              </a:rPr>
              <a:t>(Windows)</a:t>
            </a:r>
          </a:p>
        </p:txBody>
      </p:sp>
      <p:pic>
        <p:nvPicPr>
          <p:cNvPr id="18" name="Picture 17">
            <a:extLst>
              <a:ext uri="{FF2B5EF4-FFF2-40B4-BE49-F238E27FC236}">
                <a16:creationId xmlns:a16="http://schemas.microsoft.com/office/drawing/2014/main" id="{A10FD761-B954-C971-3576-E5120236EE55}"/>
              </a:ext>
            </a:extLst>
          </p:cNvPr>
          <p:cNvPicPr>
            <a:picLocks noChangeAspect="1"/>
          </p:cNvPicPr>
          <p:nvPr/>
        </p:nvPicPr>
        <p:blipFill>
          <a:blip r:embed="rId6"/>
          <a:stretch>
            <a:fillRect/>
          </a:stretch>
        </p:blipFill>
        <p:spPr>
          <a:xfrm>
            <a:off x="2801997" y="1642318"/>
            <a:ext cx="1169934" cy="1169934"/>
          </a:xfrm>
          <a:prstGeom prst="rect">
            <a:avLst/>
          </a:prstGeom>
        </p:spPr>
      </p:pic>
      <p:pic>
        <p:nvPicPr>
          <p:cNvPr id="20" name="Picture 19">
            <a:extLst>
              <a:ext uri="{FF2B5EF4-FFF2-40B4-BE49-F238E27FC236}">
                <a16:creationId xmlns:a16="http://schemas.microsoft.com/office/drawing/2014/main" id="{42B89414-9E5F-E7C7-7888-23CFD00125DD}"/>
              </a:ext>
            </a:extLst>
          </p:cNvPr>
          <p:cNvPicPr>
            <a:picLocks noChangeAspect="1"/>
          </p:cNvPicPr>
          <p:nvPr/>
        </p:nvPicPr>
        <p:blipFill>
          <a:blip r:embed="rId7"/>
          <a:stretch>
            <a:fillRect/>
          </a:stretch>
        </p:blipFill>
        <p:spPr>
          <a:xfrm>
            <a:off x="7157545" y="1366386"/>
            <a:ext cx="1112111" cy="1251974"/>
          </a:xfrm>
          <a:prstGeom prst="rect">
            <a:avLst/>
          </a:prstGeom>
        </p:spPr>
      </p:pic>
      <p:pic>
        <p:nvPicPr>
          <p:cNvPr id="23" name="Picture 22">
            <a:extLst>
              <a:ext uri="{FF2B5EF4-FFF2-40B4-BE49-F238E27FC236}">
                <a16:creationId xmlns:a16="http://schemas.microsoft.com/office/drawing/2014/main" id="{10D94B8D-BD83-E5B2-3EE8-EB9488CE5D8F}"/>
              </a:ext>
            </a:extLst>
          </p:cNvPr>
          <p:cNvPicPr>
            <a:picLocks noChangeAspect="1"/>
          </p:cNvPicPr>
          <p:nvPr/>
        </p:nvPicPr>
        <p:blipFill>
          <a:blip r:embed="rId8"/>
          <a:stretch>
            <a:fillRect/>
          </a:stretch>
        </p:blipFill>
        <p:spPr>
          <a:xfrm>
            <a:off x="3538191" y="1269027"/>
            <a:ext cx="713207" cy="214542"/>
          </a:xfrm>
          <a:prstGeom prst="rect">
            <a:avLst/>
          </a:prstGeom>
        </p:spPr>
      </p:pic>
      <p:grpSp>
        <p:nvGrpSpPr>
          <p:cNvPr id="55" name="Group 54">
            <a:extLst>
              <a:ext uri="{FF2B5EF4-FFF2-40B4-BE49-F238E27FC236}">
                <a16:creationId xmlns:a16="http://schemas.microsoft.com/office/drawing/2014/main" id="{2507A873-DF7F-3126-AB4E-5F7C1025587B}"/>
              </a:ext>
            </a:extLst>
          </p:cNvPr>
          <p:cNvGrpSpPr/>
          <p:nvPr/>
        </p:nvGrpSpPr>
        <p:grpSpPr>
          <a:xfrm>
            <a:off x="2321252" y="340853"/>
            <a:ext cx="3336170" cy="987625"/>
            <a:chOff x="2616408" y="507108"/>
            <a:chExt cx="3336170" cy="987625"/>
          </a:xfrm>
        </p:grpSpPr>
        <p:sp>
          <p:nvSpPr>
            <p:cNvPr id="24" name="TextBox 23">
              <a:extLst>
                <a:ext uri="{FF2B5EF4-FFF2-40B4-BE49-F238E27FC236}">
                  <a16:creationId xmlns:a16="http://schemas.microsoft.com/office/drawing/2014/main" id="{CF8BD458-0653-A0F5-2C50-C0A9C2014DEC}"/>
                </a:ext>
              </a:extLst>
            </p:cNvPr>
            <p:cNvSpPr txBox="1"/>
            <p:nvPr/>
          </p:nvSpPr>
          <p:spPr>
            <a:xfrm>
              <a:off x="2616408" y="507108"/>
              <a:ext cx="3336170" cy="261610"/>
            </a:xfrm>
            <a:prstGeom prst="rect">
              <a:avLst/>
            </a:prstGeom>
            <a:noFill/>
          </p:spPr>
          <p:txBody>
            <a:bodyPr wrap="none" rtlCol="0">
              <a:spAutoFit/>
            </a:bodyPr>
            <a:lstStyle/>
            <a:p>
              <a:r>
                <a:rPr lang="en-US" sz="1100" dirty="0">
                  <a:solidFill>
                    <a:srgbClr val="C00000"/>
                  </a:solidFill>
                  <a:latin typeface=""/>
                </a:rPr>
                <a:t>Add a file </a:t>
              </a:r>
              <a:r>
                <a:rPr lang="en-US" sz="1100" dirty="0">
                  <a:solidFill>
                    <a:schemeClr val="accent2"/>
                  </a:solidFill>
                  <a:latin typeface=""/>
                </a:rPr>
                <a:t>Add a folder </a:t>
              </a:r>
              <a:r>
                <a:rPr lang="en-US" sz="1100" dirty="0">
                  <a:solidFill>
                    <a:schemeClr val="accent6"/>
                  </a:solidFill>
                  <a:latin typeface=""/>
                </a:rPr>
                <a:t>Refresh</a:t>
              </a:r>
              <a:r>
                <a:rPr lang="en-US" sz="1100" dirty="0">
                  <a:latin typeface=""/>
                </a:rPr>
                <a:t> </a:t>
              </a:r>
              <a:r>
                <a:rPr lang="en-US" sz="1100" dirty="0">
                  <a:solidFill>
                    <a:schemeClr val="accent1"/>
                  </a:solidFill>
                  <a:latin typeface=""/>
                </a:rPr>
                <a:t>Collapse all folders</a:t>
              </a:r>
            </a:p>
          </p:txBody>
        </p:sp>
        <p:cxnSp>
          <p:nvCxnSpPr>
            <p:cNvPr id="26" name="Elbow Connector 25">
              <a:extLst>
                <a:ext uri="{FF2B5EF4-FFF2-40B4-BE49-F238E27FC236}">
                  <a16:creationId xmlns:a16="http://schemas.microsoft.com/office/drawing/2014/main" id="{D3549E4D-D465-58BB-A15D-8DF4ACACF1B6}"/>
                </a:ext>
              </a:extLst>
            </p:cNvPr>
            <p:cNvCxnSpPr>
              <a:cxnSpLocks/>
            </p:cNvCxnSpPr>
            <p:nvPr/>
          </p:nvCxnSpPr>
          <p:spPr>
            <a:xfrm rot="16200000" flipH="1">
              <a:off x="3195559" y="758053"/>
              <a:ext cx="735276" cy="678632"/>
            </a:xfrm>
            <a:prstGeom prst="bentConnector3">
              <a:avLst>
                <a:gd name="adj1" fmla="val 50000"/>
              </a:avLst>
            </a:prstGeom>
            <a:ln w="12700">
              <a:solidFill>
                <a:srgbClr val="C00000"/>
              </a:solidFill>
            </a:ln>
          </p:spPr>
          <p:style>
            <a:lnRef idx="1">
              <a:schemeClr val="dk1"/>
            </a:lnRef>
            <a:fillRef idx="0">
              <a:schemeClr val="dk1"/>
            </a:fillRef>
            <a:effectRef idx="0">
              <a:schemeClr val="dk1"/>
            </a:effectRef>
            <a:fontRef idx="minor">
              <a:schemeClr val="tx1"/>
            </a:fontRef>
          </p:style>
        </p:cxnSp>
        <p:cxnSp>
          <p:nvCxnSpPr>
            <p:cNvPr id="28" name="Elbow Connector 27">
              <a:extLst>
                <a:ext uri="{FF2B5EF4-FFF2-40B4-BE49-F238E27FC236}">
                  <a16:creationId xmlns:a16="http://schemas.microsoft.com/office/drawing/2014/main" id="{B606756A-4231-D5D0-E92F-6CAD53C88954}"/>
                </a:ext>
              </a:extLst>
            </p:cNvPr>
            <p:cNvCxnSpPr>
              <a:cxnSpLocks/>
            </p:cNvCxnSpPr>
            <p:nvPr/>
          </p:nvCxnSpPr>
          <p:spPr>
            <a:xfrm rot="16200000" flipH="1">
              <a:off x="3361690" y="814939"/>
              <a:ext cx="794725" cy="564860"/>
            </a:xfrm>
            <a:prstGeom prst="bentConnector3">
              <a:avLst>
                <a:gd name="adj1" fmla="val 32481"/>
              </a:avLst>
            </a:prstGeom>
            <a:ln w="12700">
              <a:solidFill>
                <a:schemeClr val="accent2"/>
              </a:solidFill>
            </a:ln>
          </p:spPr>
          <p:style>
            <a:lnRef idx="1">
              <a:schemeClr val="dk1"/>
            </a:lnRef>
            <a:fillRef idx="0">
              <a:schemeClr val="dk1"/>
            </a:fillRef>
            <a:effectRef idx="0">
              <a:schemeClr val="dk1"/>
            </a:effectRef>
            <a:fontRef idx="minor">
              <a:schemeClr val="tx1"/>
            </a:fontRef>
          </p:style>
        </p:cxnSp>
        <p:cxnSp>
          <p:nvCxnSpPr>
            <p:cNvPr id="29" name="Elbow Connector 28">
              <a:extLst>
                <a:ext uri="{FF2B5EF4-FFF2-40B4-BE49-F238E27FC236}">
                  <a16:creationId xmlns:a16="http://schemas.microsoft.com/office/drawing/2014/main" id="{2E8E4416-8049-0BD2-B8B3-C4F417017D46}"/>
                </a:ext>
              </a:extLst>
            </p:cNvPr>
            <p:cNvCxnSpPr>
              <a:cxnSpLocks/>
            </p:cNvCxnSpPr>
            <p:nvPr/>
          </p:nvCxnSpPr>
          <p:spPr>
            <a:xfrm rot="5400000">
              <a:off x="3935988" y="1048512"/>
              <a:ext cx="794727" cy="97716"/>
            </a:xfrm>
            <a:prstGeom prst="bentConnector3">
              <a:avLst>
                <a:gd name="adj1" fmla="val 50000"/>
              </a:avLst>
            </a:prstGeom>
            <a:ln w="12700">
              <a:solidFill>
                <a:schemeClr val="accent6"/>
              </a:solidFill>
            </a:ln>
          </p:spPr>
          <p:style>
            <a:lnRef idx="1">
              <a:schemeClr val="dk1"/>
            </a:lnRef>
            <a:fillRef idx="0">
              <a:schemeClr val="dk1"/>
            </a:fillRef>
            <a:effectRef idx="0">
              <a:schemeClr val="dk1"/>
            </a:effectRef>
            <a:fontRef idx="minor">
              <a:schemeClr val="tx1"/>
            </a:fontRef>
          </p:style>
        </p:cxnSp>
        <p:cxnSp>
          <p:nvCxnSpPr>
            <p:cNvPr id="30" name="Elbow Connector 29">
              <a:extLst>
                <a:ext uri="{FF2B5EF4-FFF2-40B4-BE49-F238E27FC236}">
                  <a16:creationId xmlns:a16="http://schemas.microsoft.com/office/drawing/2014/main" id="{FD8562A3-18FF-7346-7162-D998469FDE28}"/>
                </a:ext>
              </a:extLst>
            </p:cNvPr>
            <p:cNvCxnSpPr>
              <a:cxnSpLocks/>
            </p:cNvCxnSpPr>
            <p:nvPr/>
          </p:nvCxnSpPr>
          <p:spPr>
            <a:xfrm rot="5400000">
              <a:off x="4282005" y="875432"/>
              <a:ext cx="794727" cy="443876"/>
            </a:xfrm>
            <a:prstGeom prst="bentConnector3">
              <a:avLst>
                <a:gd name="adj1" fmla="val 60417"/>
              </a:avLst>
            </a:prstGeom>
            <a:ln w="12700">
              <a:solidFill>
                <a:schemeClr val="accent1"/>
              </a:solidFill>
            </a:ln>
          </p:spPr>
          <p:style>
            <a:lnRef idx="1">
              <a:schemeClr val="dk1"/>
            </a:lnRef>
            <a:fillRef idx="0">
              <a:schemeClr val="dk1"/>
            </a:fillRef>
            <a:effectRef idx="0">
              <a:schemeClr val="dk1"/>
            </a:effectRef>
            <a:fontRef idx="minor">
              <a:schemeClr val="tx1"/>
            </a:fontRef>
          </p:style>
        </p:cxnSp>
      </p:grpSp>
      <p:sp>
        <p:nvSpPr>
          <p:cNvPr id="12" name="Slide Number Placeholder 11">
            <a:extLst>
              <a:ext uri="{FF2B5EF4-FFF2-40B4-BE49-F238E27FC236}">
                <a16:creationId xmlns:a16="http://schemas.microsoft.com/office/drawing/2014/main" id="{3AABC628-E48E-71A5-A28C-B584AE3BE153}"/>
              </a:ext>
            </a:extLst>
          </p:cNvPr>
          <p:cNvSpPr>
            <a:spLocks noGrp="1"/>
          </p:cNvSpPr>
          <p:nvPr>
            <p:ph type="sldNum" sz="quarter" idx="12"/>
          </p:nvPr>
        </p:nvSpPr>
        <p:spPr>
          <a:xfrm>
            <a:off x="9279038" y="6371719"/>
            <a:ext cx="2743200" cy="365125"/>
          </a:xfrm>
        </p:spPr>
        <p:txBody>
          <a:bodyPr/>
          <a:lstStyle/>
          <a:p>
            <a:fld id="{0D9DF20D-7D64-DD4E-93FD-71BB03726D71}" type="slidenum">
              <a:rPr lang="en-US" smtClean="0"/>
              <a:t>16</a:t>
            </a:fld>
            <a:endParaRPr lang="en-US"/>
          </a:p>
        </p:txBody>
      </p:sp>
    </p:spTree>
    <p:extLst>
      <p:ext uri="{BB962C8B-B14F-4D97-AF65-F5344CB8AC3E}">
        <p14:creationId xmlns:p14="http://schemas.microsoft.com/office/powerpoint/2010/main" val="213665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5" grpId="0"/>
      <p:bldP spid="7" grpId="0"/>
      <p:bldP spid="13" grpId="0"/>
      <p:bldP spid="14" grpId="0"/>
      <p:bldP spid="15" grpId="0"/>
      <p:bldP spid="17" grpId="0"/>
      <p:bldP spid="4"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3EFD-B04A-73F8-8AC2-71C055839EF1}"/>
              </a:ext>
            </a:extLst>
          </p:cNvPr>
          <p:cNvSpPr>
            <a:spLocks noGrp="1"/>
          </p:cNvSpPr>
          <p:nvPr>
            <p:ph type="title"/>
          </p:nvPr>
        </p:nvSpPr>
        <p:spPr/>
        <p:txBody>
          <a:bodyPr/>
          <a:lstStyle/>
          <a:p>
            <a:r>
              <a:rPr lang="en-US" dirty="0"/>
              <a:t>Let’s practice!</a:t>
            </a:r>
          </a:p>
        </p:txBody>
      </p:sp>
      <p:sp>
        <p:nvSpPr>
          <p:cNvPr id="3" name="Text Placeholder 2">
            <a:extLst>
              <a:ext uri="{FF2B5EF4-FFF2-40B4-BE49-F238E27FC236}">
                <a16:creationId xmlns:a16="http://schemas.microsoft.com/office/drawing/2014/main" id="{9BF01DE4-0718-9909-92CF-EEF3958BAB23}"/>
              </a:ext>
            </a:extLst>
          </p:cNvPr>
          <p:cNvSpPr>
            <a:spLocks noGrp="1"/>
          </p:cNvSpPr>
          <p:nvPr>
            <p:ph type="body" idx="1"/>
          </p:nvPr>
        </p:nvSpPr>
        <p:spPr>
          <a:xfrm>
            <a:off x="3113567" y="3727048"/>
            <a:ext cx="5964866" cy="1977633"/>
          </a:xfrm>
        </p:spPr>
        <p:txBody>
          <a:bodyPr>
            <a:normAutofit fontScale="85000" lnSpcReduction="20000"/>
          </a:bodyPr>
          <a:lstStyle/>
          <a:p>
            <a:r>
              <a:rPr lang="en-US" dirty="0"/>
              <a:t>Open the </a:t>
            </a:r>
            <a:r>
              <a:rPr lang="en-US" dirty="0">
                <a:solidFill>
                  <a:schemeClr val="accent6"/>
                </a:solidFill>
              </a:rPr>
              <a:t>folder</a:t>
            </a:r>
            <a:r>
              <a:rPr lang="en-US" dirty="0"/>
              <a:t> for this class in VS code. </a:t>
            </a:r>
          </a:p>
          <a:p>
            <a:r>
              <a:rPr lang="en-US" dirty="0"/>
              <a:t>Add </a:t>
            </a:r>
            <a:r>
              <a:rPr lang="en-US" dirty="0">
                <a:solidFill>
                  <a:schemeClr val="accent6"/>
                </a:solidFill>
              </a:rPr>
              <a:t>lab0_blank_python.ipynb </a:t>
            </a:r>
            <a:r>
              <a:rPr lang="en-US" dirty="0"/>
              <a:t>from canvas into this folder and </a:t>
            </a:r>
            <a:r>
              <a:rPr lang="en-US" dirty="0">
                <a:solidFill>
                  <a:schemeClr val="accent6"/>
                </a:solidFill>
              </a:rPr>
              <a:t>open</a:t>
            </a:r>
            <a:r>
              <a:rPr lang="en-US" dirty="0"/>
              <a:t> it in VS code. </a:t>
            </a:r>
          </a:p>
          <a:p>
            <a:r>
              <a:rPr lang="en-US" dirty="0"/>
              <a:t>Go to the </a:t>
            </a:r>
            <a:r>
              <a:rPr lang="en-US" dirty="0">
                <a:solidFill>
                  <a:schemeClr val="accent6"/>
                </a:solidFill>
              </a:rPr>
              <a:t>extensions</a:t>
            </a:r>
            <a:r>
              <a:rPr lang="en-US" dirty="0"/>
              <a:t> marketplace and download </a:t>
            </a:r>
            <a:r>
              <a:rPr lang="en-US" dirty="0">
                <a:solidFill>
                  <a:schemeClr val="accent6"/>
                </a:solidFill>
              </a:rPr>
              <a:t>Python</a:t>
            </a:r>
            <a:r>
              <a:rPr lang="en-US" dirty="0"/>
              <a:t> &amp; </a:t>
            </a:r>
            <a:r>
              <a:rPr lang="en-US" dirty="0" err="1">
                <a:solidFill>
                  <a:schemeClr val="accent6"/>
                </a:solidFill>
              </a:rPr>
              <a:t>Jupyter</a:t>
            </a:r>
            <a:r>
              <a:rPr lang="en-US" dirty="0">
                <a:solidFill>
                  <a:schemeClr val="accent6"/>
                </a:solidFill>
              </a:rPr>
              <a:t>.</a:t>
            </a:r>
          </a:p>
          <a:p>
            <a:r>
              <a:rPr lang="en-US" dirty="0"/>
              <a:t>Stand your name card up on its edge when you are done. Raise your hand for help! </a:t>
            </a:r>
          </a:p>
        </p:txBody>
      </p:sp>
      <p:sp>
        <p:nvSpPr>
          <p:cNvPr id="4" name="TextBox 3">
            <a:extLst>
              <a:ext uri="{FF2B5EF4-FFF2-40B4-BE49-F238E27FC236}">
                <a16:creationId xmlns:a16="http://schemas.microsoft.com/office/drawing/2014/main" id="{A8FE9015-2383-028B-281D-33E39345A37F}"/>
              </a:ext>
            </a:extLst>
          </p:cNvPr>
          <p:cNvSpPr txBox="1"/>
          <p:nvPr/>
        </p:nvSpPr>
        <p:spPr>
          <a:xfrm>
            <a:off x="0" y="6265776"/>
            <a:ext cx="4259943" cy="523220"/>
          </a:xfrm>
          <a:prstGeom prst="rect">
            <a:avLst/>
          </a:prstGeom>
          <a:noFill/>
        </p:spPr>
        <p:txBody>
          <a:bodyPr wrap="square" rtlCol="0">
            <a:spAutoFit/>
          </a:bodyPr>
          <a:lstStyle/>
          <a:p>
            <a:r>
              <a:rPr lang="en-US" sz="1400" dirty="0">
                <a:latin typeface="Roboto" panose="02000000000000000000" pitchFamily="2" charset="0"/>
                <a:ea typeface="Roboto" panose="02000000000000000000" pitchFamily="2" charset="0"/>
                <a:cs typeface="Roboto" panose="02000000000000000000" pitchFamily="2" charset="0"/>
              </a:rPr>
              <a:t>Tip: File &gt; New Window will open a new window with the welcome page again</a:t>
            </a:r>
          </a:p>
        </p:txBody>
      </p:sp>
      <p:sp>
        <p:nvSpPr>
          <p:cNvPr id="5" name="Slide Number Placeholder 4">
            <a:extLst>
              <a:ext uri="{FF2B5EF4-FFF2-40B4-BE49-F238E27FC236}">
                <a16:creationId xmlns:a16="http://schemas.microsoft.com/office/drawing/2014/main" id="{EFB2284F-BD47-475C-0E0D-C08339444CC3}"/>
              </a:ext>
            </a:extLst>
          </p:cNvPr>
          <p:cNvSpPr>
            <a:spLocks noGrp="1"/>
          </p:cNvSpPr>
          <p:nvPr>
            <p:ph type="sldNum" sz="quarter" idx="12"/>
          </p:nvPr>
        </p:nvSpPr>
        <p:spPr/>
        <p:txBody>
          <a:bodyPr/>
          <a:lstStyle/>
          <a:p>
            <a:fld id="{0D9DF20D-7D64-DD4E-93FD-71BB03726D71}" type="slidenum">
              <a:rPr lang="en-US" smtClean="0"/>
              <a:pPr/>
              <a:t>17</a:t>
            </a:fld>
            <a:endParaRPr lang="en-US"/>
          </a:p>
        </p:txBody>
      </p:sp>
    </p:spTree>
    <p:extLst>
      <p:ext uri="{BB962C8B-B14F-4D97-AF65-F5344CB8AC3E}">
        <p14:creationId xmlns:p14="http://schemas.microsoft.com/office/powerpoint/2010/main" val="276894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EEE40-BB36-FCE3-54B8-4F5CF47AE0E2}"/>
              </a:ext>
            </a:extLst>
          </p:cNvPr>
          <p:cNvSpPr>
            <a:spLocks noGrp="1"/>
          </p:cNvSpPr>
          <p:nvPr>
            <p:ph type="sldNum" sz="quarter" idx="12"/>
          </p:nvPr>
        </p:nvSpPr>
        <p:spPr/>
        <p:txBody>
          <a:bodyPr/>
          <a:lstStyle/>
          <a:p>
            <a:fld id="{0D9DF20D-7D64-DD4E-93FD-71BB03726D71}" type="slidenum">
              <a:rPr lang="en-US" smtClean="0"/>
              <a:pPr/>
              <a:t>18</a:t>
            </a:fld>
            <a:endParaRPr lang="en-US"/>
          </a:p>
        </p:txBody>
      </p:sp>
      <p:pic>
        <p:nvPicPr>
          <p:cNvPr id="7" name="Picture 6">
            <a:extLst>
              <a:ext uri="{FF2B5EF4-FFF2-40B4-BE49-F238E27FC236}">
                <a16:creationId xmlns:a16="http://schemas.microsoft.com/office/drawing/2014/main" id="{809393E1-63BE-7EB8-5983-27291EBE12D9}"/>
              </a:ext>
            </a:extLst>
          </p:cNvPr>
          <p:cNvPicPr>
            <a:picLocks noChangeAspect="1"/>
          </p:cNvPicPr>
          <p:nvPr/>
        </p:nvPicPr>
        <p:blipFill>
          <a:blip r:embed="rId2"/>
          <a:stretch>
            <a:fillRect/>
          </a:stretch>
        </p:blipFill>
        <p:spPr>
          <a:xfrm>
            <a:off x="4288172" y="743673"/>
            <a:ext cx="3049045" cy="5370653"/>
          </a:xfrm>
          <a:prstGeom prst="rect">
            <a:avLst/>
          </a:prstGeom>
        </p:spPr>
      </p:pic>
      <p:sp>
        <p:nvSpPr>
          <p:cNvPr id="8" name="TextBox 7">
            <a:extLst>
              <a:ext uri="{FF2B5EF4-FFF2-40B4-BE49-F238E27FC236}">
                <a16:creationId xmlns:a16="http://schemas.microsoft.com/office/drawing/2014/main" id="{CFAF31EC-2C06-C3E0-F7EF-5795587B51A3}"/>
              </a:ext>
            </a:extLst>
          </p:cNvPr>
          <p:cNvSpPr txBox="1"/>
          <p:nvPr/>
        </p:nvSpPr>
        <p:spPr>
          <a:xfrm>
            <a:off x="4534940" y="374341"/>
            <a:ext cx="2555508" cy="369332"/>
          </a:xfrm>
          <a:prstGeom prst="rect">
            <a:avLst/>
          </a:prstGeom>
          <a:noFill/>
        </p:spPr>
        <p:txBody>
          <a:bodyPr wrap="none" rtlCol="0">
            <a:spAutoFit/>
          </a:bodyPr>
          <a:lstStyle/>
          <a:p>
            <a:r>
              <a:rPr lang="en-US" dirty="0"/>
              <a:t>A positive feedback loop!</a:t>
            </a:r>
          </a:p>
        </p:txBody>
      </p:sp>
      <p:sp>
        <p:nvSpPr>
          <p:cNvPr id="9" name="TextBox 8">
            <a:extLst>
              <a:ext uri="{FF2B5EF4-FFF2-40B4-BE49-F238E27FC236}">
                <a16:creationId xmlns:a16="http://schemas.microsoft.com/office/drawing/2014/main" id="{74991FA6-ACC3-7427-E854-692A5A002D38}"/>
              </a:ext>
            </a:extLst>
          </p:cNvPr>
          <p:cNvSpPr txBox="1"/>
          <p:nvPr/>
        </p:nvSpPr>
        <p:spPr>
          <a:xfrm>
            <a:off x="0" y="6550223"/>
            <a:ext cx="1596847" cy="276999"/>
          </a:xfrm>
          <a:prstGeom prst="rect">
            <a:avLst/>
          </a:prstGeom>
          <a:noFill/>
        </p:spPr>
        <p:txBody>
          <a:bodyPr wrap="none" rtlCol="0">
            <a:spAutoFit/>
          </a:bodyPr>
          <a:lstStyle/>
          <a:p>
            <a:r>
              <a:rPr lang="en-US" sz="1200" dirty="0"/>
              <a:t>Adapted from Uri Alon</a:t>
            </a:r>
          </a:p>
        </p:txBody>
      </p:sp>
    </p:spTree>
    <p:extLst>
      <p:ext uri="{BB962C8B-B14F-4D97-AF65-F5344CB8AC3E}">
        <p14:creationId xmlns:p14="http://schemas.microsoft.com/office/powerpoint/2010/main" val="3912009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164CCDA-5F83-A978-F5D8-886DAD7C50BA}"/>
              </a:ext>
            </a:extLst>
          </p:cNvPr>
          <p:cNvPicPr>
            <a:picLocks noChangeAspect="1"/>
          </p:cNvPicPr>
          <p:nvPr/>
        </p:nvPicPr>
        <p:blipFill>
          <a:blip r:embed="rId3">
            <a:duotone>
              <a:schemeClr val="accent2">
                <a:shade val="45000"/>
                <a:satMod val="135000"/>
              </a:schemeClr>
              <a:prstClr val="white"/>
            </a:duotone>
          </a:blip>
          <a:stretch>
            <a:fillRect/>
          </a:stretch>
        </p:blipFill>
        <p:spPr>
          <a:xfrm>
            <a:off x="7659507" y="4649685"/>
            <a:ext cx="1652016" cy="1652016"/>
          </a:xfrm>
          <a:prstGeom prst="rect">
            <a:avLst/>
          </a:prstGeom>
        </p:spPr>
      </p:pic>
      <p:pic>
        <p:nvPicPr>
          <p:cNvPr id="22" name="Picture 21">
            <a:extLst>
              <a:ext uri="{FF2B5EF4-FFF2-40B4-BE49-F238E27FC236}">
                <a16:creationId xmlns:a16="http://schemas.microsoft.com/office/drawing/2014/main" id="{BFEBDAC3-FD99-5DE9-1E36-ECA90279F025}"/>
              </a:ext>
            </a:extLst>
          </p:cNvPr>
          <p:cNvPicPr>
            <a:picLocks noChangeAspect="1"/>
          </p:cNvPicPr>
          <p:nvPr/>
        </p:nvPicPr>
        <p:blipFill>
          <a:blip r:embed="rId3">
            <a:duotone>
              <a:schemeClr val="accent1">
                <a:shade val="45000"/>
                <a:satMod val="135000"/>
              </a:schemeClr>
              <a:prstClr val="white"/>
            </a:duotone>
          </a:blip>
          <a:stretch>
            <a:fillRect/>
          </a:stretch>
        </p:blipFill>
        <p:spPr>
          <a:xfrm>
            <a:off x="5441278" y="4649685"/>
            <a:ext cx="1652016" cy="1652016"/>
          </a:xfrm>
          <a:prstGeom prst="rect">
            <a:avLst/>
          </a:prstGeom>
        </p:spPr>
      </p:pic>
      <p:pic>
        <p:nvPicPr>
          <p:cNvPr id="23" name="Picture 22">
            <a:extLst>
              <a:ext uri="{FF2B5EF4-FFF2-40B4-BE49-F238E27FC236}">
                <a16:creationId xmlns:a16="http://schemas.microsoft.com/office/drawing/2014/main" id="{ED62512A-8A7C-8392-D838-078C3C141E84}"/>
              </a:ext>
            </a:extLst>
          </p:cNvPr>
          <p:cNvPicPr>
            <a:picLocks noChangeAspect="1"/>
          </p:cNvPicPr>
          <p:nvPr/>
        </p:nvPicPr>
        <p:blipFill>
          <a:blip r:embed="rId3">
            <a:duotone>
              <a:schemeClr val="accent6">
                <a:shade val="45000"/>
                <a:satMod val="135000"/>
              </a:schemeClr>
              <a:prstClr val="white"/>
            </a:duotone>
            <a:alphaModFix amt="25000"/>
          </a:blip>
          <a:stretch>
            <a:fillRect/>
          </a:stretch>
        </p:blipFill>
        <p:spPr>
          <a:xfrm>
            <a:off x="9877736" y="4649685"/>
            <a:ext cx="1652016" cy="1652016"/>
          </a:xfrm>
          <a:prstGeom prst="rect">
            <a:avLst/>
          </a:prstGeom>
        </p:spPr>
      </p:pic>
      <p:sp>
        <p:nvSpPr>
          <p:cNvPr id="2" name="Title 1">
            <a:extLst>
              <a:ext uri="{FF2B5EF4-FFF2-40B4-BE49-F238E27FC236}">
                <a16:creationId xmlns:a16="http://schemas.microsoft.com/office/drawing/2014/main" id="{CE6AE1FE-5511-9577-4B6A-CB4117EF6238}"/>
              </a:ext>
            </a:extLst>
          </p:cNvPr>
          <p:cNvSpPr>
            <a:spLocks noGrp="1"/>
          </p:cNvSpPr>
          <p:nvPr>
            <p:ph type="title"/>
          </p:nvPr>
        </p:nvSpPr>
        <p:spPr>
          <a:xfrm>
            <a:off x="259982" y="2156565"/>
            <a:ext cx="4398810" cy="2872635"/>
          </a:xfrm>
        </p:spPr>
        <p:txBody>
          <a:bodyPr>
            <a:normAutofit/>
          </a:bodyPr>
          <a:lstStyle/>
          <a:p>
            <a:r>
              <a:rPr lang="en-US" sz="3200" dirty="0">
                <a:solidFill>
                  <a:schemeClr val="accent6"/>
                </a:solidFill>
              </a:rPr>
              <a:t>Anaconda</a:t>
            </a:r>
            <a:r>
              <a:rPr lang="en-US" sz="3200" dirty="0">
                <a:solidFill>
                  <a:schemeClr val="tx2"/>
                </a:solidFill>
              </a:rPr>
              <a:t>:</a:t>
            </a:r>
            <a:br>
              <a:rPr lang="en-US" sz="3200" dirty="0">
                <a:solidFill>
                  <a:schemeClr val="tx2"/>
                </a:solidFill>
              </a:rPr>
            </a:br>
            <a:r>
              <a:rPr lang="en-US" sz="3200" dirty="0">
                <a:solidFill>
                  <a:schemeClr val="tx2"/>
                </a:solidFill>
              </a:rPr>
              <a:t>The supplier &amp; pantry </a:t>
            </a:r>
            <a:br>
              <a:rPr lang="en-US" sz="3200" dirty="0">
                <a:solidFill>
                  <a:schemeClr val="tx2"/>
                </a:solidFill>
              </a:rPr>
            </a:br>
            <a:r>
              <a:rPr lang="en-US" sz="3200" dirty="0" err="1">
                <a:solidFill>
                  <a:schemeClr val="accent6"/>
                </a:solidFill>
              </a:rPr>
              <a:t>Conda</a:t>
            </a:r>
            <a:r>
              <a:rPr lang="en-US" sz="3200" dirty="0">
                <a:solidFill>
                  <a:schemeClr val="accent6"/>
                </a:solidFill>
              </a:rPr>
              <a:t> environments</a:t>
            </a:r>
            <a:r>
              <a:rPr lang="en-US" sz="3200" dirty="0">
                <a:solidFill>
                  <a:schemeClr val="tx2"/>
                </a:solidFill>
              </a:rPr>
              <a:t>: </a:t>
            </a:r>
            <a:br>
              <a:rPr lang="en-US" sz="3200" dirty="0">
                <a:solidFill>
                  <a:schemeClr val="tx2"/>
                </a:solidFill>
              </a:rPr>
            </a:br>
            <a:r>
              <a:rPr lang="en-US" sz="3200" dirty="0">
                <a:solidFill>
                  <a:schemeClr val="tx2"/>
                </a:solidFill>
              </a:rPr>
              <a:t>The kitchens</a:t>
            </a:r>
            <a:endParaRPr lang="en-US" sz="3200" dirty="0"/>
          </a:p>
        </p:txBody>
      </p:sp>
      <p:sp>
        <p:nvSpPr>
          <p:cNvPr id="3" name="Content Placeholder 2">
            <a:extLst>
              <a:ext uri="{FF2B5EF4-FFF2-40B4-BE49-F238E27FC236}">
                <a16:creationId xmlns:a16="http://schemas.microsoft.com/office/drawing/2014/main" id="{11E9DF79-A2D0-9097-3877-9A53A98B1424}"/>
              </a:ext>
            </a:extLst>
          </p:cNvPr>
          <p:cNvSpPr>
            <a:spLocks noGrp="1"/>
          </p:cNvSpPr>
          <p:nvPr>
            <p:ph idx="1"/>
          </p:nvPr>
        </p:nvSpPr>
        <p:spPr>
          <a:xfrm>
            <a:off x="5334000" y="375921"/>
            <a:ext cx="6554854" cy="3426364"/>
          </a:xfrm>
        </p:spPr>
        <p:txBody>
          <a:bodyPr>
            <a:noAutofit/>
          </a:bodyPr>
          <a:lstStyle/>
          <a:p>
            <a:r>
              <a:rPr lang="en-US" sz="1800" dirty="0"/>
              <a:t>Anaconda is the supplier that includes Python and scientific libraries</a:t>
            </a:r>
          </a:p>
          <a:p>
            <a:pPr lvl="1"/>
            <a:r>
              <a:rPr lang="en-US" sz="1800" dirty="0"/>
              <a:t>The package manager gives you a stocked pantry</a:t>
            </a:r>
          </a:p>
          <a:p>
            <a:r>
              <a:rPr lang="en-US" sz="1800" dirty="0" err="1"/>
              <a:t>Conda</a:t>
            </a:r>
            <a:r>
              <a:rPr lang="en-US" sz="1800" dirty="0"/>
              <a:t> environments = separate kitchens</a:t>
            </a:r>
          </a:p>
          <a:p>
            <a:pPr lvl="1"/>
            <a:r>
              <a:rPr lang="en-US" sz="1800" dirty="0"/>
              <a:t>The </a:t>
            </a:r>
            <a:r>
              <a:rPr lang="en-US" sz="1800" i="1" dirty="0">
                <a:solidFill>
                  <a:schemeClr val="accent6"/>
                </a:solidFill>
                <a:ea typeface="SF Pro Heavy" pitchFamily="2" charset="0"/>
                <a:cs typeface="SF Pro Heavy" pitchFamily="2" charset="0"/>
              </a:rPr>
              <a:t>base</a:t>
            </a:r>
            <a:r>
              <a:rPr lang="en-US" sz="1800" dirty="0"/>
              <a:t> environment is the </a:t>
            </a:r>
            <a:r>
              <a:rPr lang="en-US" sz="2000" dirty="0"/>
              <a:t>default</a:t>
            </a:r>
            <a:endParaRPr lang="en-US" sz="1800" dirty="0"/>
          </a:p>
          <a:p>
            <a:pPr lvl="1"/>
            <a:r>
              <a:rPr lang="en-US" sz="1800" dirty="0"/>
              <a:t>You can make as many environments as you want. This is useful for organizing projects.</a:t>
            </a:r>
          </a:p>
          <a:p>
            <a:pPr lvl="1"/>
            <a:r>
              <a:rPr lang="en-US" sz="1800" dirty="0"/>
              <a:t>Each kitchen can have different chefs (Python versions) and different pantries</a:t>
            </a:r>
          </a:p>
          <a:p>
            <a:pPr lvl="1"/>
            <a:r>
              <a:rPr lang="en-US" sz="1800" dirty="0"/>
              <a:t>Ensures there are no “ingredient conflicts” </a:t>
            </a:r>
          </a:p>
          <a:p>
            <a:r>
              <a:rPr lang="en-US" sz="1800" dirty="0"/>
              <a:t>VS code works in </a:t>
            </a:r>
            <a:r>
              <a:rPr lang="en-US" sz="1800" b="1" i="1" dirty="0"/>
              <a:t>one kitchen at a time</a:t>
            </a:r>
            <a:endParaRPr lang="en-US" sz="1800" b="1" dirty="0"/>
          </a:p>
          <a:p>
            <a:endParaRPr lang="en-US" sz="1800" dirty="0"/>
          </a:p>
        </p:txBody>
      </p:sp>
      <p:sp>
        <p:nvSpPr>
          <p:cNvPr id="6" name="TextBox 5">
            <a:extLst>
              <a:ext uri="{FF2B5EF4-FFF2-40B4-BE49-F238E27FC236}">
                <a16:creationId xmlns:a16="http://schemas.microsoft.com/office/drawing/2014/main" id="{576FDABB-B1FF-3784-7B66-80F347B8AD2D}"/>
              </a:ext>
            </a:extLst>
          </p:cNvPr>
          <p:cNvSpPr txBox="1"/>
          <p:nvPr/>
        </p:nvSpPr>
        <p:spPr>
          <a:xfrm>
            <a:off x="5508748" y="4216607"/>
            <a:ext cx="1521570" cy="369332"/>
          </a:xfrm>
          <a:prstGeom prst="rect">
            <a:avLst/>
          </a:prstGeom>
          <a:noFill/>
        </p:spPr>
        <p:txBody>
          <a:bodyPr wrap="none" rtlCol="0">
            <a:spAutoFit/>
          </a:bodyPr>
          <a:lstStyle/>
          <a:p>
            <a:r>
              <a:rPr lang="en-US" i="1" dirty="0">
                <a:latin typeface="SF Pro Heavy" pitchFamily="2" charset="0"/>
                <a:ea typeface="SF Pro Heavy" pitchFamily="2" charset="0"/>
                <a:cs typeface="SF Pro Heavy" pitchFamily="2" charset="0"/>
              </a:rPr>
              <a:t>base</a:t>
            </a:r>
            <a:r>
              <a:rPr lang="en-US" dirty="0">
                <a:latin typeface="SF Pro Semibold" pitchFamily="2" charset="0"/>
                <a:ea typeface="SF Pro Semibold" pitchFamily="2" charset="0"/>
                <a:cs typeface="SF Pro Semibold" pitchFamily="2" charset="0"/>
              </a:rPr>
              <a:t> (default)</a:t>
            </a:r>
          </a:p>
        </p:txBody>
      </p:sp>
      <p:sp>
        <p:nvSpPr>
          <p:cNvPr id="8" name="TextBox 7">
            <a:extLst>
              <a:ext uri="{FF2B5EF4-FFF2-40B4-BE49-F238E27FC236}">
                <a16:creationId xmlns:a16="http://schemas.microsoft.com/office/drawing/2014/main" id="{7224B6F7-E978-9050-1F8E-74296F8776D3}"/>
              </a:ext>
            </a:extLst>
          </p:cNvPr>
          <p:cNvSpPr txBox="1"/>
          <p:nvPr/>
        </p:nvSpPr>
        <p:spPr>
          <a:xfrm>
            <a:off x="7634343" y="4216607"/>
            <a:ext cx="1561646" cy="369332"/>
          </a:xfrm>
          <a:prstGeom prst="rect">
            <a:avLst/>
          </a:prstGeom>
          <a:noFill/>
        </p:spPr>
        <p:txBody>
          <a:bodyPr wrap="none" rtlCol="0">
            <a:spAutoFit/>
          </a:bodyPr>
          <a:lstStyle/>
          <a:p>
            <a:r>
              <a:rPr lang="en-US" dirty="0">
                <a:latin typeface="SF Pro Semibold" pitchFamily="2" charset="0"/>
                <a:ea typeface="SF Pro Semibold" pitchFamily="2" charset="0"/>
                <a:cs typeface="SF Pro Semibold" pitchFamily="2" charset="0"/>
              </a:rPr>
              <a:t>special_env_1</a:t>
            </a:r>
          </a:p>
        </p:txBody>
      </p:sp>
      <p:sp>
        <p:nvSpPr>
          <p:cNvPr id="11" name="TextBox 10">
            <a:extLst>
              <a:ext uri="{FF2B5EF4-FFF2-40B4-BE49-F238E27FC236}">
                <a16:creationId xmlns:a16="http://schemas.microsoft.com/office/drawing/2014/main" id="{E64C8E99-FBAD-3681-D509-50BC3E5F8840}"/>
              </a:ext>
            </a:extLst>
          </p:cNvPr>
          <p:cNvSpPr txBox="1"/>
          <p:nvPr/>
        </p:nvSpPr>
        <p:spPr>
          <a:xfrm>
            <a:off x="5750158" y="4907661"/>
            <a:ext cx="1034257" cy="830997"/>
          </a:xfrm>
          <a:prstGeom prst="rect">
            <a:avLst/>
          </a:prstGeom>
          <a:solidFill>
            <a:schemeClr val="bg1">
              <a:alpha val="66000"/>
            </a:schemeClr>
          </a:solidFill>
        </p:spPr>
        <p:txBody>
          <a:bodyPr wrap="none" rtlCol="0">
            <a:spAutoFit/>
          </a:bodyPr>
          <a:lstStyle/>
          <a:p>
            <a:r>
              <a:rPr lang="en-US" sz="1200" dirty="0">
                <a:latin typeface="SF Pro Semibold" pitchFamily="2" charset="0"/>
                <a:ea typeface="SF Pro Semibold" pitchFamily="2" charset="0"/>
                <a:cs typeface="SF Pro Semibold" pitchFamily="2" charset="0"/>
              </a:rPr>
              <a:t>Python 3.11</a:t>
            </a:r>
          </a:p>
          <a:p>
            <a:r>
              <a:rPr lang="en-US" sz="1200" dirty="0" err="1">
                <a:latin typeface="SF Pro Semibold" pitchFamily="2" charset="0"/>
                <a:ea typeface="SF Pro Semibold" pitchFamily="2" charset="0"/>
                <a:cs typeface="SF Pro Semibold" pitchFamily="2" charset="0"/>
              </a:rPr>
              <a:t>Numpy</a:t>
            </a:r>
            <a:r>
              <a:rPr lang="en-US" sz="1200" dirty="0">
                <a:latin typeface="SF Pro Semibold" pitchFamily="2" charset="0"/>
                <a:ea typeface="SF Pro Semibold" pitchFamily="2" charset="0"/>
                <a:cs typeface="SF Pro Semibold" pitchFamily="2" charset="0"/>
              </a:rPr>
              <a:t> 2.4.0</a:t>
            </a:r>
          </a:p>
          <a:p>
            <a:r>
              <a:rPr lang="en-US" sz="1200" dirty="0">
                <a:latin typeface="SF Pro Semibold" pitchFamily="2" charset="0"/>
                <a:ea typeface="SF Pro Semibold" pitchFamily="2" charset="0"/>
                <a:cs typeface="SF Pro Semibold" pitchFamily="2" charset="0"/>
              </a:rPr>
              <a:t>Pandas 2.3.3</a:t>
            </a:r>
          </a:p>
          <a:p>
            <a:r>
              <a:rPr lang="en-US" sz="1200" dirty="0">
                <a:latin typeface="SF Pro Semibold" pitchFamily="2" charset="0"/>
                <a:ea typeface="SF Pro Semibold" pitchFamily="2" charset="0"/>
                <a:cs typeface="SF Pro Semibold" pitchFamily="2" charset="0"/>
              </a:rPr>
              <a:t>…</a:t>
            </a:r>
          </a:p>
        </p:txBody>
      </p:sp>
      <p:grpSp>
        <p:nvGrpSpPr>
          <p:cNvPr id="20" name="Group 19">
            <a:extLst>
              <a:ext uri="{FF2B5EF4-FFF2-40B4-BE49-F238E27FC236}">
                <a16:creationId xmlns:a16="http://schemas.microsoft.com/office/drawing/2014/main" id="{93664B13-1599-6948-2DE9-1ECA44CA3E12}"/>
              </a:ext>
            </a:extLst>
          </p:cNvPr>
          <p:cNvGrpSpPr/>
          <p:nvPr/>
        </p:nvGrpSpPr>
        <p:grpSpPr>
          <a:xfrm>
            <a:off x="9828034" y="4216607"/>
            <a:ext cx="1588897" cy="1522052"/>
            <a:chOff x="9828034" y="4216607"/>
            <a:chExt cx="1588897" cy="1522052"/>
          </a:xfrm>
        </p:grpSpPr>
        <p:sp>
          <p:nvSpPr>
            <p:cNvPr id="10" name="TextBox 9">
              <a:extLst>
                <a:ext uri="{FF2B5EF4-FFF2-40B4-BE49-F238E27FC236}">
                  <a16:creationId xmlns:a16="http://schemas.microsoft.com/office/drawing/2014/main" id="{3DF45D2F-AAFC-ECE4-21A8-23C75AF9B95D}"/>
                </a:ext>
              </a:extLst>
            </p:cNvPr>
            <p:cNvSpPr txBox="1"/>
            <p:nvPr/>
          </p:nvSpPr>
          <p:spPr>
            <a:xfrm>
              <a:off x="9828034" y="4216607"/>
              <a:ext cx="1588897" cy="369332"/>
            </a:xfrm>
            <a:prstGeom prst="rect">
              <a:avLst/>
            </a:prstGeom>
            <a:noFill/>
          </p:spPr>
          <p:txBody>
            <a:bodyPr wrap="none" rtlCol="0">
              <a:spAutoFit/>
            </a:bodyPr>
            <a:lstStyle/>
            <a:p>
              <a:r>
                <a:rPr lang="en-US" dirty="0">
                  <a:latin typeface="SF Pro Semibold" pitchFamily="2" charset="0"/>
                  <a:ea typeface="SF Pro Semibold" pitchFamily="2" charset="0"/>
                  <a:cs typeface="SF Pro Semibold" pitchFamily="2" charset="0"/>
                </a:rPr>
                <a:t>special_env_2</a:t>
              </a:r>
            </a:p>
          </p:txBody>
        </p:sp>
        <p:sp>
          <p:nvSpPr>
            <p:cNvPr id="14" name="TextBox 13">
              <a:extLst>
                <a:ext uri="{FF2B5EF4-FFF2-40B4-BE49-F238E27FC236}">
                  <a16:creationId xmlns:a16="http://schemas.microsoft.com/office/drawing/2014/main" id="{B4685F2C-5FDD-6580-02CC-7E56EDD99C93}"/>
                </a:ext>
              </a:extLst>
            </p:cNvPr>
            <p:cNvSpPr txBox="1"/>
            <p:nvPr/>
          </p:nvSpPr>
          <p:spPr>
            <a:xfrm>
              <a:off x="9973201" y="4907662"/>
              <a:ext cx="1265283" cy="830997"/>
            </a:xfrm>
            <a:prstGeom prst="rect">
              <a:avLst/>
            </a:prstGeom>
            <a:solidFill>
              <a:schemeClr val="bg1">
                <a:alpha val="66000"/>
              </a:schemeClr>
            </a:solidFill>
          </p:spPr>
          <p:txBody>
            <a:bodyPr wrap="none" rtlCol="0">
              <a:spAutoFit/>
            </a:bodyPr>
            <a:lstStyle/>
            <a:p>
              <a:r>
                <a:rPr lang="en-US" sz="1200" dirty="0">
                  <a:latin typeface="SF Pro Semibold" pitchFamily="2" charset="0"/>
                  <a:ea typeface="SF Pro Semibold" pitchFamily="2" charset="0"/>
                  <a:cs typeface="SF Pro Semibold" pitchFamily="2" charset="0"/>
                </a:rPr>
                <a:t>Python 3.11</a:t>
              </a:r>
            </a:p>
            <a:p>
              <a:r>
                <a:rPr lang="en-US" sz="1200" dirty="0">
                  <a:latin typeface="SF Pro Semibold" pitchFamily="2" charset="0"/>
                  <a:ea typeface="SF Pro Semibold" pitchFamily="2" charset="0"/>
                  <a:cs typeface="SF Pro Semibold" pitchFamily="2" charset="0"/>
                </a:rPr>
                <a:t>Matplotlib 3.10.8</a:t>
              </a:r>
            </a:p>
            <a:p>
              <a:r>
                <a:rPr lang="en-US" sz="1200" dirty="0">
                  <a:latin typeface="SF Pro Semibold" pitchFamily="2" charset="0"/>
                  <a:ea typeface="SF Pro Semibold" pitchFamily="2" charset="0"/>
                  <a:cs typeface="SF Pro Semibold" pitchFamily="2" charset="0"/>
                </a:rPr>
                <a:t>Seaborn 0.13.2</a:t>
              </a:r>
            </a:p>
            <a:p>
              <a:r>
                <a:rPr lang="en-US" sz="1200" dirty="0">
                  <a:latin typeface="SF Pro Semibold" pitchFamily="2" charset="0"/>
                  <a:ea typeface="SF Pro Semibold" pitchFamily="2" charset="0"/>
                  <a:cs typeface="SF Pro Semibold" pitchFamily="2" charset="0"/>
                </a:rPr>
                <a:t>…</a:t>
              </a:r>
            </a:p>
          </p:txBody>
        </p:sp>
      </p:grpSp>
      <p:sp>
        <p:nvSpPr>
          <p:cNvPr id="15" name="TextBox 14">
            <a:extLst>
              <a:ext uri="{FF2B5EF4-FFF2-40B4-BE49-F238E27FC236}">
                <a16:creationId xmlns:a16="http://schemas.microsoft.com/office/drawing/2014/main" id="{818DE9C3-F0AB-159D-E4FD-81DACFA75028}"/>
              </a:ext>
            </a:extLst>
          </p:cNvPr>
          <p:cNvSpPr txBox="1"/>
          <p:nvPr/>
        </p:nvSpPr>
        <p:spPr>
          <a:xfrm>
            <a:off x="7877390" y="4907661"/>
            <a:ext cx="1043876" cy="830997"/>
          </a:xfrm>
          <a:prstGeom prst="rect">
            <a:avLst/>
          </a:prstGeom>
          <a:solidFill>
            <a:schemeClr val="bg1">
              <a:alpha val="66000"/>
            </a:schemeClr>
          </a:solidFill>
        </p:spPr>
        <p:txBody>
          <a:bodyPr wrap="none" rtlCol="0">
            <a:spAutoFit/>
          </a:bodyPr>
          <a:lstStyle/>
          <a:p>
            <a:r>
              <a:rPr lang="en-US" sz="1200" dirty="0">
                <a:latin typeface="SF Pro Semibold" pitchFamily="2" charset="0"/>
                <a:ea typeface="SF Pro Semibold" pitchFamily="2" charset="0"/>
                <a:cs typeface="SF Pro Semibold" pitchFamily="2" charset="0"/>
              </a:rPr>
              <a:t>Python 3.7</a:t>
            </a:r>
          </a:p>
          <a:p>
            <a:r>
              <a:rPr lang="en-US" sz="1200" dirty="0" err="1">
                <a:latin typeface="SF Pro Semibold" pitchFamily="2" charset="0"/>
                <a:ea typeface="SF Pro Semibold" pitchFamily="2" charset="0"/>
                <a:cs typeface="SF Pro Semibold" pitchFamily="2" charset="0"/>
              </a:rPr>
              <a:t>Numpy</a:t>
            </a:r>
            <a:r>
              <a:rPr lang="en-US" sz="1200" dirty="0">
                <a:latin typeface="SF Pro Semibold" pitchFamily="2" charset="0"/>
                <a:ea typeface="SF Pro Semibold" pitchFamily="2" charset="0"/>
                <a:cs typeface="SF Pro Semibold" pitchFamily="2" charset="0"/>
              </a:rPr>
              <a:t> 1.9.1</a:t>
            </a:r>
          </a:p>
          <a:p>
            <a:r>
              <a:rPr lang="en-US" sz="1200" dirty="0">
                <a:latin typeface="SF Pro Semibold" pitchFamily="2" charset="0"/>
                <a:ea typeface="SF Pro Semibold" pitchFamily="2" charset="0"/>
                <a:cs typeface="SF Pro Semibold" pitchFamily="2" charset="0"/>
              </a:rPr>
              <a:t>Special 1.0.0 </a:t>
            </a:r>
          </a:p>
          <a:p>
            <a:r>
              <a:rPr lang="en-US" sz="1200" dirty="0">
                <a:latin typeface="SF Pro Semibold" pitchFamily="2" charset="0"/>
                <a:ea typeface="SF Pro Semibold" pitchFamily="2" charset="0"/>
                <a:cs typeface="SF Pro Semibold" pitchFamily="2" charset="0"/>
              </a:rPr>
              <a:t>…</a:t>
            </a:r>
          </a:p>
        </p:txBody>
      </p:sp>
      <p:sp>
        <p:nvSpPr>
          <p:cNvPr id="16" name="TextBox 15">
            <a:extLst>
              <a:ext uri="{FF2B5EF4-FFF2-40B4-BE49-F238E27FC236}">
                <a16:creationId xmlns:a16="http://schemas.microsoft.com/office/drawing/2014/main" id="{1F815E6F-49DC-5BE7-627E-DDA41FA522B2}"/>
              </a:ext>
            </a:extLst>
          </p:cNvPr>
          <p:cNvSpPr txBox="1"/>
          <p:nvPr/>
        </p:nvSpPr>
        <p:spPr>
          <a:xfrm>
            <a:off x="7023568" y="3875971"/>
            <a:ext cx="2691763" cy="261610"/>
          </a:xfrm>
          <a:prstGeom prst="rect">
            <a:avLst/>
          </a:prstGeom>
          <a:noFill/>
        </p:spPr>
        <p:txBody>
          <a:bodyPr wrap="none" rtlCol="0">
            <a:spAutoFit/>
          </a:bodyPr>
          <a:lstStyle/>
          <a:p>
            <a:r>
              <a:rPr lang="en-US" sz="1100" dirty="0">
                <a:solidFill>
                  <a:schemeClr val="accent6"/>
                </a:solidFill>
                <a:latin typeface="SF Pro Semibold" pitchFamily="2" charset="0"/>
                <a:ea typeface="SF Pro Semibold" pitchFamily="2" charset="0"/>
                <a:cs typeface="SF Pro Semibold" pitchFamily="2" charset="0"/>
              </a:rPr>
              <a:t>“This </a:t>
            </a:r>
            <a:r>
              <a:rPr lang="en-US" sz="1100" i="1" dirty="0">
                <a:solidFill>
                  <a:schemeClr val="accent6"/>
                </a:solidFill>
                <a:latin typeface="SF Pro Heavy" pitchFamily="2" charset="0"/>
                <a:ea typeface="SF Pro Heavy" pitchFamily="2" charset="0"/>
                <a:cs typeface="SF Pro Heavy" pitchFamily="2" charset="0"/>
              </a:rPr>
              <a:t>special </a:t>
            </a:r>
            <a:r>
              <a:rPr lang="en-US" sz="1100" dirty="0">
                <a:solidFill>
                  <a:schemeClr val="accent6"/>
                </a:solidFill>
                <a:latin typeface="SF Pro Semibold" pitchFamily="2" charset="0"/>
                <a:ea typeface="SF Pro Semibold" pitchFamily="2" charset="0"/>
                <a:cs typeface="SF Pro Semibold" pitchFamily="2" charset="0"/>
              </a:rPr>
              <a:t>package requires python 3.7”</a:t>
            </a:r>
          </a:p>
        </p:txBody>
      </p:sp>
      <p:sp>
        <p:nvSpPr>
          <p:cNvPr id="17" name="TextBox 16">
            <a:extLst>
              <a:ext uri="{FF2B5EF4-FFF2-40B4-BE49-F238E27FC236}">
                <a16:creationId xmlns:a16="http://schemas.microsoft.com/office/drawing/2014/main" id="{44675302-D014-4C5A-0037-D3D3F68FD0AE}"/>
              </a:ext>
            </a:extLst>
          </p:cNvPr>
          <p:cNvSpPr txBox="1"/>
          <p:nvPr/>
        </p:nvSpPr>
        <p:spPr>
          <a:xfrm>
            <a:off x="7231320" y="4058554"/>
            <a:ext cx="1688283" cy="307777"/>
          </a:xfrm>
          <a:prstGeom prst="rect">
            <a:avLst/>
          </a:prstGeom>
          <a:noFill/>
        </p:spPr>
        <p:txBody>
          <a:bodyPr wrap="none" rtlCol="0">
            <a:spAutoFit/>
          </a:bodyPr>
          <a:lstStyle/>
          <a:p>
            <a:r>
              <a:rPr lang="en-US" sz="1400" dirty="0" err="1">
                <a:solidFill>
                  <a:schemeClr val="accent6"/>
                </a:solidFill>
                <a:latin typeface="Menlo" panose="020B0609030804020204" pitchFamily="49" charset="0"/>
                <a:ea typeface="Menlo" panose="020B0609030804020204" pitchFamily="49" charset="0"/>
                <a:cs typeface="Menlo" panose="020B0609030804020204" pitchFamily="49" charset="0"/>
              </a:rPr>
              <a:t>conda</a:t>
            </a:r>
            <a:r>
              <a:rPr lang="en-US" sz="1400" dirty="0">
                <a:solidFill>
                  <a:schemeClr val="accent6"/>
                </a:solidFill>
                <a:latin typeface="Menlo" panose="020B0609030804020204" pitchFamily="49" charset="0"/>
                <a:ea typeface="Menlo" panose="020B0609030804020204" pitchFamily="49" charset="0"/>
                <a:cs typeface="Menlo" panose="020B0609030804020204" pitchFamily="49" charset="0"/>
              </a:rPr>
              <a:t> create …</a:t>
            </a:r>
          </a:p>
        </p:txBody>
      </p:sp>
      <p:sp>
        <p:nvSpPr>
          <p:cNvPr id="18" name="TextBox 17">
            <a:extLst>
              <a:ext uri="{FF2B5EF4-FFF2-40B4-BE49-F238E27FC236}">
                <a16:creationId xmlns:a16="http://schemas.microsoft.com/office/drawing/2014/main" id="{936CC98F-012B-40CB-AD23-9BDD28D0AED5}"/>
              </a:ext>
            </a:extLst>
          </p:cNvPr>
          <p:cNvSpPr txBox="1"/>
          <p:nvPr/>
        </p:nvSpPr>
        <p:spPr>
          <a:xfrm>
            <a:off x="7373987" y="6395066"/>
            <a:ext cx="1903085" cy="307777"/>
          </a:xfrm>
          <a:prstGeom prst="rect">
            <a:avLst/>
          </a:prstGeom>
          <a:noFill/>
        </p:spPr>
        <p:txBody>
          <a:bodyPr wrap="none" rtlCol="0">
            <a:spAutoFit/>
          </a:bodyPr>
          <a:lstStyle/>
          <a:p>
            <a:r>
              <a:rPr lang="en-US" sz="1400" dirty="0" err="1">
                <a:solidFill>
                  <a:schemeClr val="accent6"/>
                </a:solidFill>
                <a:latin typeface="Menlo" panose="020B0609030804020204" pitchFamily="49" charset="0"/>
                <a:ea typeface="Menlo" panose="020B0609030804020204" pitchFamily="49" charset="0"/>
                <a:cs typeface="Menlo" panose="020B0609030804020204" pitchFamily="49" charset="0"/>
              </a:rPr>
              <a:t>conda</a:t>
            </a:r>
            <a:r>
              <a:rPr lang="en-US" sz="1400" dirty="0">
                <a:solidFill>
                  <a:schemeClr val="accent6"/>
                </a:solidFill>
                <a:latin typeface="Menlo" panose="020B0609030804020204" pitchFamily="49" charset="0"/>
                <a:ea typeface="Menlo" panose="020B0609030804020204" pitchFamily="49" charset="0"/>
                <a:cs typeface="Menlo" panose="020B0609030804020204" pitchFamily="49" charset="0"/>
              </a:rPr>
              <a:t> activate …</a:t>
            </a:r>
          </a:p>
        </p:txBody>
      </p:sp>
      <p:pic>
        <p:nvPicPr>
          <p:cNvPr id="25" name="Picture 24">
            <a:extLst>
              <a:ext uri="{FF2B5EF4-FFF2-40B4-BE49-F238E27FC236}">
                <a16:creationId xmlns:a16="http://schemas.microsoft.com/office/drawing/2014/main" id="{309F90FD-7768-8E56-CF4A-470EB4F2EC8A}"/>
              </a:ext>
            </a:extLst>
          </p:cNvPr>
          <p:cNvPicPr>
            <a:picLocks noChangeAspect="1"/>
          </p:cNvPicPr>
          <p:nvPr/>
        </p:nvPicPr>
        <p:blipFill>
          <a:blip r:embed="rId4"/>
          <a:stretch>
            <a:fillRect/>
          </a:stretch>
        </p:blipFill>
        <p:spPr>
          <a:xfrm>
            <a:off x="2454577" y="223417"/>
            <a:ext cx="2089714" cy="2089714"/>
          </a:xfrm>
          <a:prstGeom prst="rect">
            <a:avLst/>
          </a:prstGeom>
        </p:spPr>
      </p:pic>
      <p:sp>
        <p:nvSpPr>
          <p:cNvPr id="4" name="Slide Number Placeholder 3">
            <a:extLst>
              <a:ext uri="{FF2B5EF4-FFF2-40B4-BE49-F238E27FC236}">
                <a16:creationId xmlns:a16="http://schemas.microsoft.com/office/drawing/2014/main" id="{28800FA1-3738-DE59-B6DF-4717BD66CB03}"/>
              </a:ext>
            </a:extLst>
          </p:cNvPr>
          <p:cNvSpPr>
            <a:spLocks noGrp="1"/>
          </p:cNvSpPr>
          <p:nvPr>
            <p:ph type="sldNum" sz="quarter" idx="12"/>
          </p:nvPr>
        </p:nvSpPr>
        <p:spPr/>
        <p:txBody>
          <a:bodyPr/>
          <a:lstStyle/>
          <a:p>
            <a:fld id="{0D9DF20D-7D64-DD4E-93FD-71BB03726D71}" type="slidenum">
              <a:rPr lang="en-US" smtClean="0"/>
              <a:pPr/>
              <a:t>19</a:t>
            </a:fld>
            <a:endParaRPr lang="en-US"/>
          </a:p>
        </p:txBody>
      </p:sp>
    </p:spTree>
    <p:extLst>
      <p:ext uri="{BB962C8B-B14F-4D97-AF65-F5344CB8AC3E}">
        <p14:creationId xmlns:p14="http://schemas.microsoft.com/office/powerpoint/2010/main" val="406604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mph" presetSubtype="0" nodeType="clickEffect">
                                  <p:stCondLst>
                                    <p:cond delay="0"/>
                                  </p:stCondLst>
                                  <p:childTnLst>
                                    <p:set>
                                      <p:cBhvr>
                                        <p:cTn id="50" dur="indefinite"/>
                                        <p:tgtEl>
                                          <p:spTgt spid="22"/>
                                        </p:tgtEl>
                                        <p:attrNameLst>
                                          <p:attrName>style.opacity</p:attrName>
                                        </p:attrNameLst>
                                      </p:cBhvr>
                                      <p:to>
                                        <p:strVal val="0.25"/>
                                      </p:to>
                                    </p:set>
                                    <p:animEffect filter="image" prLst="opacity: 0.25">
                                      <p:cBhvr rctx="IE">
                                        <p:cTn id="51" dur="indefinite"/>
                                        <p:tgtEl>
                                          <p:spTgt spid="22"/>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8" grpId="0"/>
      <p:bldP spid="11" grpId="0" animBg="1"/>
      <p:bldP spid="15" grpId="0" animBg="1"/>
      <p:bldP spid="16" grpId="0"/>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42F1F6E3-8FDF-8672-B691-A12B66837347}"/>
              </a:ext>
            </a:extLst>
          </p:cNvPr>
          <p:cNvGrpSpPr/>
          <p:nvPr/>
        </p:nvGrpSpPr>
        <p:grpSpPr>
          <a:xfrm>
            <a:off x="4343195" y="1308488"/>
            <a:ext cx="7432021" cy="5064603"/>
            <a:chOff x="4343195" y="1308488"/>
            <a:chExt cx="7432021" cy="5064603"/>
          </a:xfrm>
        </p:grpSpPr>
        <p:sp>
          <p:nvSpPr>
            <p:cNvPr id="32" name="Rounded Rectangle 31">
              <a:extLst>
                <a:ext uri="{FF2B5EF4-FFF2-40B4-BE49-F238E27FC236}">
                  <a16:creationId xmlns:a16="http://schemas.microsoft.com/office/drawing/2014/main" id="{5128EAAB-84AB-A586-00F4-FE987E549AEF}"/>
                </a:ext>
              </a:extLst>
            </p:cNvPr>
            <p:cNvSpPr/>
            <p:nvPr/>
          </p:nvSpPr>
          <p:spPr>
            <a:xfrm>
              <a:off x="6456218" y="2486891"/>
              <a:ext cx="1766455" cy="388620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6D267E46-D7EA-8C7F-5221-A18FBF7DEA55}"/>
                </a:ext>
              </a:extLst>
            </p:cNvPr>
            <p:cNvSpPr/>
            <p:nvPr/>
          </p:nvSpPr>
          <p:spPr>
            <a:xfrm>
              <a:off x="10008761" y="2486891"/>
              <a:ext cx="1766455" cy="3886200"/>
            </a:xfrm>
            <a:prstGeom prst="roundRect">
              <a:avLst/>
            </a:prstGeom>
            <a:solidFill>
              <a:schemeClr val="accent2">
                <a:alpha val="2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03CAF318-86E3-7D88-A4BA-28A24F3C948C}"/>
                </a:ext>
              </a:extLst>
            </p:cNvPr>
            <p:cNvSpPr/>
            <p:nvPr/>
          </p:nvSpPr>
          <p:spPr>
            <a:xfrm>
              <a:off x="8232489" y="2486891"/>
              <a:ext cx="1766455" cy="3886200"/>
            </a:xfrm>
            <a:prstGeom prst="roundRect">
              <a:avLst/>
            </a:prstGeom>
            <a:solidFill>
              <a:schemeClr val="accent6">
                <a:alpha val="2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Bent-Up Arrow 27">
              <a:extLst>
                <a:ext uri="{FF2B5EF4-FFF2-40B4-BE49-F238E27FC236}">
                  <a16:creationId xmlns:a16="http://schemas.microsoft.com/office/drawing/2014/main" id="{2C660C4B-5476-BF40-F357-232FAB4B6F5C}"/>
                </a:ext>
              </a:extLst>
            </p:cNvPr>
            <p:cNvSpPr/>
            <p:nvPr/>
          </p:nvSpPr>
          <p:spPr>
            <a:xfrm flipV="1">
              <a:off x="4343197" y="1641018"/>
              <a:ext cx="3179821" cy="639763"/>
            </a:xfrm>
            <a:prstGeom prst="bentUpArrow">
              <a:avLst>
                <a:gd name="adj1" fmla="val 9841"/>
                <a:gd name="adj2" fmla="val 19323"/>
                <a:gd name="adj3" fmla="val 227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Bent-Up Arrow 28">
              <a:extLst>
                <a:ext uri="{FF2B5EF4-FFF2-40B4-BE49-F238E27FC236}">
                  <a16:creationId xmlns:a16="http://schemas.microsoft.com/office/drawing/2014/main" id="{FBF93CFA-E455-ED2F-0908-D1B82E3BD3E4}"/>
                </a:ext>
              </a:extLst>
            </p:cNvPr>
            <p:cNvSpPr/>
            <p:nvPr/>
          </p:nvSpPr>
          <p:spPr>
            <a:xfrm flipV="1">
              <a:off x="4343196" y="1473534"/>
              <a:ext cx="5120474" cy="807245"/>
            </a:xfrm>
            <a:prstGeom prst="bentUpArrow">
              <a:avLst>
                <a:gd name="adj1" fmla="val 7267"/>
                <a:gd name="adj2" fmla="val 15032"/>
                <a:gd name="adj3" fmla="val 1842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Bent-Up Arrow 29">
              <a:extLst>
                <a:ext uri="{FF2B5EF4-FFF2-40B4-BE49-F238E27FC236}">
                  <a16:creationId xmlns:a16="http://schemas.microsoft.com/office/drawing/2014/main" id="{BF373BC7-7729-981B-5DBA-FB36003A8683}"/>
                </a:ext>
              </a:extLst>
            </p:cNvPr>
            <p:cNvSpPr/>
            <p:nvPr/>
          </p:nvSpPr>
          <p:spPr>
            <a:xfrm flipV="1">
              <a:off x="4343195" y="1308488"/>
              <a:ext cx="6975937" cy="972291"/>
            </a:xfrm>
            <a:prstGeom prst="bentUpArrow">
              <a:avLst>
                <a:gd name="adj1" fmla="val 6279"/>
                <a:gd name="adj2" fmla="val 12198"/>
                <a:gd name="adj3" fmla="val 1488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256DED9-AB66-7367-B947-491FF7D141A7}"/>
              </a:ext>
            </a:extLst>
          </p:cNvPr>
          <p:cNvSpPr>
            <a:spLocks noGrp="1"/>
          </p:cNvSpPr>
          <p:nvPr>
            <p:ph type="title"/>
          </p:nvPr>
        </p:nvSpPr>
        <p:spPr/>
        <p:txBody>
          <a:bodyPr/>
          <a:lstStyle/>
          <a:p>
            <a:r>
              <a:rPr lang="en-US" dirty="0"/>
              <a:t>The Restaurant: The Big Picture</a:t>
            </a:r>
          </a:p>
        </p:txBody>
      </p:sp>
      <p:grpSp>
        <p:nvGrpSpPr>
          <p:cNvPr id="20" name="Group 19">
            <a:extLst>
              <a:ext uri="{FF2B5EF4-FFF2-40B4-BE49-F238E27FC236}">
                <a16:creationId xmlns:a16="http://schemas.microsoft.com/office/drawing/2014/main" id="{37C46679-2A34-3AE7-D8F5-93A416BCACB0}"/>
              </a:ext>
            </a:extLst>
          </p:cNvPr>
          <p:cNvGrpSpPr/>
          <p:nvPr/>
        </p:nvGrpSpPr>
        <p:grpSpPr>
          <a:xfrm>
            <a:off x="582356" y="4074164"/>
            <a:ext cx="1483912" cy="2081815"/>
            <a:chOff x="571500" y="1419352"/>
            <a:chExt cx="1929384" cy="2706779"/>
          </a:xfrm>
        </p:grpSpPr>
        <p:pic>
          <p:nvPicPr>
            <p:cNvPr id="5" name="Picture 4">
              <a:extLst>
                <a:ext uri="{FF2B5EF4-FFF2-40B4-BE49-F238E27FC236}">
                  <a16:creationId xmlns:a16="http://schemas.microsoft.com/office/drawing/2014/main" id="{862EF8E8-4316-4F9C-26EB-4444A928EA56}"/>
                </a:ext>
              </a:extLst>
            </p:cNvPr>
            <p:cNvPicPr>
              <a:picLocks noChangeAspect="1"/>
            </p:cNvPicPr>
            <p:nvPr/>
          </p:nvPicPr>
          <p:blipFill>
            <a:blip r:embed="rId3"/>
            <a:stretch>
              <a:fillRect/>
            </a:stretch>
          </p:blipFill>
          <p:spPr>
            <a:xfrm>
              <a:off x="658368" y="2370483"/>
              <a:ext cx="1146048" cy="1146048"/>
            </a:xfrm>
            <a:prstGeom prst="rect">
              <a:avLst/>
            </a:prstGeom>
          </p:spPr>
        </p:pic>
        <p:sp>
          <p:nvSpPr>
            <p:cNvPr id="7" name="TextBox 6">
              <a:extLst>
                <a:ext uri="{FF2B5EF4-FFF2-40B4-BE49-F238E27FC236}">
                  <a16:creationId xmlns:a16="http://schemas.microsoft.com/office/drawing/2014/main" id="{AA128A6A-D308-8123-9748-DA10C32753D9}"/>
                </a:ext>
              </a:extLst>
            </p:cNvPr>
            <p:cNvSpPr txBox="1"/>
            <p:nvPr/>
          </p:nvSpPr>
          <p:spPr>
            <a:xfrm>
              <a:off x="571500" y="1419352"/>
              <a:ext cx="1929384" cy="600258"/>
            </a:xfrm>
            <a:prstGeom prst="rect">
              <a:avLst/>
            </a:prstGeom>
            <a:noFill/>
          </p:spPr>
          <p:txBody>
            <a:bodyPr wrap="square" rtlCol="0">
              <a:spAutoFit/>
            </a:bodyPr>
            <a:lstStyle/>
            <a:p>
              <a:pPr algn="ctr"/>
              <a:r>
                <a:rPr lang="en-US" sz="1200" dirty="0">
                  <a:latin typeface=""/>
                </a:rPr>
                <a:t>You write recipes (</a:t>
              </a:r>
              <a:r>
                <a:rPr lang="en-US" sz="1200" dirty="0">
                  <a:solidFill>
                    <a:schemeClr val="accent6"/>
                  </a:solidFill>
                  <a:latin typeface=""/>
                </a:rPr>
                <a:t>code</a:t>
              </a:r>
              <a:r>
                <a:rPr lang="en-US" sz="1200" dirty="0">
                  <a:latin typeface=""/>
                </a:rPr>
                <a:t>)…</a:t>
              </a:r>
            </a:p>
          </p:txBody>
        </p:sp>
        <p:pic>
          <p:nvPicPr>
            <p:cNvPr id="8" name="Picture 7">
              <a:extLst>
                <a:ext uri="{FF2B5EF4-FFF2-40B4-BE49-F238E27FC236}">
                  <a16:creationId xmlns:a16="http://schemas.microsoft.com/office/drawing/2014/main" id="{B48581BD-7F29-7DE6-8344-10F3210C2F55}"/>
                </a:ext>
              </a:extLst>
            </p:cNvPr>
            <p:cNvPicPr>
              <a:picLocks noChangeAspect="1"/>
            </p:cNvPicPr>
            <p:nvPr/>
          </p:nvPicPr>
          <p:blipFill>
            <a:blip r:embed="rId3"/>
            <a:stretch>
              <a:fillRect/>
            </a:stretch>
          </p:blipFill>
          <p:spPr>
            <a:xfrm>
              <a:off x="810768" y="2522883"/>
              <a:ext cx="1146048" cy="1146048"/>
            </a:xfrm>
            <a:prstGeom prst="rect">
              <a:avLst/>
            </a:prstGeom>
          </p:spPr>
        </p:pic>
        <p:pic>
          <p:nvPicPr>
            <p:cNvPr id="9" name="Picture 8">
              <a:extLst>
                <a:ext uri="{FF2B5EF4-FFF2-40B4-BE49-F238E27FC236}">
                  <a16:creationId xmlns:a16="http://schemas.microsoft.com/office/drawing/2014/main" id="{443ACD8B-8A05-C877-02E4-774286166826}"/>
                </a:ext>
              </a:extLst>
            </p:cNvPr>
            <p:cNvPicPr>
              <a:picLocks noChangeAspect="1"/>
            </p:cNvPicPr>
            <p:nvPr/>
          </p:nvPicPr>
          <p:blipFill>
            <a:blip r:embed="rId3"/>
            <a:stretch>
              <a:fillRect/>
            </a:stretch>
          </p:blipFill>
          <p:spPr>
            <a:xfrm>
              <a:off x="963168" y="2675283"/>
              <a:ext cx="1146048" cy="1146048"/>
            </a:xfrm>
            <a:prstGeom prst="rect">
              <a:avLst/>
            </a:prstGeom>
          </p:spPr>
        </p:pic>
        <p:pic>
          <p:nvPicPr>
            <p:cNvPr id="12" name="Picture 11">
              <a:extLst>
                <a:ext uri="{FF2B5EF4-FFF2-40B4-BE49-F238E27FC236}">
                  <a16:creationId xmlns:a16="http://schemas.microsoft.com/office/drawing/2014/main" id="{B57ECE6A-56AA-D54F-ECAE-539A8F12388F}"/>
                </a:ext>
              </a:extLst>
            </p:cNvPr>
            <p:cNvPicPr>
              <a:picLocks noChangeAspect="1"/>
            </p:cNvPicPr>
            <p:nvPr/>
          </p:nvPicPr>
          <p:blipFill>
            <a:blip r:embed="rId3"/>
            <a:stretch>
              <a:fillRect/>
            </a:stretch>
          </p:blipFill>
          <p:spPr>
            <a:xfrm>
              <a:off x="1115568" y="2827683"/>
              <a:ext cx="1146048" cy="1146048"/>
            </a:xfrm>
            <a:prstGeom prst="rect">
              <a:avLst/>
            </a:prstGeom>
          </p:spPr>
        </p:pic>
        <p:pic>
          <p:nvPicPr>
            <p:cNvPr id="13" name="Picture 12">
              <a:extLst>
                <a:ext uri="{FF2B5EF4-FFF2-40B4-BE49-F238E27FC236}">
                  <a16:creationId xmlns:a16="http://schemas.microsoft.com/office/drawing/2014/main" id="{CE514B59-21DD-7349-9F8C-471F2B420540}"/>
                </a:ext>
              </a:extLst>
            </p:cNvPr>
            <p:cNvPicPr>
              <a:picLocks noChangeAspect="1"/>
            </p:cNvPicPr>
            <p:nvPr/>
          </p:nvPicPr>
          <p:blipFill>
            <a:blip r:embed="rId3"/>
            <a:stretch>
              <a:fillRect/>
            </a:stretch>
          </p:blipFill>
          <p:spPr>
            <a:xfrm>
              <a:off x="1267968" y="2980083"/>
              <a:ext cx="1146048" cy="1146048"/>
            </a:xfrm>
            <a:prstGeom prst="rect">
              <a:avLst/>
            </a:prstGeom>
          </p:spPr>
        </p:pic>
      </p:grpSp>
      <p:grpSp>
        <p:nvGrpSpPr>
          <p:cNvPr id="21" name="Group 20">
            <a:extLst>
              <a:ext uri="{FF2B5EF4-FFF2-40B4-BE49-F238E27FC236}">
                <a16:creationId xmlns:a16="http://schemas.microsoft.com/office/drawing/2014/main" id="{50CF3A63-01F5-22AE-87C2-ED9343A00578}"/>
              </a:ext>
            </a:extLst>
          </p:cNvPr>
          <p:cNvGrpSpPr/>
          <p:nvPr/>
        </p:nvGrpSpPr>
        <p:grpSpPr>
          <a:xfrm>
            <a:off x="1958605" y="4004120"/>
            <a:ext cx="2054280" cy="2195123"/>
            <a:chOff x="2624582" y="1280852"/>
            <a:chExt cx="2670979" cy="2854103"/>
          </a:xfrm>
        </p:grpSpPr>
        <p:sp>
          <p:nvSpPr>
            <p:cNvPr id="10" name="TextBox 9">
              <a:extLst>
                <a:ext uri="{FF2B5EF4-FFF2-40B4-BE49-F238E27FC236}">
                  <a16:creationId xmlns:a16="http://schemas.microsoft.com/office/drawing/2014/main" id="{D2850767-A32E-12AC-010E-E95F353F5A41}"/>
                </a:ext>
              </a:extLst>
            </p:cNvPr>
            <p:cNvSpPr txBox="1"/>
            <p:nvPr/>
          </p:nvSpPr>
          <p:spPr>
            <a:xfrm>
              <a:off x="3485050" y="1280852"/>
              <a:ext cx="1810511" cy="840361"/>
            </a:xfrm>
            <a:prstGeom prst="rect">
              <a:avLst/>
            </a:prstGeom>
            <a:noFill/>
          </p:spPr>
          <p:txBody>
            <a:bodyPr wrap="square" rtlCol="0">
              <a:spAutoFit/>
            </a:bodyPr>
            <a:lstStyle/>
            <a:p>
              <a:pPr algn="ctr"/>
              <a:r>
                <a:rPr lang="en-US" sz="1200" dirty="0">
                  <a:latin typeface=""/>
                </a:rPr>
                <a:t>… and put them in a recipe book (</a:t>
              </a:r>
              <a:r>
                <a:rPr lang="en-US" sz="1200" dirty="0">
                  <a:solidFill>
                    <a:schemeClr val="accent6"/>
                  </a:solidFill>
                  <a:latin typeface=""/>
                </a:rPr>
                <a:t>folder</a:t>
              </a:r>
              <a:r>
                <a:rPr lang="en-US" sz="1200" dirty="0">
                  <a:latin typeface=""/>
                </a:rPr>
                <a:t>)…</a:t>
              </a:r>
            </a:p>
          </p:txBody>
        </p:sp>
        <p:pic>
          <p:nvPicPr>
            <p:cNvPr id="11" name="Picture 10">
              <a:extLst>
                <a:ext uri="{FF2B5EF4-FFF2-40B4-BE49-F238E27FC236}">
                  <a16:creationId xmlns:a16="http://schemas.microsoft.com/office/drawing/2014/main" id="{59D4AA80-AB33-F7E6-F776-C711E49F9946}"/>
                </a:ext>
              </a:extLst>
            </p:cNvPr>
            <p:cNvPicPr>
              <a:picLocks noChangeAspect="1"/>
            </p:cNvPicPr>
            <p:nvPr/>
          </p:nvPicPr>
          <p:blipFill>
            <a:blip r:embed="rId4"/>
            <a:stretch>
              <a:fillRect/>
            </a:stretch>
          </p:blipFill>
          <p:spPr>
            <a:xfrm>
              <a:off x="3363807" y="2294283"/>
              <a:ext cx="1840672" cy="1840672"/>
            </a:xfrm>
            <a:prstGeom prst="rect">
              <a:avLst/>
            </a:prstGeom>
          </p:spPr>
        </p:pic>
        <p:sp>
          <p:nvSpPr>
            <p:cNvPr id="14" name="Right Brace 13">
              <a:extLst>
                <a:ext uri="{FF2B5EF4-FFF2-40B4-BE49-F238E27FC236}">
                  <a16:creationId xmlns:a16="http://schemas.microsoft.com/office/drawing/2014/main" id="{3E47DFAB-EA4B-992C-CFBB-9F32EA9FC6A9}"/>
                </a:ext>
              </a:extLst>
            </p:cNvPr>
            <p:cNvSpPr/>
            <p:nvPr/>
          </p:nvSpPr>
          <p:spPr>
            <a:xfrm>
              <a:off x="2624582" y="2294283"/>
              <a:ext cx="512064" cy="1831848"/>
            </a:xfrm>
            <a:prstGeom prst="rightBrace">
              <a:avLst>
                <a:gd name="adj1" fmla="val 4404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5F23932-8A47-8FC3-4406-B13751B6E49E}"/>
              </a:ext>
            </a:extLst>
          </p:cNvPr>
          <p:cNvGrpSpPr/>
          <p:nvPr/>
        </p:nvGrpSpPr>
        <p:grpSpPr>
          <a:xfrm>
            <a:off x="4343773" y="4031117"/>
            <a:ext cx="1852720" cy="2259160"/>
            <a:chOff x="6279726" y="1280852"/>
            <a:chExt cx="2471323" cy="3013469"/>
          </a:xfrm>
        </p:grpSpPr>
        <p:pic>
          <p:nvPicPr>
            <p:cNvPr id="15" name="Picture 14">
              <a:extLst>
                <a:ext uri="{FF2B5EF4-FFF2-40B4-BE49-F238E27FC236}">
                  <a16:creationId xmlns:a16="http://schemas.microsoft.com/office/drawing/2014/main" id="{65217A5B-CDC2-785A-57E6-EBC6B96D6BEF}"/>
                </a:ext>
              </a:extLst>
            </p:cNvPr>
            <p:cNvPicPr>
              <a:picLocks noChangeAspect="1"/>
            </p:cNvPicPr>
            <p:nvPr/>
          </p:nvPicPr>
          <p:blipFill>
            <a:blip r:embed="rId5"/>
            <a:stretch>
              <a:fillRect/>
            </a:stretch>
          </p:blipFill>
          <p:spPr>
            <a:xfrm>
              <a:off x="6406170" y="2075885"/>
              <a:ext cx="2218436" cy="2218436"/>
            </a:xfrm>
            <a:prstGeom prst="rect">
              <a:avLst/>
            </a:prstGeom>
          </p:spPr>
        </p:pic>
        <p:sp>
          <p:nvSpPr>
            <p:cNvPr id="16" name="TextBox 15">
              <a:extLst>
                <a:ext uri="{FF2B5EF4-FFF2-40B4-BE49-F238E27FC236}">
                  <a16:creationId xmlns:a16="http://schemas.microsoft.com/office/drawing/2014/main" id="{0A18F1DA-CFEB-2717-5C3E-DDBD73C12F1F}"/>
                </a:ext>
              </a:extLst>
            </p:cNvPr>
            <p:cNvSpPr txBox="1"/>
            <p:nvPr/>
          </p:nvSpPr>
          <p:spPr>
            <a:xfrm>
              <a:off x="6279726" y="1280852"/>
              <a:ext cx="2471323" cy="840361"/>
            </a:xfrm>
            <a:prstGeom prst="rect">
              <a:avLst/>
            </a:prstGeom>
            <a:noFill/>
          </p:spPr>
          <p:txBody>
            <a:bodyPr wrap="square" rtlCol="0">
              <a:spAutoFit/>
            </a:bodyPr>
            <a:lstStyle/>
            <a:p>
              <a:pPr algn="ctr"/>
              <a:r>
                <a:rPr lang="en-US" sz="1200" dirty="0">
                  <a:latin typeface=""/>
                </a:rPr>
                <a:t>… which you can send to the order counter (</a:t>
              </a:r>
              <a:r>
                <a:rPr lang="en-US" sz="1200" dirty="0">
                  <a:solidFill>
                    <a:schemeClr val="accent6"/>
                  </a:solidFill>
                  <a:latin typeface=""/>
                </a:rPr>
                <a:t>terminal</a:t>
              </a:r>
              <a:r>
                <a:rPr lang="en-US" sz="1200" dirty="0">
                  <a:latin typeface=""/>
                </a:rPr>
                <a:t>)…</a:t>
              </a:r>
            </a:p>
          </p:txBody>
        </p:sp>
      </p:grpSp>
      <p:grpSp>
        <p:nvGrpSpPr>
          <p:cNvPr id="23" name="Group 22">
            <a:extLst>
              <a:ext uri="{FF2B5EF4-FFF2-40B4-BE49-F238E27FC236}">
                <a16:creationId xmlns:a16="http://schemas.microsoft.com/office/drawing/2014/main" id="{780A5407-EF04-FF40-EC4C-AD5D7527FA68}"/>
              </a:ext>
            </a:extLst>
          </p:cNvPr>
          <p:cNvGrpSpPr/>
          <p:nvPr/>
        </p:nvGrpSpPr>
        <p:grpSpPr>
          <a:xfrm>
            <a:off x="6248816" y="4150374"/>
            <a:ext cx="2139696" cy="2005475"/>
            <a:chOff x="9482329" y="1738013"/>
            <a:chExt cx="2139696" cy="2005475"/>
          </a:xfrm>
        </p:grpSpPr>
        <p:pic>
          <p:nvPicPr>
            <p:cNvPr id="17" name="Picture 16">
              <a:extLst>
                <a:ext uri="{FF2B5EF4-FFF2-40B4-BE49-F238E27FC236}">
                  <a16:creationId xmlns:a16="http://schemas.microsoft.com/office/drawing/2014/main" id="{F45884BF-A75D-6027-7005-8DA2B30B4C42}"/>
                </a:ext>
              </a:extLst>
            </p:cNvPr>
            <p:cNvPicPr>
              <a:picLocks noChangeAspect="1"/>
            </p:cNvPicPr>
            <p:nvPr/>
          </p:nvPicPr>
          <p:blipFill>
            <a:blip r:embed="rId6"/>
            <a:stretch>
              <a:fillRect/>
            </a:stretch>
          </p:blipFill>
          <p:spPr>
            <a:xfrm>
              <a:off x="9823482" y="2286098"/>
              <a:ext cx="1457390" cy="1457390"/>
            </a:xfrm>
            <a:prstGeom prst="rect">
              <a:avLst/>
            </a:prstGeom>
          </p:spPr>
        </p:pic>
        <p:sp>
          <p:nvSpPr>
            <p:cNvPr id="18" name="TextBox 17">
              <a:extLst>
                <a:ext uri="{FF2B5EF4-FFF2-40B4-BE49-F238E27FC236}">
                  <a16:creationId xmlns:a16="http://schemas.microsoft.com/office/drawing/2014/main" id="{7C147789-2DED-0AE5-0A47-9F69A45AC2A4}"/>
                </a:ext>
              </a:extLst>
            </p:cNvPr>
            <p:cNvSpPr txBox="1"/>
            <p:nvPr/>
          </p:nvSpPr>
          <p:spPr>
            <a:xfrm>
              <a:off x="9482329" y="1738013"/>
              <a:ext cx="2139696" cy="461665"/>
            </a:xfrm>
            <a:prstGeom prst="rect">
              <a:avLst/>
            </a:prstGeom>
            <a:noFill/>
          </p:spPr>
          <p:txBody>
            <a:bodyPr wrap="square" rtlCol="0">
              <a:spAutoFit/>
            </a:bodyPr>
            <a:lstStyle/>
            <a:p>
              <a:pPr algn="ctr"/>
              <a:r>
                <a:rPr lang="en-US" sz="1200" dirty="0">
                  <a:latin typeface=""/>
                </a:rPr>
                <a:t>…which tells the chef (</a:t>
              </a:r>
              <a:r>
                <a:rPr lang="en-US" sz="1200" dirty="0">
                  <a:solidFill>
                    <a:schemeClr val="accent6"/>
                  </a:solidFill>
                  <a:latin typeface=""/>
                </a:rPr>
                <a:t>Python</a:t>
              </a:r>
              <a:r>
                <a:rPr lang="en-US" sz="1200" dirty="0">
                  <a:latin typeface=""/>
                </a:rPr>
                <a:t>) what to cook</a:t>
              </a:r>
            </a:p>
          </p:txBody>
        </p:sp>
      </p:grpSp>
      <p:grpSp>
        <p:nvGrpSpPr>
          <p:cNvPr id="26" name="Group 25">
            <a:extLst>
              <a:ext uri="{FF2B5EF4-FFF2-40B4-BE49-F238E27FC236}">
                <a16:creationId xmlns:a16="http://schemas.microsoft.com/office/drawing/2014/main" id="{371BB6C0-4D89-A4F9-FC8C-8C60F8B07F19}"/>
              </a:ext>
            </a:extLst>
          </p:cNvPr>
          <p:cNvGrpSpPr/>
          <p:nvPr/>
        </p:nvGrpSpPr>
        <p:grpSpPr>
          <a:xfrm>
            <a:off x="271272" y="2297967"/>
            <a:ext cx="11723504" cy="4523026"/>
            <a:chOff x="210312" y="1328148"/>
            <a:chExt cx="11723504" cy="4523026"/>
          </a:xfrm>
        </p:grpSpPr>
        <p:sp>
          <p:nvSpPr>
            <p:cNvPr id="24" name="Rounded Rectangle 23">
              <a:extLst>
                <a:ext uri="{FF2B5EF4-FFF2-40B4-BE49-F238E27FC236}">
                  <a16:creationId xmlns:a16="http://schemas.microsoft.com/office/drawing/2014/main" id="{746E81DE-D90B-2A26-36DC-7EB4879CC48E}"/>
                </a:ext>
              </a:extLst>
            </p:cNvPr>
            <p:cNvSpPr/>
            <p:nvPr/>
          </p:nvSpPr>
          <p:spPr>
            <a:xfrm>
              <a:off x="210312" y="1328148"/>
              <a:ext cx="11723504" cy="4185959"/>
            </a:xfrm>
            <a:prstGeom prst="roundRect">
              <a:avLst>
                <a:gd name="adj" fmla="val 12298"/>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D5CB4E9-5619-B8DC-8451-AB2B5531D6A0}"/>
                </a:ext>
              </a:extLst>
            </p:cNvPr>
            <p:cNvSpPr txBox="1"/>
            <p:nvPr/>
          </p:nvSpPr>
          <p:spPr>
            <a:xfrm>
              <a:off x="521396" y="5481842"/>
              <a:ext cx="3480440" cy="369332"/>
            </a:xfrm>
            <a:prstGeom prst="rect">
              <a:avLst/>
            </a:prstGeom>
            <a:noFill/>
          </p:spPr>
          <p:txBody>
            <a:bodyPr wrap="none" rtlCol="0">
              <a:spAutoFit/>
            </a:bodyPr>
            <a:lstStyle/>
            <a:p>
              <a:r>
                <a:rPr lang="en-US" b="1" dirty="0">
                  <a:latin typeface=""/>
                </a:rPr>
                <a:t>The Restaurant (VS Code/</a:t>
              </a:r>
              <a:r>
                <a:rPr lang="en-US" b="1" dirty="0">
                  <a:solidFill>
                    <a:schemeClr val="accent6"/>
                  </a:solidFill>
                  <a:latin typeface=""/>
                </a:rPr>
                <a:t>IDE</a:t>
              </a:r>
              <a:r>
                <a:rPr lang="en-US" b="1" dirty="0">
                  <a:latin typeface=""/>
                </a:rPr>
                <a:t>)</a:t>
              </a:r>
            </a:p>
          </p:txBody>
        </p:sp>
      </p:grpSp>
      <p:grpSp>
        <p:nvGrpSpPr>
          <p:cNvPr id="27" name="Group 26">
            <a:extLst>
              <a:ext uri="{FF2B5EF4-FFF2-40B4-BE49-F238E27FC236}">
                <a16:creationId xmlns:a16="http://schemas.microsoft.com/office/drawing/2014/main" id="{9C41E0F9-D959-73AF-FDBE-BD7AD419CC98}"/>
              </a:ext>
            </a:extLst>
          </p:cNvPr>
          <p:cNvGrpSpPr/>
          <p:nvPr/>
        </p:nvGrpSpPr>
        <p:grpSpPr>
          <a:xfrm>
            <a:off x="872868" y="736649"/>
            <a:ext cx="3726841" cy="1415683"/>
            <a:chOff x="872868" y="736649"/>
            <a:chExt cx="3726841" cy="1415683"/>
          </a:xfrm>
        </p:grpSpPr>
        <p:pic>
          <p:nvPicPr>
            <p:cNvPr id="4" name="Picture 3">
              <a:extLst>
                <a:ext uri="{FF2B5EF4-FFF2-40B4-BE49-F238E27FC236}">
                  <a16:creationId xmlns:a16="http://schemas.microsoft.com/office/drawing/2014/main" id="{D06D6995-A117-D67A-272F-2E9822FD9975}"/>
                </a:ext>
              </a:extLst>
            </p:cNvPr>
            <p:cNvPicPr>
              <a:picLocks noChangeAspect="1"/>
            </p:cNvPicPr>
            <p:nvPr/>
          </p:nvPicPr>
          <p:blipFill>
            <a:blip r:embed="rId7"/>
            <a:stretch>
              <a:fillRect/>
            </a:stretch>
          </p:blipFill>
          <p:spPr>
            <a:xfrm>
              <a:off x="872868" y="736649"/>
              <a:ext cx="1415683" cy="1415683"/>
            </a:xfrm>
            <a:prstGeom prst="rect">
              <a:avLst/>
            </a:prstGeom>
          </p:spPr>
        </p:pic>
        <p:sp>
          <p:nvSpPr>
            <p:cNvPr id="6" name="TextBox 5">
              <a:extLst>
                <a:ext uri="{FF2B5EF4-FFF2-40B4-BE49-F238E27FC236}">
                  <a16:creationId xmlns:a16="http://schemas.microsoft.com/office/drawing/2014/main" id="{B675FED9-F1E5-1394-D2E0-908FA8F4A9D8}"/>
                </a:ext>
              </a:extLst>
            </p:cNvPr>
            <p:cNvSpPr txBox="1"/>
            <p:nvPr/>
          </p:nvSpPr>
          <p:spPr>
            <a:xfrm>
              <a:off x="2402543" y="1233252"/>
              <a:ext cx="2197166" cy="584775"/>
            </a:xfrm>
            <a:prstGeom prst="rect">
              <a:avLst/>
            </a:prstGeom>
            <a:noFill/>
          </p:spPr>
          <p:txBody>
            <a:bodyPr wrap="square" rtlCol="0">
              <a:spAutoFit/>
            </a:bodyPr>
            <a:lstStyle/>
            <a:p>
              <a:r>
                <a:rPr lang="en-US" sz="1600" dirty="0">
                  <a:solidFill>
                    <a:schemeClr val="accent6"/>
                  </a:solidFill>
                  <a:latin typeface=""/>
                </a:rPr>
                <a:t>Anaconda</a:t>
              </a:r>
              <a:r>
                <a:rPr lang="en-US" sz="1600" dirty="0">
                  <a:latin typeface=""/>
                </a:rPr>
                <a:t> supplies the ingredients…</a:t>
              </a:r>
            </a:p>
          </p:txBody>
        </p:sp>
      </p:grpSp>
      <p:sp>
        <p:nvSpPr>
          <p:cNvPr id="31" name="TextBox 30">
            <a:extLst>
              <a:ext uri="{FF2B5EF4-FFF2-40B4-BE49-F238E27FC236}">
                <a16:creationId xmlns:a16="http://schemas.microsoft.com/office/drawing/2014/main" id="{E6905E2B-D248-A875-CFC6-CC5CED429246}"/>
              </a:ext>
            </a:extLst>
          </p:cNvPr>
          <p:cNvSpPr txBox="1"/>
          <p:nvPr/>
        </p:nvSpPr>
        <p:spPr>
          <a:xfrm>
            <a:off x="6151804" y="915167"/>
            <a:ext cx="4245714" cy="369332"/>
          </a:xfrm>
          <a:prstGeom prst="rect">
            <a:avLst/>
          </a:prstGeom>
          <a:noFill/>
        </p:spPr>
        <p:txBody>
          <a:bodyPr wrap="none" rtlCol="0">
            <a:spAutoFit/>
          </a:bodyPr>
          <a:lstStyle/>
          <a:p>
            <a:r>
              <a:rPr lang="en-US" dirty="0">
                <a:latin typeface=""/>
              </a:rPr>
              <a:t>…to different kitchens (</a:t>
            </a:r>
            <a:r>
              <a:rPr lang="en-US" dirty="0">
                <a:solidFill>
                  <a:schemeClr val="accent6"/>
                </a:solidFill>
                <a:latin typeface=""/>
              </a:rPr>
              <a:t>environments</a:t>
            </a:r>
            <a:r>
              <a:rPr lang="en-US" dirty="0">
                <a:latin typeface=""/>
              </a:rPr>
              <a:t>)…</a:t>
            </a:r>
          </a:p>
        </p:txBody>
      </p:sp>
      <p:pic>
        <p:nvPicPr>
          <p:cNvPr id="36" name="Picture 35">
            <a:extLst>
              <a:ext uri="{FF2B5EF4-FFF2-40B4-BE49-F238E27FC236}">
                <a16:creationId xmlns:a16="http://schemas.microsoft.com/office/drawing/2014/main" id="{790D63F8-92D7-03A9-292C-03EF25AFE826}"/>
              </a:ext>
            </a:extLst>
          </p:cNvPr>
          <p:cNvPicPr>
            <a:picLocks noChangeAspect="1"/>
          </p:cNvPicPr>
          <p:nvPr/>
        </p:nvPicPr>
        <p:blipFill>
          <a:blip r:embed="rId8">
            <a:duotone>
              <a:schemeClr val="accent2">
                <a:shade val="45000"/>
                <a:satMod val="135000"/>
              </a:schemeClr>
              <a:prstClr val="white"/>
            </a:duotone>
          </a:blip>
          <a:stretch>
            <a:fillRect/>
          </a:stretch>
        </p:blipFill>
        <p:spPr>
          <a:xfrm>
            <a:off x="10270479" y="2596946"/>
            <a:ext cx="1284877" cy="1284877"/>
          </a:xfrm>
          <a:prstGeom prst="rect">
            <a:avLst/>
          </a:prstGeom>
        </p:spPr>
      </p:pic>
      <p:pic>
        <p:nvPicPr>
          <p:cNvPr id="37" name="Picture 36">
            <a:extLst>
              <a:ext uri="{FF2B5EF4-FFF2-40B4-BE49-F238E27FC236}">
                <a16:creationId xmlns:a16="http://schemas.microsoft.com/office/drawing/2014/main" id="{82EC26CC-5812-5559-6B13-77C0996046DB}"/>
              </a:ext>
            </a:extLst>
          </p:cNvPr>
          <p:cNvPicPr>
            <a:picLocks noChangeAspect="1"/>
          </p:cNvPicPr>
          <p:nvPr/>
        </p:nvPicPr>
        <p:blipFill>
          <a:blip r:embed="rId8">
            <a:duotone>
              <a:schemeClr val="accent1">
                <a:shade val="45000"/>
                <a:satMod val="135000"/>
              </a:schemeClr>
              <a:prstClr val="white"/>
            </a:duotone>
          </a:blip>
          <a:stretch>
            <a:fillRect/>
          </a:stretch>
        </p:blipFill>
        <p:spPr>
          <a:xfrm>
            <a:off x="6721592" y="2643653"/>
            <a:ext cx="1284877" cy="1284877"/>
          </a:xfrm>
          <a:prstGeom prst="rect">
            <a:avLst/>
          </a:prstGeom>
        </p:spPr>
      </p:pic>
      <p:pic>
        <p:nvPicPr>
          <p:cNvPr id="38" name="Picture 37">
            <a:extLst>
              <a:ext uri="{FF2B5EF4-FFF2-40B4-BE49-F238E27FC236}">
                <a16:creationId xmlns:a16="http://schemas.microsoft.com/office/drawing/2014/main" id="{C5CE7DEB-43A4-094F-E7BB-E141EF7BFF5C}"/>
              </a:ext>
            </a:extLst>
          </p:cNvPr>
          <p:cNvPicPr>
            <a:picLocks noChangeAspect="1"/>
          </p:cNvPicPr>
          <p:nvPr/>
        </p:nvPicPr>
        <p:blipFill>
          <a:blip r:embed="rId8">
            <a:duotone>
              <a:schemeClr val="accent6">
                <a:shade val="45000"/>
                <a:satMod val="135000"/>
              </a:schemeClr>
              <a:prstClr val="white"/>
            </a:duotone>
            <a:alphaModFix/>
          </a:blip>
          <a:stretch>
            <a:fillRect/>
          </a:stretch>
        </p:blipFill>
        <p:spPr>
          <a:xfrm>
            <a:off x="8517076" y="2643652"/>
            <a:ext cx="1284877" cy="1284877"/>
          </a:xfrm>
          <a:prstGeom prst="rect">
            <a:avLst/>
          </a:prstGeom>
        </p:spPr>
      </p:pic>
      <p:pic>
        <p:nvPicPr>
          <p:cNvPr id="45" name="Picture 44">
            <a:extLst>
              <a:ext uri="{FF2B5EF4-FFF2-40B4-BE49-F238E27FC236}">
                <a16:creationId xmlns:a16="http://schemas.microsoft.com/office/drawing/2014/main" id="{17E6B0CC-246B-2F02-7E5D-C7E5E6A80649}"/>
              </a:ext>
            </a:extLst>
          </p:cNvPr>
          <p:cNvPicPr>
            <a:picLocks noChangeAspect="1"/>
          </p:cNvPicPr>
          <p:nvPr/>
        </p:nvPicPr>
        <p:blipFill>
          <a:blip r:embed="rId6"/>
          <a:stretch>
            <a:fillRect/>
          </a:stretch>
        </p:blipFill>
        <p:spPr>
          <a:xfrm>
            <a:off x="10184222" y="4661125"/>
            <a:ext cx="1457390" cy="1457390"/>
          </a:xfrm>
          <a:prstGeom prst="rect">
            <a:avLst/>
          </a:prstGeom>
        </p:spPr>
      </p:pic>
      <p:pic>
        <p:nvPicPr>
          <p:cNvPr id="46" name="Picture 45">
            <a:extLst>
              <a:ext uri="{FF2B5EF4-FFF2-40B4-BE49-F238E27FC236}">
                <a16:creationId xmlns:a16="http://schemas.microsoft.com/office/drawing/2014/main" id="{782A2FF5-29ED-2FFC-B6C4-532815ECEFEA}"/>
              </a:ext>
            </a:extLst>
          </p:cNvPr>
          <p:cNvPicPr>
            <a:picLocks noChangeAspect="1"/>
          </p:cNvPicPr>
          <p:nvPr/>
        </p:nvPicPr>
        <p:blipFill>
          <a:blip r:embed="rId6"/>
          <a:stretch>
            <a:fillRect/>
          </a:stretch>
        </p:blipFill>
        <p:spPr>
          <a:xfrm>
            <a:off x="8430075" y="4698459"/>
            <a:ext cx="1457390" cy="1457390"/>
          </a:xfrm>
          <a:prstGeom prst="rect">
            <a:avLst/>
          </a:prstGeom>
        </p:spPr>
      </p:pic>
      <p:sp>
        <p:nvSpPr>
          <p:cNvPr id="47" name="Rounded Rectangular Callout 46">
            <a:extLst>
              <a:ext uri="{FF2B5EF4-FFF2-40B4-BE49-F238E27FC236}">
                <a16:creationId xmlns:a16="http://schemas.microsoft.com/office/drawing/2014/main" id="{65CBB170-052F-26D0-EAD6-7C20E1494959}"/>
              </a:ext>
            </a:extLst>
          </p:cNvPr>
          <p:cNvSpPr/>
          <p:nvPr/>
        </p:nvSpPr>
        <p:spPr>
          <a:xfrm>
            <a:off x="5024621" y="2439581"/>
            <a:ext cx="1289304" cy="1032411"/>
          </a:xfrm>
          <a:prstGeom prst="wedgeRoundRectCallout">
            <a:avLst>
              <a:gd name="adj1" fmla="val -32640"/>
              <a:gd name="adj2" fmla="val 101262"/>
              <a:gd name="adj3" fmla="val 16667"/>
            </a:avLst>
          </a:prstGeom>
          <a:solidFill>
            <a:schemeClr val="accent2">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solidFill>
                  <a:schemeClr val="tx2"/>
                </a:solidFill>
                <a:latin typeface=""/>
              </a:rPr>
              <a:t>Orange</a:t>
            </a:r>
            <a:r>
              <a:rPr lang="en-US" sz="1200" dirty="0">
                <a:solidFill>
                  <a:schemeClr val="tx2"/>
                </a:solidFill>
                <a:latin typeface=""/>
              </a:rPr>
              <a:t> kitchen, get me a </a:t>
            </a:r>
            <a:r>
              <a:rPr lang="en-US" sz="1200" dirty="0" err="1">
                <a:solidFill>
                  <a:schemeClr val="accent6"/>
                </a:solidFill>
                <a:latin typeface=""/>
              </a:rPr>
              <a:t>statistics.py</a:t>
            </a:r>
            <a:r>
              <a:rPr lang="en-US" sz="1200" dirty="0">
                <a:solidFill>
                  <a:schemeClr val="tx2"/>
                </a:solidFill>
                <a:latin typeface=""/>
              </a:rPr>
              <a:t>!</a:t>
            </a:r>
          </a:p>
        </p:txBody>
      </p:sp>
      <p:sp>
        <p:nvSpPr>
          <p:cNvPr id="48" name="Rounded Rectangular Callout 47">
            <a:extLst>
              <a:ext uri="{FF2B5EF4-FFF2-40B4-BE49-F238E27FC236}">
                <a16:creationId xmlns:a16="http://schemas.microsoft.com/office/drawing/2014/main" id="{3B4761DC-7F48-3A36-E435-7FF1C140E09C}"/>
              </a:ext>
            </a:extLst>
          </p:cNvPr>
          <p:cNvSpPr/>
          <p:nvPr/>
        </p:nvSpPr>
        <p:spPr>
          <a:xfrm>
            <a:off x="3418144" y="2446910"/>
            <a:ext cx="1289304" cy="1032411"/>
          </a:xfrm>
          <a:prstGeom prst="wedgeRoundRectCallout">
            <a:avLst>
              <a:gd name="adj1" fmla="val 56638"/>
              <a:gd name="adj2" fmla="val 103346"/>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
              </a:rPr>
              <a:t>I need an </a:t>
            </a:r>
            <a:r>
              <a:rPr lang="en-US" sz="1200" dirty="0" err="1">
                <a:solidFill>
                  <a:schemeClr val="accent6"/>
                </a:solidFill>
                <a:latin typeface=""/>
              </a:rPr>
              <a:t>analysis.py</a:t>
            </a:r>
            <a:r>
              <a:rPr lang="en-US" sz="1200" dirty="0">
                <a:solidFill>
                  <a:schemeClr val="accent6"/>
                </a:solidFill>
                <a:latin typeface=""/>
              </a:rPr>
              <a:t> </a:t>
            </a:r>
            <a:r>
              <a:rPr lang="en-US" sz="1200" dirty="0">
                <a:solidFill>
                  <a:schemeClr val="tx2"/>
                </a:solidFill>
                <a:latin typeface=""/>
              </a:rPr>
              <a:t>from the </a:t>
            </a:r>
            <a:r>
              <a:rPr lang="en-US" sz="1200" b="1" dirty="0">
                <a:solidFill>
                  <a:schemeClr val="tx2"/>
                </a:solidFill>
                <a:latin typeface=""/>
              </a:rPr>
              <a:t>blue</a:t>
            </a:r>
            <a:r>
              <a:rPr lang="en-US" sz="1200" dirty="0">
                <a:solidFill>
                  <a:schemeClr val="tx2"/>
                </a:solidFill>
                <a:latin typeface=""/>
              </a:rPr>
              <a:t> kitchen!</a:t>
            </a:r>
          </a:p>
        </p:txBody>
      </p:sp>
      <p:sp>
        <p:nvSpPr>
          <p:cNvPr id="49" name="TextBox 48">
            <a:extLst>
              <a:ext uri="{FF2B5EF4-FFF2-40B4-BE49-F238E27FC236}">
                <a16:creationId xmlns:a16="http://schemas.microsoft.com/office/drawing/2014/main" id="{762239FB-DE7A-4762-B1B3-F7698D167B6C}"/>
              </a:ext>
            </a:extLst>
          </p:cNvPr>
          <p:cNvSpPr txBox="1"/>
          <p:nvPr/>
        </p:nvSpPr>
        <p:spPr>
          <a:xfrm>
            <a:off x="8635267" y="4000892"/>
            <a:ext cx="2553039" cy="646331"/>
          </a:xfrm>
          <a:prstGeom prst="rect">
            <a:avLst/>
          </a:prstGeom>
          <a:solidFill>
            <a:schemeClr val="bg2"/>
          </a:solidFill>
        </p:spPr>
        <p:txBody>
          <a:bodyPr wrap="square" rtlCol="0">
            <a:spAutoFit/>
          </a:bodyPr>
          <a:lstStyle/>
          <a:p>
            <a:pPr algn="ctr"/>
            <a:r>
              <a:rPr lang="en-US" dirty="0"/>
              <a:t>…with different chefs (Python versions)…</a:t>
            </a:r>
          </a:p>
        </p:txBody>
      </p:sp>
      <p:sp>
        <p:nvSpPr>
          <p:cNvPr id="3" name="Slide Number Placeholder 2">
            <a:extLst>
              <a:ext uri="{FF2B5EF4-FFF2-40B4-BE49-F238E27FC236}">
                <a16:creationId xmlns:a16="http://schemas.microsoft.com/office/drawing/2014/main" id="{F563BDA0-6848-5040-EEB5-23FCEAB7C8B1}"/>
              </a:ext>
            </a:extLst>
          </p:cNvPr>
          <p:cNvSpPr>
            <a:spLocks noGrp="1"/>
          </p:cNvSpPr>
          <p:nvPr>
            <p:ph type="sldNum" sz="quarter" idx="12"/>
          </p:nvPr>
        </p:nvSpPr>
        <p:spPr/>
        <p:txBody>
          <a:bodyPr/>
          <a:lstStyle/>
          <a:p>
            <a:fld id="{0D9DF20D-7D64-DD4E-93FD-71BB03726D71}" type="slidenum">
              <a:rPr lang="en-US" smtClean="0"/>
              <a:t>20</a:t>
            </a:fld>
            <a:endParaRPr lang="en-US"/>
          </a:p>
        </p:txBody>
      </p:sp>
    </p:spTree>
    <p:extLst>
      <p:ext uri="{BB962C8B-B14F-4D97-AF65-F5344CB8AC3E}">
        <p14:creationId xmlns:p14="http://schemas.microsoft.com/office/powerpoint/2010/main" val="101791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7" grpId="0" animBg="1"/>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C937-3C9F-C086-4AD3-5932463743F3}"/>
              </a:ext>
            </a:extLst>
          </p:cNvPr>
          <p:cNvSpPr>
            <a:spLocks noGrp="1"/>
          </p:cNvSpPr>
          <p:nvPr>
            <p:ph type="title"/>
          </p:nvPr>
        </p:nvSpPr>
        <p:spPr/>
        <p:txBody>
          <a:bodyPr/>
          <a:lstStyle/>
          <a:p>
            <a:r>
              <a:rPr lang="en-US" dirty="0"/>
              <a:t>Importing </a:t>
            </a:r>
            <a:r>
              <a:rPr lang="en-US" dirty="0">
                <a:solidFill>
                  <a:schemeClr val="accent6"/>
                </a:solidFill>
              </a:rPr>
              <a:t>packages</a:t>
            </a:r>
            <a:r>
              <a:rPr lang="en-US" dirty="0"/>
              <a:t> (adding food to the pantry)</a:t>
            </a:r>
          </a:p>
        </p:txBody>
      </p:sp>
      <p:sp>
        <p:nvSpPr>
          <p:cNvPr id="3" name="Content Placeholder 2">
            <a:extLst>
              <a:ext uri="{FF2B5EF4-FFF2-40B4-BE49-F238E27FC236}">
                <a16:creationId xmlns:a16="http://schemas.microsoft.com/office/drawing/2014/main" id="{A740C3E3-5A9D-C289-1692-8FCB5B942B41}"/>
              </a:ext>
            </a:extLst>
          </p:cNvPr>
          <p:cNvSpPr>
            <a:spLocks noGrp="1"/>
          </p:cNvSpPr>
          <p:nvPr>
            <p:ph idx="1"/>
          </p:nvPr>
        </p:nvSpPr>
        <p:spPr/>
        <p:txBody>
          <a:bodyPr/>
          <a:lstStyle/>
          <a:p>
            <a:r>
              <a:rPr lang="en-US" i="1" dirty="0" err="1">
                <a:solidFill>
                  <a:schemeClr val="accent6"/>
                </a:solidFill>
              </a:rPr>
              <a:t>conda</a:t>
            </a:r>
            <a:r>
              <a:rPr lang="en-US" i="1" dirty="0"/>
              <a:t> </a:t>
            </a:r>
            <a:r>
              <a:rPr lang="en-US" dirty="0"/>
              <a:t>and </a:t>
            </a:r>
            <a:r>
              <a:rPr lang="en-US" i="1" dirty="0">
                <a:solidFill>
                  <a:schemeClr val="accent6"/>
                </a:solidFill>
              </a:rPr>
              <a:t>pip</a:t>
            </a:r>
            <a:r>
              <a:rPr lang="en-US" i="1" dirty="0"/>
              <a:t> </a:t>
            </a:r>
            <a:r>
              <a:rPr lang="en-US" dirty="0"/>
              <a:t>are two major “warehouses”</a:t>
            </a:r>
          </a:p>
          <a:p>
            <a:pPr lvl="1"/>
            <a:r>
              <a:rPr lang="en-US" dirty="0"/>
              <a:t>Most python packages are hosted on Python Package Index (</a:t>
            </a:r>
            <a:r>
              <a:rPr lang="en-US" dirty="0">
                <a:hlinkClick r:id="rId2"/>
              </a:rPr>
              <a:t>pypi</a:t>
            </a:r>
            <a:r>
              <a:rPr lang="en-US" dirty="0"/>
              <a:t>) and can be installed with </a:t>
            </a:r>
            <a:r>
              <a:rPr lang="en-US" dirty="0">
                <a:solidFill>
                  <a:schemeClr val="accent6"/>
                </a:solidFill>
              </a:rPr>
              <a:t>pip</a:t>
            </a:r>
          </a:p>
          <a:p>
            <a:pPr lvl="1"/>
            <a:r>
              <a:rPr lang="en-US" dirty="0"/>
              <a:t>Ensure the right </a:t>
            </a:r>
            <a:r>
              <a:rPr lang="en-US" dirty="0" err="1"/>
              <a:t>conda</a:t>
            </a:r>
            <a:r>
              <a:rPr lang="en-US" dirty="0"/>
              <a:t> environment is activated to add the package in the right location</a:t>
            </a:r>
          </a:p>
          <a:p>
            <a:pPr lvl="1"/>
            <a:r>
              <a:rPr lang="en-US" dirty="0"/>
              <a:t>If a package is not available through pip, try </a:t>
            </a:r>
            <a:r>
              <a:rPr lang="en-US" dirty="0" err="1">
                <a:solidFill>
                  <a:schemeClr val="accent6"/>
                </a:solidFill>
              </a:rPr>
              <a:t>conda</a:t>
            </a:r>
            <a:r>
              <a:rPr lang="en-US" dirty="0"/>
              <a:t> (or look at the install guide)</a:t>
            </a:r>
          </a:p>
        </p:txBody>
      </p:sp>
      <p:pic>
        <p:nvPicPr>
          <p:cNvPr id="4" name="Picture 3">
            <a:extLst>
              <a:ext uri="{FF2B5EF4-FFF2-40B4-BE49-F238E27FC236}">
                <a16:creationId xmlns:a16="http://schemas.microsoft.com/office/drawing/2014/main" id="{8DB727C6-1B82-02F9-B717-8D5E1FCDA85F}"/>
              </a:ext>
            </a:extLst>
          </p:cNvPr>
          <p:cNvPicPr>
            <a:picLocks noChangeAspect="1"/>
          </p:cNvPicPr>
          <p:nvPr/>
        </p:nvPicPr>
        <p:blipFill>
          <a:blip r:embed="rId3"/>
          <a:stretch>
            <a:fillRect/>
          </a:stretch>
        </p:blipFill>
        <p:spPr>
          <a:xfrm>
            <a:off x="5603317" y="4077149"/>
            <a:ext cx="10963373" cy="2651760"/>
          </a:xfrm>
          <a:prstGeom prst="rect">
            <a:avLst/>
          </a:prstGeom>
        </p:spPr>
      </p:pic>
      <p:sp>
        <p:nvSpPr>
          <p:cNvPr id="5" name="Slide Number Placeholder 4">
            <a:extLst>
              <a:ext uri="{FF2B5EF4-FFF2-40B4-BE49-F238E27FC236}">
                <a16:creationId xmlns:a16="http://schemas.microsoft.com/office/drawing/2014/main" id="{9534A234-4AF1-C87C-A5D2-409858BE3514}"/>
              </a:ext>
            </a:extLst>
          </p:cNvPr>
          <p:cNvSpPr>
            <a:spLocks noGrp="1"/>
          </p:cNvSpPr>
          <p:nvPr>
            <p:ph type="sldNum" sz="quarter" idx="12"/>
          </p:nvPr>
        </p:nvSpPr>
        <p:spPr/>
        <p:txBody>
          <a:bodyPr/>
          <a:lstStyle/>
          <a:p>
            <a:fld id="{0D9DF20D-7D64-DD4E-93FD-71BB03726D71}" type="slidenum">
              <a:rPr lang="en-US" smtClean="0"/>
              <a:pPr/>
              <a:t>21</a:t>
            </a:fld>
            <a:endParaRPr lang="en-US"/>
          </a:p>
        </p:txBody>
      </p:sp>
    </p:spTree>
    <p:extLst>
      <p:ext uri="{BB962C8B-B14F-4D97-AF65-F5344CB8AC3E}">
        <p14:creationId xmlns:p14="http://schemas.microsoft.com/office/powerpoint/2010/main" val="225880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EEF8D0-A343-EE6D-DFDC-5FC3A7F7650F}"/>
              </a:ext>
            </a:extLst>
          </p:cNvPr>
          <p:cNvPicPr>
            <a:picLocks noChangeAspect="1"/>
          </p:cNvPicPr>
          <p:nvPr/>
        </p:nvPicPr>
        <p:blipFill rotWithShape="1">
          <a:blip r:embed="rId3"/>
          <a:srcRect l="24254" t="1" r="28431" b="48399"/>
          <a:stretch/>
        </p:blipFill>
        <p:spPr>
          <a:xfrm>
            <a:off x="191685" y="1168178"/>
            <a:ext cx="6681044" cy="4463769"/>
          </a:xfrm>
          <a:prstGeom prst="rect">
            <a:avLst/>
          </a:prstGeom>
        </p:spPr>
      </p:pic>
      <p:sp>
        <p:nvSpPr>
          <p:cNvPr id="6" name="TextBox 5">
            <a:extLst>
              <a:ext uri="{FF2B5EF4-FFF2-40B4-BE49-F238E27FC236}">
                <a16:creationId xmlns:a16="http://schemas.microsoft.com/office/drawing/2014/main" id="{73BEB319-0681-C3F5-425E-4AF1B6966316}"/>
              </a:ext>
            </a:extLst>
          </p:cNvPr>
          <p:cNvSpPr txBox="1"/>
          <p:nvPr/>
        </p:nvSpPr>
        <p:spPr>
          <a:xfrm>
            <a:off x="482278" y="5689822"/>
            <a:ext cx="6099858" cy="369332"/>
          </a:xfrm>
          <a:prstGeom prst="rect">
            <a:avLst/>
          </a:prstGeom>
          <a:noFill/>
        </p:spPr>
        <p:txBody>
          <a:bodyPr wrap="square">
            <a:spAutoFit/>
          </a:bodyPr>
          <a:lstStyle/>
          <a:p>
            <a:pPr algn="ctr"/>
            <a:r>
              <a:rPr lang="en-US" sz="1800" b="1" u="sng" dirty="0">
                <a:latin typeface="Arial" panose="020B0604020202020204" pitchFamily="34" charset="0"/>
                <a:ea typeface="Verdana" panose="020B0604030504040204" pitchFamily="34" charset="0"/>
                <a:cs typeface="Arial" panose="020B0604020202020204" pitchFamily="34" charset="0"/>
              </a:rPr>
              <a:t>Command palette</a:t>
            </a:r>
            <a:r>
              <a:rPr lang="en-US" sz="1800" dirty="0">
                <a:latin typeface="Arial" panose="020B0604020202020204" pitchFamily="34" charset="0"/>
                <a:ea typeface="Verdana" panose="020B0604030504040204" pitchFamily="34" charset="0"/>
                <a:cs typeface="Arial" panose="020B0604020202020204" pitchFamily="34" charset="0"/>
              </a:rPr>
              <a:t>: Command/Control + Shift + P</a:t>
            </a:r>
          </a:p>
        </p:txBody>
      </p:sp>
      <p:sp>
        <p:nvSpPr>
          <p:cNvPr id="10" name="Title 1">
            <a:extLst>
              <a:ext uri="{FF2B5EF4-FFF2-40B4-BE49-F238E27FC236}">
                <a16:creationId xmlns:a16="http://schemas.microsoft.com/office/drawing/2014/main" id="{63C613BB-9826-B43B-4B5F-59EB02CBE974}"/>
              </a:ext>
            </a:extLst>
          </p:cNvPr>
          <p:cNvSpPr txBox="1">
            <a:spLocks/>
          </p:cNvSpPr>
          <p:nvPr/>
        </p:nvSpPr>
        <p:spPr>
          <a:xfrm>
            <a:off x="115745" y="49171"/>
            <a:ext cx="371933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chemeClr val="tx1"/>
                </a:solidFill>
                <a:latin typeface=""/>
                <a:ea typeface="SF Pro Semibold" pitchFamily="2" charset="0"/>
                <a:cs typeface="SF Pro Semibold" pitchFamily="2" charset="0"/>
              </a:defRPr>
            </a:lvl1pPr>
          </a:lstStyle>
          <a:p>
            <a:r>
              <a:rPr lang="en-US" b="1" dirty="0">
                <a:solidFill>
                  <a:schemeClr val="tx2"/>
                </a:solidFill>
              </a:rPr>
              <a:t>VS Code IDE</a:t>
            </a:r>
          </a:p>
        </p:txBody>
      </p:sp>
      <p:sp>
        <p:nvSpPr>
          <p:cNvPr id="11" name="Title 1">
            <a:extLst>
              <a:ext uri="{FF2B5EF4-FFF2-40B4-BE49-F238E27FC236}">
                <a16:creationId xmlns:a16="http://schemas.microsoft.com/office/drawing/2014/main" id="{8ECB9DDD-51FC-10EB-B46E-5A89B7A7EF30}"/>
              </a:ext>
            </a:extLst>
          </p:cNvPr>
          <p:cNvSpPr txBox="1">
            <a:spLocks/>
          </p:cNvSpPr>
          <p:nvPr/>
        </p:nvSpPr>
        <p:spPr>
          <a:xfrm>
            <a:off x="7245752" y="49171"/>
            <a:ext cx="440416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chemeClr val="tx1"/>
                </a:solidFill>
                <a:latin typeface=""/>
                <a:ea typeface="SF Pro Semibold" pitchFamily="2" charset="0"/>
                <a:cs typeface="SF Pro Semibold" pitchFamily="2" charset="0"/>
              </a:defRPr>
            </a:lvl1pPr>
          </a:lstStyle>
          <a:p>
            <a:r>
              <a:rPr lang="en-US" b="1" dirty="0">
                <a:solidFill>
                  <a:schemeClr val="tx2"/>
                </a:solidFill>
              </a:rPr>
              <a:t>Terminal</a:t>
            </a:r>
          </a:p>
        </p:txBody>
      </p:sp>
      <p:pic>
        <p:nvPicPr>
          <p:cNvPr id="2" name="Picture 1">
            <a:extLst>
              <a:ext uri="{FF2B5EF4-FFF2-40B4-BE49-F238E27FC236}">
                <a16:creationId xmlns:a16="http://schemas.microsoft.com/office/drawing/2014/main" id="{C9A47A17-9930-610B-133D-D4531EAAEBA8}"/>
              </a:ext>
            </a:extLst>
          </p:cNvPr>
          <p:cNvPicPr>
            <a:picLocks noChangeAspect="1"/>
          </p:cNvPicPr>
          <p:nvPr/>
        </p:nvPicPr>
        <p:blipFill>
          <a:blip r:embed="rId4"/>
          <a:stretch>
            <a:fillRect/>
          </a:stretch>
        </p:blipFill>
        <p:spPr>
          <a:xfrm>
            <a:off x="7347512" y="1307413"/>
            <a:ext cx="6107766" cy="1024093"/>
          </a:xfrm>
          <a:prstGeom prst="rect">
            <a:avLst/>
          </a:prstGeom>
        </p:spPr>
      </p:pic>
      <p:sp>
        <p:nvSpPr>
          <p:cNvPr id="7" name="TextBox 6">
            <a:extLst>
              <a:ext uri="{FF2B5EF4-FFF2-40B4-BE49-F238E27FC236}">
                <a16:creationId xmlns:a16="http://schemas.microsoft.com/office/drawing/2014/main" id="{9101B798-8714-CF84-169F-B82C316812D4}"/>
              </a:ext>
            </a:extLst>
          </p:cNvPr>
          <p:cNvSpPr txBox="1"/>
          <p:nvPr/>
        </p:nvSpPr>
        <p:spPr>
          <a:xfrm>
            <a:off x="766303" y="6104623"/>
            <a:ext cx="5407891" cy="646331"/>
          </a:xfrm>
          <a:prstGeom prst="rect">
            <a:avLst/>
          </a:prstGeom>
          <a:noFill/>
        </p:spPr>
        <p:txBody>
          <a:bodyPr wrap="none" rtlCol="0">
            <a:spAutoFit/>
          </a:bodyPr>
          <a:lstStyle/>
          <a:p>
            <a:r>
              <a:rPr lang="en-US" dirty="0">
                <a:solidFill>
                  <a:schemeClr val="accent6"/>
                </a:solidFill>
              </a:rPr>
              <a:t>Configures the right version of Python for the entire IDE</a:t>
            </a:r>
          </a:p>
          <a:p>
            <a:pPr algn="ctr"/>
            <a:r>
              <a:rPr lang="en-US" b="1" i="1" u="sng" dirty="0">
                <a:solidFill>
                  <a:schemeClr val="accent6"/>
                </a:solidFill>
              </a:rPr>
              <a:t>Do this once!</a:t>
            </a:r>
          </a:p>
        </p:txBody>
      </p:sp>
      <p:sp>
        <p:nvSpPr>
          <p:cNvPr id="8" name="TextBox 7">
            <a:extLst>
              <a:ext uri="{FF2B5EF4-FFF2-40B4-BE49-F238E27FC236}">
                <a16:creationId xmlns:a16="http://schemas.microsoft.com/office/drawing/2014/main" id="{A292665B-9362-A2EF-5B25-CF6D8FBB7082}"/>
              </a:ext>
            </a:extLst>
          </p:cNvPr>
          <p:cNvSpPr txBox="1"/>
          <p:nvPr/>
        </p:nvSpPr>
        <p:spPr>
          <a:xfrm>
            <a:off x="7509076" y="5885499"/>
            <a:ext cx="4200646" cy="923330"/>
          </a:xfrm>
          <a:prstGeom prst="rect">
            <a:avLst/>
          </a:prstGeom>
          <a:noFill/>
        </p:spPr>
        <p:txBody>
          <a:bodyPr wrap="square" rtlCol="0">
            <a:spAutoFit/>
          </a:bodyPr>
          <a:lstStyle/>
          <a:p>
            <a:pPr algn="ctr"/>
            <a:r>
              <a:rPr lang="en-US" dirty="0">
                <a:solidFill>
                  <a:schemeClr val="accent6"/>
                </a:solidFill>
              </a:rPr>
              <a:t>Configures the right version of Python for this </a:t>
            </a:r>
            <a:r>
              <a:rPr lang="en-US" b="1" dirty="0">
                <a:solidFill>
                  <a:schemeClr val="accent6"/>
                </a:solidFill>
              </a:rPr>
              <a:t>specific</a:t>
            </a:r>
            <a:r>
              <a:rPr lang="en-US" dirty="0">
                <a:solidFill>
                  <a:schemeClr val="accent6"/>
                </a:solidFill>
              </a:rPr>
              <a:t> terminal session</a:t>
            </a:r>
          </a:p>
          <a:p>
            <a:pPr algn="ctr"/>
            <a:r>
              <a:rPr lang="en-US" b="1" i="1" u="sng" dirty="0">
                <a:solidFill>
                  <a:schemeClr val="accent6"/>
                </a:solidFill>
              </a:rPr>
              <a:t>Do this when installing packages</a:t>
            </a:r>
          </a:p>
        </p:txBody>
      </p:sp>
      <p:sp>
        <p:nvSpPr>
          <p:cNvPr id="9" name="TextBox 8">
            <a:extLst>
              <a:ext uri="{FF2B5EF4-FFF2-40B4-BE49-F238E27FC236}">
                <a16:creationId xmlns:a16="http://schemas.microsoft.com/office/drawing/2014/main" id="{948534F5-06E7-39CD-76C6-56938C56DAEB}"/>
              </a:ext>
            </a:extLst>
          </p:cNvPr>
          <p:cNvSpPr txBox="1"/>
          <p:nvPr/>
        </p:nvSpPr>
        <p:spPr>
          <a:xfrm>
            <a:off x="7245752" y="2331506"/>
            <a:ext cx="2924198" cy="276999"/>
          </a:xfrm>
          <a:prstGeom prst="rect">
            <a:avLst/>
          </a:prstGeom>
          <a:noFill/>
        </p:spPr>
        <p:txBody>
          <a:bodyPr wrap="none" rtlCol="0">
            <a:spAutoFit/>
          </a:bodyPr>
          <a:lstStyle/>
          <a:p>
            <a:r>
              <a:rPr lang="en-US" sz="1200" dirty="0">
                <a:latin typeface="Roboto" panose="02000000000000000000" pitchFamily="2" charset="0"/>
                <a:ea typeface="Roboto" panose="02000000000000000000" pitchFamily="2" charset="0"/>
                <a:cs typeface="Roboto" panose="02000000000000000000" pitchFamily="2" charset="0"/>
              </a:rPr>
              <a:t>I am activating a special env (BME2315)</a:t>
            </a:r>
          </a:p>
        </p:txBody>
      </p:sp>
      <p:sp>
        <p:nvSpPr>
          <p:cNvPr id="12" name="TextBox 11">
            <a:extLst>
              <a:ext uri="{FF2B5EF4-FFF2-40B4-BE49-F238E27FC236}">
                <a16:creationId xmlns:a16="http://schemas.microsoft.com/office/drawing/2014/main" id="{D261B0DE-7C9D-C826-C6F2-EBECC067AEF6}"/>
              </a:ext>
            </a:extLst>
          </p:cNvPr>
          <p:cNvSpPr txBox="1"/>
          <p:nvPr/>
        </p:nvSpPr>
        <p:spPr>
          <a:xfrm>
            <a:off x="7347512" y="1680959"/>
            <a:ext cx="2438488" cy="276999"/>
          </a:xfrm>
          <a:prstGeom prst="rect">
            <a:avLst/>
          </a:prstGeom>
          <a:noFill/>
        </p:spPr>
        <p:txBody>
          <a:bodyPr wrap="none" rtlCol="0">
            <a:spAutoFit/>
          </a:bodyPr>
          <a:lstStyle/>
          <a:p>
            <a:r>
              <a:rPr lang="en-US" sz="1200" dirty="0">
                <a:latin typeface="Roboto" panose="02000000000000000000" pitchFamily="2" charset="0"/>
                <a:ea typeface="Roboto" panose="02000000000000000000" pitchFamily="2" charset="0"/>
                <a:cs typeface="Roboto" panose="02000000000000000000" pitchFamily="2" charset="0"/>
              </a:rPr>
              <a:t>The </a:t>
            </a:r>
            <a:r>
              <a:rPr lang="en-US" sz="1200" i="1" dirty="0">
                <a:latin typeface="Roboto" panose="02000000000000000000" pitchFamily="2" charset="0"/>
                <a:ea typeface="Roboto" panose="02000000000000000000" pitchFamily="2" charset="0"/>
                <a:cs typeface="Roboto" panose="02000000000000000000" pitchFamily="2" charset="0"/>
              </a:rPr>
              <a:t>base</a:t>
            </a:r>
            <a:r>
              <a:rPr lang="en-US" sz="1200" dirty="0">
                <a:latin typeface="Roboto" panose="02000000000000000000" pitchFamily="2" charset="0"/>
                <a:ea typeface="Roboto" panose="02000000000000000000" pitchFamily="2" charset="0"/>
                <a:cs typeface="Roboto" panose="02000000000000000000" pitchFamily="2" charset="0"/>
              </a:rPr>
              <a:t> env is already activated</a:t>
            </a:r>
          </a:p>
        </p:txBody>
      </p:sp>
      <p:sp>
        <p:nvSpPr>
          <p:cNvPr id="13" name="TextBox 12">
            <a:extLst>
              <a:ext uri="{FF2B5EF4-FFF2-40B4-BE49-F238E27FC236}">
                <a16:creationId xmlns:a16="http://schemas.microsoft.com/office/drawing/2014/main" id="{F5881A2B-9F0A-01BD-6EBF-61C1160CD00C}"/>
              </a:ext>
            </a:extLst>
          </p:cNvPr>
          <p:cNvSpPr txBox="1"/>
          <p:nvPr/>
        </p:nvSpPr>
        <p:spPr>
          <a:xfrm>
            <a:off x="2057400" y="1190068"/>
            <a:ext cx="4174797" cy="369332"/>
          </a:xfrm>
          <a:prstGeom prst="rect">
            <a:avLst/>
          </a:prstGeom>
          <a:noFill/>
        </p:spPr>
        <p:txBody>
          <a:bodyPr wrap="none" rtlCol="0">
            <a:spAutoFit/>
          </a:bodyPr>
          <a:lstStyle/>
          <a:p>
            <a:r>
              <a:rPr lang="en-US" dirty="0">
                <a:solidFill>
                  <a:schemeClr val="accent6"/>
                </a:solidFill>
              </a:rPr>
              <a:t>Which kitchen, chef &amp; pantry do we want?</a:t>
            </a:r>
          </a:p>
        </p:txBody>
      </p:sp>
      <p:pic>
        <p:nvPicPr>
          <p:cNvPr id="14" name="Picture 13">
            <a:extLst>
              <a:ext uri="{FF2B5EF4-FFF2-40B4-BE49-F238E27FC236}">
                <a16:creationId xmlns:a16="http://schemas.microsoft.com/office/drawing/2014/main" id="{38083C79-D255-A423-D5C7-F2C15161B9F7}"/>
              </a:ext>
            </a:extLst>
          </p:cNvPr>
          <p:cNvPicPr>
            <a:picLocks noChangeAspect="1"/>
          </p:cNvPicPr>
          <p:nvPr/>
        </p:nvPicPr>
        <p:blipFill rotWithShape="1">
          <a:blip r:embed="rId5"/>
          <a:srcRect r="16040" b="66678"/>
          <a:stretch/>
        </p:blipFill>
        <p:spPr>
          <a:xfrm>
            <a:off x="7126097" y="2809112"/>
            <a:ext cx="4874218" cy="1239776"/>
          </a:xfrm>
          <a:prstGeom prst="rect">
            <a:avLst/>
          </a:prstGeom>
        </p:spPr>
      </p:pic>
      <p:sp>
        <p:nvSpPr>
          <p:cNvPr id="3" name="TextBox 2">
            <a:extLst>
              <a:ext uri="{FF2B5EF4-FFF2-40B4-BE49-F238E27FC236}">
                <a16:creationId xmlns:a16="http://schemas.microsoft.com/office/drawing/2014/main" id="{9099A9C7-F82D-B0E3-316B-D90E2A31B85A}"/>
              </a:ext>
            </a:extLst>
          </p:cNvPr>
          <p:cNvSpPr txBox="1"/>
          <p:nvPr/>
        </p:nvSpPr>
        <p:spPr>
          <a:xfrm>
            <a:off x="8417228" y="4121950"/>
            <a:ext cx="2554802" cy="646331"/>
          </a:xfrm>
          <a:prstGeom prst="rect">
            <a:avLst/>
          </a:prstGeom>
          <a:noFill/>
        </p:spPr>
        <p:txBody>
          <a:bodyPr wrap="none" rtlCol="0">
            <a:spAutoFit/>
          </a:bodyPr>
          <a:lstStyle/>
          <a:p>
            <a:r>
              <a:rPr lang="en-US" dirty="0"/>
              <a:t>“</a:t>
            </a:r>
            <a:r>
              <a:rPr lang="en-US" dirty="0" err="1"/>
              <a:t>conda</a:t>
            </a:r>
            <a:r>
              <a:rPr lang="en-US" dirty="0"/>
              <a:t> activate DS2003”</a:t>
            </a:r>
          </a:p>
          <a:p>
            <a:r>
              <a:rPr lang="en-US" dirty="0"/>
              <a:t>“source activate DS2003”</a:t>
            </a:r>
          </a:p>
        </p:txBody>
      </p:sp>
      <p:sp>
        <p:nvSpPr>
          <p:cNvPr id="5" name="Slide Number Placeholder 4">
            <a:extLst>
              <a:ext uri="{FF2B5EF4-FFF2-40B4-BE49-F238E27FC236}">
                <a16:creationId xmlns:a16="http://schemas.microsoft.com/office/drawing/2014/main" id="{ADF9644F-EBE3-40F8-50FC-B6216E58AFD0}"/>
              </a:ext>
            </a:extLst>
          </p:cNvPr>
          <p:cNvSpPr>
            <a:spLocks noGrp="1"/>
          </p:cNvSpPr>
          <p:nvPr>
            <p:ph type="sldNum" sz="quarter" idx="12"/>
          </p:nvPr>
        </p:nvSpPr>
        <p:spPr/>
        <p:txBody>
          <a:bodyPr/>
          <a:lstStyle/>
          <a:p>
            <a:fld id="{0D9DF20D-7D64-DD4E-93FD-71BB03726D71}" type="slidenum">
              <a:rPr lang="en-US" smtClean="0"/>
              <a:t>22</a:t>
            </a:fld>
            <a:endParaRPr lang="en-US"/>
          </a:p>
        </p:txBody>
      </p:sp>
    </p:spTree>
    <p:extLst>
      <p:ext uri="{BB962C8B-B14F-4D97-AF65-F5344CB8AC3E}">
        <p14:creationId xmlns:p14="http://schemas.microsoft.com/office/powerpoint/2010/main" val="75243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1"/>
      <p:bldP spid="8" grpId="0"/>
      <p:bldP spid="9" grpId="0"/>
      <p:bldP spid="12" grpId="0"/>
      <p:bldP spid="13"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B0D319F-8D2A-A4C1-BCDE-D93342D52711}"/>
              </a:ext>
            </a:extLst>
          </p:cNvPr>
          <p:cNvSpPr>
            <a:spLocks noGrp="1"/>
          </p:cNvSpPr>
          <p:nvPr>
            <p:ph type="sldNum" sz="quarter" idx="12"/>
          </p:nvPr>
        </p:nvSpPr>
        <p:spPr/>
        <p:txBody>
          <a:bodyPr/>
          <a:lstStyle/>
          <a:p>
            <a:fld id="{0D9DF20D-7D64-DD4E-93FD-71BB03726D71}" type="slidenum">
              <a:rPr lang="en-US" smtClean="0"/>
              <a:pPr/>
              <a:t>23</a:t>
            </a:fld>
            <a:endParaRPr lang="en-US"/>
          </a:p>
        </p:txBody>
      </p:sp>
      <p:sp>
        <p:nvSpPr>
          <p:cNvPr id="2" name="Title 1">
            <a:extLst>
              <a:ext uri="{FF2B5EF4-FFF2-40B4-BE49-F238E27FC236}">
                <a16:creationId xmlns:a16="http://schemas.microsoft.com/office/drawing/2014/main" id="{B8953EFD-B04A-73F8-8AC2-71C055839EF1}"/>
              </a:ext>
            </a:extLst>
          </p:cNvPr>
          <p:cNvSpPr>
            <a:spLocks noGrp="1"/>
          </p:cNvSpPr>
          <p:nvPr>
            <p:ph type="title" idx="4294967295"/>
          </p:nvPr>
        </p:nvSpPr>
        <p:spPr>
          <a:xfrm>
            <a:off x="0" y="382588"/>
            <a:ext cx="5965825" cy="1261544"/>
          </a:xfrm>
        </p:spPr>
        <p:txBody>
          <a:bodyPr/>
          <a:lstStyle/>
          <a:p>
            <a:r>
              <a:rPr lang="en-US" dirty="0"/>
              <a:t>Let’s practice!</a:t>
            </a:r>
          </a:p>
        </p:txBody>
      </p:sp>
      <p:sp>
        <p:nvSpPr>
          <p:cNvPr id="3" name="Text Placeholder 2">
            <a:extLst>
              <a:ext uri="{FF2B5EF4-FFF2-40B4-BE49-F238E27FC236}">
                <a16:creationId xmlns:a16="http://schemas.microsoft.com/office/drawing/2014/main" id="{9BF01DE4-0718-9909-92CF-EEF3958BAB23}"/>
              </a:ext>
            </a:extLst>
          </p:cNvPr>
          <p:cNvSpPr>
            <a:spLocks noGrp="1"/>
          </p:cNvSpPr>
          <p:nvPr>
            <p:ph type="body" idx="4294967295"/>
          </p:nvPr>
        </p:nvSpPr>
        <p:spPr>
          <a:xfrm>
            <a:off x="175549" y="1644131"/>
            <a:ext cx="11840901" cy="5077343"/>
          </a:xfrm>
        </p:spPr>
        <p:txBody>
          <a:bodyPr>
            <a:normAutofit fontScale="92500"/>
          </a:bodyPr>
          <a:lstStyle/>
          <a:p>
            <a:pPr marL="0" indent="0">
              <a:lnSpc>
                <a:spcPct val="120000"/>
              </a:lnSpc>
              <a:spcBef>
                <a:spcPts val="0"/>
              </a:spcBef>
              <a:buNone/>
            </a:pPr>
            <a:r>
              <a:rPr lang="en-US" sz="2000" dirty="0">
                <a:latin typeface="Aptos" panose="020B0004020202020204" pitchFamily="34" charset="0"/>
              </a:rPr>
              <a:t>1. Using the </a:t>
            </a:r>
            <a:r>
              <a:rPr lang="en-US" sz="2000" b="1" u="sng" dirty="0">
                <a:latin typeface="Aptos" panose="020B0004020202020204" pitchFamily="34" charset="0"/>
              </a:rPr>
              <a:t>terminal</a:t>
            </a:r>
            <a:r>
              <a:rPr lang="en-US" sz="2000" dirty="0">
                <a:latin typeface="Aptos" panose="020B0004020202020204" pitchFamily="34" charset="0"/>
              </a:rPr>
              <a:t> (in VS code, anaconda prompt, or terminal), make a </a:t>
            </a:r>
            <a:r>
              <a:rPr lang="en-US" sz="2000" dirty="0" err="1">
                <a:latin typeface="Aptos" panose="020B0004020202020204" pitchFamily="34" charset="0"/>
              </a:rPr>
              <a:t>conda</a:t>
            </a:r>
            <a:r>
              <a:rPr lang="en-US" sz="2000" dirty="0">
                <a:latin typeface="Aptos" panose="020B0004020202020204" pitchFamily="34" charset="0"/>
              </a:rPr>
              <a:t> environment and activate it:</a:t>
            </a:r>
          </a:p>
          <a:p>
            <a:pPr marL="0" indent="0">
              <a:lnSpc>
                <a:spcPct val="120000"/>
              </a:lnSpc>
              <a:spcBef>
                <a:spcPts val="0"/>
              </a:spcBef>
              <a:buNone/>
            </a:pP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conda</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 create --name PAX6_grn_env python=3.12 </a:t>
            </a:r>
          </a:p>
          <a:p>
            <a:pPr marL="0" indent="0">
              <a:lnSpc>
                <a:spcPct val="120000"/>
              </a:lnSpc>
              <a:spcBef>
                <a:spcPts val="0"/>
              </a:spcBef>
              <a:buNone/>
            </a:pP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conda</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 </a:t>
            </a:r>
            <a:r>
              <a:rPr lang="en-US" sz="2000">
                <a:solidFill>
                  <a:schemeClr val="accent6"/>
                </a:solidFill>
                <a:latin typeface="Menlo" panose="020B0609030804020204" pitchFamily="49" charset="0"/>
                <a:ea typeface="Menlo" panose="020B0609030804020204" pitchFamily="49" charset="0"/>
                <a:cs typeface="Menlo" panose="020B0609030804020204" pitchFamily="49" charset="0"/>
              </a:rPr>
              <a:t>activate PAX6_grn_env </a:t>
            </a:r>
            <a:endPar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pPr marL="0" indent="0">
              <a:lnSpc>
                <a:spcPct val="120000"/>
              </a:lnSpc>
              <a:spcBef>
                <a:spcPts val="0"/>
              </a:spcBef>
              <a:buNone/>
            </a:pPr>
            <a:r>
              <a:rPr lang="en-US" sz="2000" dirty="0">
                <a:latin typeface="Aptos" panose="020B0004020202020204" pitchFamily="34" charset="0"/>
                <a:ea typeface="Menlo" panose="020B0609030804020204" pitchFamily="49" charset="0"/>
                <a:cs typeface="Menlo" panose="020B0609030804020204" pitchFamily="49" charset="0"/>
              </a:rPr>
              <a:t>2. Add important packages from pip:</a:t>
            </a:r>
          </a:p>
          <a:p>
            <a:pPr marL="0" indent="0">
              <a:lnSpc>
                <a:spcPct val="120000"/>
              </a:lnSpc>
              <a:spcBef>
                <a:spcPts val="0"/>
              </a:spcBef>
              <a:buNone/>
            </a:pP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pip install pandas </a:t>
            </a: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numpy</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scipy</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ipykernel</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 matplotlib seaborn </a:t>
            </a:r>
            <a:r>
              <a:rPr lang="en-US" sz="2000" dirty="0" err="1">
                <a:solidFill>
                  <a:schemeClr val="accent6"/>
                </a:solidFill>
                <a:latin typeface="Menlo" panose="020B0609030804020204" pitchFamily="49" charset="0"/>
                <a:ea typeface="Menlo" panose="020B0609030804020204" pitchFamily="49" charset="0"/>
                <a:cs typeface="Menlo" panose="020B0609030804020204" pitchFamily="49" charset="0"/>
              </a:rPr>
              <a:t>plotly</a:t>
            </a:r>
            <a:endPar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pPr marL="0" indent="0">
              <a:lnSpc>
                <a:spcPct val="120000"/>
              </a:lnSpc>
              <a:spcBef>
                <a:spcPts val="0"/>
              </a:spcBef>
              <a:buNone/>
            </a:pPr>
            <a:endPar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pPr marL="0" indent="0">
              <a:lnSpc>
                <a:spcPct val="120000"/>
              </a:lnSpc>
              <a:spcBef>
                <a:spcPts val="0"/>
              </a:spcBef>
              <a:buNone/>
            </a:pPr>
            <a:endPar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pPr marL="0" indent="0">
              <a:lnSpc>
                <a:spcPct val="120000"/>
              </a:lnSpc>
              <a:spcBef>
                <a:spcPts val="0"/>
              </a:spcBef>
              <a:buNone/>
            </a:pPr>
            <a:r>
              <a:rPr lang="en-US" sz="2000" dirty="0">
                <a:latin typeface="Aptos" panose="020B0004020202020204" pitchFamily="34" charset="0"/>
                <a:ea typeface="Menlo" panose="020B0609030804020204" pitchFamily="49" charset="0"/>
                <a:cs typeface="Menlo" panose="020B0609030804020204" pitchFamily="49" charset="0"/>
              </a:rPr>
              <a:t>3. </a:t>
            </a:r>
            <a:r>
              <a:rPr lang="en-US" sz="2000" dirty="0">
                <a:latin typeface="Aptos" panose="020B0004020202020204" pitchFamily="34" charset="0"/>
              </a:rPr>
              <a:t>Using the </a:t>
            </a:r>
            <a:r>
              <a:rPr lang="en-US" sz="2000" b="1" u="sng" dirty="0">
                <a:latin typeface="Aptos" panose="020B0004020202020204" pitchFamily="34" charset="0"/>
              </a:rPr>
              <a:t>command palette in VS code</a:t>
            </a:r>
            <a:r>
              <a:rPr lang="en-US" sz="2000" dirty="0">
                <a:latin typeface="Aptos" panose="020B0004020202020204" pitchFamily="34" charset="0"/>
              </a:rPr>
              <a:t> (</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Command/Control + Shift + P</a:t>
            </a:r>
            <a:r>
              <a:rPr lang="en-US" sz="2000" dirty="0">
                <a:latin typeface="Arial" panose="020B0604020202020204" pitchFamily="34" charset="0"/>
                <a:ea typeface="Verdana" panose="020B0604030504040204" pitchFamily="34" charset="0"/>
                <a:cs typeface="Arial" panose="020B0604020202020204" pitchFamily="34" charset="0"/>
              </a:rPr>
              <a:t>)</a:t>
            </a:r>
            <a:r>
              <a:rPr lang="en-US" sz="2000" dirty="0">
                <a:latin typeface="Aptos" panose="020B0004020202020204" pitchFamily="34" charset="0"/>
              </a:rPr>
              <a:t>, select the base environment in VS code: </a:t>
            </a:r>
          </a:p>
          <a:p>
            <a:pPr marL="0" indent="0">
              <a:lnSpc>
                <a:spcPct val="120000"/>
              </a:lnSpc>
              <a:spcBef>
                <a:spcPts val="0"/>
              </a:spcBef>
              <a:buNone/>
            </a:pP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Python: Select Interpreter </a:t>
            </a:r>
            <a:r>
              <a:rPr lang="en-US" sz="2000" dirty="0">
                <a:latin typeface="Aptos" panose="020B0004020202020204" pitchFamily="34" charset="0"/>
              </a:rPr>
              <a:t>&gt; choose </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(DS2003)</a:t>
            </a:r>
          </a:p>
          <a:p>
            <a:pPr marL="0" indent="0">
              <a:lnSpc>
                <a:spcPct val="120000"/>
              </a:lnSpc>
              <a:spcBef>
                <a:spcPts val="0"/>
              </a:spcBef>
              <a:buNone/>
            </a:pPr>
            <a:r>
              <a:rPr lang="en-US" sz="2000" dirty="0">
                <a:latin typeface="Aptos" panose="020B0004020202020204" pitchFamily="34" charset="0"/>
              </a:rPr>
              <a:t>4. Open the Lab, click on </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Select Kernel</a:t>
            </a:r>
            <a:r>
              <a:rPr lang="en-US" sz="2000" dirty="0">
                <a:latin typeface="Aptos" panose="020B0004020202020204" pitchFamily="34" charset="0"/>
              </a:rPr>
              <a:t> in the top right corner, and pick </a:t>
            </a:r>
            <a:r>
              <a:rPr lang="en-US" sz="2000" dirty="0">
                <a:solidFill>
                  <a:schemeClr val="accent6"/>
                </a:solidFill>
                <a:latin typeface="Menlo" panose="020B0609030804020204" pitchFamily="49" charset="0"/>
                <a:ea typeface="Menlo" panose="020B0609030804020204" pitchFamily="49" charset="0"/>
                <a:cs typeface="Menlo" panose="020B0609030804020204" pitchFamily="49" charset="0"/>
              </a:rPr>
              <a:t>(Python environments &gt; DS2003)</a:t>
            </a:r>
          </a:p>
          <a:p>
            <a:pPr marL="0" indent="0">
              <a:lnSpc>
                <a:spcPct val="120000"/>
              </a:lnSpc>
              <a:spcBef>
                <a:spcPts val="0"/>
              </a:spcBef>
              <a:buNone/>
            </a:pPr>
            <a:endParaRPr lang="en-US" sz="2400" dirty="0">
              <a:latin typeface="Aptos" panose="020B0004020202020204" pitchFamily="34" charset="0"/>
            </a:endParaRPr>
          </a:p>
          <a:p>
            <a:pPr marL="0" indent="0">
              <a:lnSpc>
                <a:spcPct val="120000"/>
              </a:lnSpc>
              <a:spcBef>
                <a:spcPts val="0"/>
              </a:spcBef>
              <a:buNone/>
            </a:pPr>
            <a:r>
              <a:rPr lang="en-US" sz="2400" dirty="0">
                <a:latin typeface="Aptos" panose="020B0004020202020204" pitchFamily="34" charset="0"/>
              </a:rPr>
              <a:t>Stand your name card up on its edge when you are done. Raise your hand for help! </a:t>
            </a:r>
          </a:p>
        </p:txBody>
      </p:sp>
    </p:spTree>
    <p:extLst>
      <p:ext uri="{BB962C8B-B14F-4D97-AF65-F5344CB8AC3E}">
        <p14:creationId xmlns:p14="http://schemas.microsoft.com/office/powerpoint/2010/main" val="4229947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5428B-EB93-CFE2-0982-0E81C7DB27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2016D4-B850-035B-DC59-29B370C80732}"/>
              </a:ext>
            </a:extLst>
          </p:cNvPr>
          <p:cNvSpPr>
            <a:spLocks noGrp="1"/>
          </p:cNvSpPr>
          <p:nvPr>
            <p:ph type="sldNum" sz="quarter" idx="12"/>
          </p:nvPr>
        </p:nvSpPr>
        <p:spPr/>
        <p:txBody>
          <a:bodyPr/>
          <a:lstStyle/>
          <a:p>
            <a:fld id="{0D9DF20D-7D64-DD4E-93FD-71BB03726D71}" type="slidenum">
              <a:rPr lang="en-US" smtClean="0"/>
              <a:pPr/>
              <a:t>24</a:t>
            </a:fld>
            <a:endParaRPr lang="en-US"/>
          </a:p>
        </p:txBody>
      </p:sp>
      <p:pic>
        <p:nvPicPr>
          <p:cNvPr id="7" name="Picture 6">
            <a:extLst>
              <a:ext uri="{FF2B5EF4-FFF2-40B4-BE49-F238E27FC236}">
                <a16:creationId xmlns:a16="http://schemas.microsoft.com/office/drawing/2014/main" id="{54B99C38-8EDA-87BF-2AE5-EB9D52A8C1CA}"/>
              </a:ext>
            </a:extLst>
          </p:cNvPr>
          <p:cNvPicPr>
            <a:picLocks noChangeAspect="1"/>
          </p:cNvPicPr>
          <p:nvPr/>
        </p:nvPicPr>
        <p:blipFill>
          <a:blip r:embed="rId2"/>
          <a:stretch>
            <a:fillRect/>
          </a:stretch>
        </p:blipFill>
        <p:spPr>
          <a:xfrm>
            <a:off x="4288172" y="743673"/>
            <a:ext cx="3049045" cy="5370653"/>
          </a:xfrm>
          <a:prstGeom prst="rect">
            <a:avLst/>
          </a:prstGeom>
        </p:spPr>
      </p:pic>
      <p:sp>
        <p:nvSpPr>
          <p:cNvPr id="8" name="TextBox 7">
            <a:extLst>
              <a:ext uri="{FF2B5EF4-FFF2-40B4-BE49-F238E27FC236}">
                <a16:creationId xmlns:a16="http://schemas.microsoft.com/office/drawing/2014/main" id="{5E842D0F-78C7-C6F4-BCFB-71EEC2D43B35}"/>
              </a:ext>
            </a:extLst>
          </p:cNvPr>
          <p:cNvSpPr txBox="1"/>
          <p:nvPr/>
        </p:nvSpPr>
        <p:spPr>
          <a:xfrm>
            <a:off x="4534940" y="374341"/>
            <a:ext cx="2555508" cy="369332"/>
          </a:xfrm>
          <a:prstGeom prst="rect">
            <a:avLst/>
          </a:prstGeom>
          <a:noFill/>
        </p:spPr>
        <p:txBody>
          <a:bodyPr wrap="none" rtlCol="0">
            <a:spAutoFit/>
          </a:bodyPr>
          <a:lstStyle/>
          <a:p>
            <a:r>
              <a:rPr lang="en-US" dirty="0"/>
              <a:t>A positive feedback loop!</a:t>
            </a:r>
          </a:p>
        </p:txBody>
      </p:sp>
      <p:sp>
        <p:nvSpPr>
          <p:cNvPr id="9" name="TextBox 8">
            <a:extLst>
              <a:ext uri="{FF2B5EF4-FFF2-40B4-BE49-F238E27FC236}">
                <a16:creationId xmlns:a16="http://schemas.microsoft.com/office/drawing/2014/main" id="{79A3BE36-3BB0-EDA5-4D0B-8B16972198DF}"/>
              </a:ext>
            </a:extLst>
          </p:cNvPr>
          <p:cNvSpPr txBox="1"/>
          <p:nvPr/>
        </p:nvSpPr>
        <p:spPr>
          <a:xfrm>
            <a:off x="0" y="6550223"/>
            <a:ext cx="1596847" cy="276999"/>
          </a:xfrm>
          <a:prstGeom prst="rect">
            <a:avLst/>
          </a:prstGeom>
          <a:noFill/>
        </p:spPr>
        <p:txBody>
          <a:bodyPr wrap="none" rtlCol="0">
            <a:spAutoFit/>
          </a:bodyPr>
          <a:lstStyle/>
          <a:p>
            <a:r>
              <a:rPr lang="en-US" sz="1200" dirty="0"/>
              <a:t>Adapted from Uri Alon</a:t>
            </a:r>
          </a:p>
        </p:txBody>
      </p:sp>
      <p:sp>
        <p:nvSpPr>
          <p:cNvPr id="2" name="TextBox 1">
            <a:extLst>
              <a:ext uri="{FF2B5EF4-FFF2-40B4-BE49-F238E27FC236}">
                <a16:creationId xmlns:a16="http://schemas.microsoft.com/office/drawing/2014/main" id="{AAD0CC60-37B0-5DA6-5F7C-D0AEEAE17AD4}"/>
              </a:ext>
            </a:extLst>
          </p:cNvPr>
          <p:cNvSpPr txBox="1"/>
          <p:nvPr/>
        </p:nvSpPr>
        <p:spPr>
          <a:xfrm>
            <a:off x="448312" y="1800275"/>
            <a:ext cx="3487081" cy="2862322"/>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en-US" dirty="0"/>
              <a:t>I fully expect problems with computers</a:t>
            </a:r>
          </a:p>
          <a:p>
            <a:pPr marL="285750" indent="-285750">
              <a:buFont typeface="Arial" panose="020B0604020202020204" pitchFamily="34" charset="0"/>
              <a:buChar char="•"/>
            </a:pPr>
            <a:r>
              <a:rPr lang="en-US" dirty="0"/>
              <a:t>Everyone’s computer is set up in a different way</a:t>
            </a:r>
          </a:p>
          <a:p>
            <a:pPr marL="285750" indent="-285750">
              <a:buFont typeface="Arial" panose="020B0604020202020204" pitchFamily="34" charset="0"/>
              <a:buChar char="•"/>
            </a:pPr>
            <a:r>
              <a:rPr lang="en-US" dirty="0"/>
              <a:t>If you did not get your setup done, please see me after class or email me! </a:t>
            </a:r>
          </a:p>
          <a:p>
            <a:pPr marL="285750" indent="-285750">
              <a:buFont typeface="Arial" panose="020B0604020202020204" pitchFamily="34" charset="0"/>
              <a:buChar char="•"/>
            </a:pPr>
            <a:r>
              <a:rPr lang="en-US" dirty="0"/>
              <a:t>Most likely you did not mess something up and I can help you figure out what went wrong</a:t>
            </a:r>
          </a:p>
        </p:txBody>
      </p:sp>
    </p:spTree>
    <p:extLst>
      <p:ext uri="{BB962C8B-B14F-4D97-AF65-F5344CB8AC3E}">
        <p14:creationId xmlns:p14="http://schemas.microsoft.com/office/powerpoint/2010/main" val="3927261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9479-6156-2D4F-3220-8A168B3971AA}"/>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F2DE2B5C-9261-2A0B-96D2-3A7B3AB15326}"/>
              </a:ext>
            </a:extLst>
          </p:cNvPr>
          <p:cNvSpPr>
            <a:spLocks noGrp="1"/>
          </p:cNvSpPr>
          <p:nvPr>
            <p:ph idx="1"/>
          </p:nvPr>
        </p:nvSpPr>
        <p:spPr/>
        <p:txBody>
          <a:bodyPr/>
          <a:lstStyle/>
          <a:p>
            <a:r>
              <a:rPr lang="en-US" dirty="0"/>
              <a:t>You may work with others, but please add all of their names</a:t>
            </a:r>
          </a:p>
          <a:p>
            <a:r>
              <a:rPr lang="en-US" dirty="0"/>
              <a:t>You may use </a:t>
            </a:r>
            <a:r>
              <a:rPr lang="en-US" dirty="0" err="1"/>
              <a:t>genAI</a:t>
            </a:r>
            <a:r>
              <a:rPr lang="en-US" dirty="0"/>
              <a:t>, but you must </a:t>
            </a:r>
            <a:r>
              <a:rPr lang="en-US" i="1" dirty="0"/>
              <a:t>cite</a:t>
            </a:r>
            <a:r>
              <a:rPr lang="en-US" dirty="0"/>
              <a:t> it</a:t>
            </a:r>
          </a:p>
          <a:p>
            <a:pPr lvl="1"/>
            <a:r>
              <a:rPr lang="en-US" dirty="0"/>
              <a:t>You are also accountable for all code and writing in the labs</a:t>
            </a:r>
          </a:p>
          <a:p>
            <a:r>
              <a:rPr lang="en-US" dirty="0"/>
              <a:t>This lab is due by </a:t>
            </a:r>
            <a:r>
              <a:rPr lang="en-US" dirty="0">
                <a:solidFill>
                  <a:schemeClr val="accent6"/>
                </a:solidFill>
              </a:rPr>
              <a:t>Sunday at midnight </a:t>
            </a:r>
          </a:p>
        </p:txBody>
      </p:sp>
      <p:sp>
        <p:nvSpPr>
          <p:cNvPr id="4" name="Slide Number Placeholder 3">
            <a:extLst>
              <a:ext uri="{FF2B5EF4-FFF2-40B4-BE49-F238E27FC236}">
                <a16:creationId xmlns:a16="http://schemas.microsoft.com/office/drawing/2014/main" id="{91CDB022-467D-7A6D-FCDC-59BFED9CDC98}"/>
              </a:ext>
            </a:extLst>
          </p:cNvPr>
          <p:cNvSpPr>
            <a:spLocks noGrp="1"/>
          </p:cNvSpPr>
          <p:nvPr>
            <p:ph type="sldNum" sz="quarter" idx="12"/>
          </p:nvPr>
        </p:nvSpPr>
        <p:spPr/>
        <p:txBody>
          <a:bodyPr/>
          <a:lstStyle/>
          <a:p>
            <a:fld id="{0D9DF20D-7D64-DD4E-93FD-71BB03726D71}" type="slidenum">
              <a:rPr lang="en-US" smtClean="0"/>
              <a:pPr/>
              <a:t>25</a:t>
            </a:fld>
            <a:endParaRPr lang="en-US"/>
          </a:p>
        </p:txBody>
      </p:sp>
    </p:spTree>
    <p:extLst>
      <p:ext uri="{BB962C8B-B14F-4D97-AF65-F5344CB8AC3E}">
        <p14:creationId xmlns:p14="http://schemas.microsoft.com/office/powerpoint/2010/main" val="1210972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
  <TotalTime>18231</TotalTime>
  <Words>1874</Words>
  <Application>Microsoft Macintosh PowerPoint</Application>
  <PresentationFormat>Widescreen</PresentationFormat>
  <Paragraphs>253</Paragraphs>
  <Slides>25</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vt:lpstr>
      <vt:lpstr>Arial</vt:lpstr>
      <vt:lpstr>Calibri</vt:lpstr>
      <vt:lpstr>EB Garamond</vt:lpstr>
      <vt:lpstr>Google Sans</vt:lpstr>
      <vt:lpstr>Lato</vt:lpstr>
      <vt:lpstr>Menlo</vt:lpstr>
      <vt:lpstr>Roboto</vt:lpstr>
      <vt:lpstr>SF Pro Heavy</vt:lpstr>
      <vt:lpstr>SF Pro Semibold</vt:lpstr>
      <vt:lpstr>Office Theme</vt:lpstr>
      <vt:lpstr>Data is ART</vt:lpstr>
      <vt:lpstr>Two Kinds of Visualization</vt:lpstr>
      <vt:lpstr>This structure of this course follows this pattern  The first half will focus on exploratory data visualization  The second half will focus on explanatory  storytelling and infographics </vt:lpstr>
      <vt:lpstr>To explore data, we often need to code</vt:lpstr>
      <vt:lpstr>PowerPoint Presentation</vt:lpstr>
      <vt:lpstr>Introduction to Coding in Python</vt:lpstr>
      <vt:lpstr>PowerPoint Presentation</vt:lpstr>
      <vt:lpstr>How do coding tools fit together?</vt:lpstr>
      <vt:lpstr>Folder Organization: The recipe book</vt:lpstr>
      <vt:lpstr>Python interpreter:  The Chef</vt:lpstr>
      <vt:lpstr>Terminal &amp; Command Prompt: The Order Counter</vt:lpstr>
      <vt:lpstr>The Restaurant: The Big Picture</vt:lpstr>
      <vt:lpstr>VS Code &amp; Integrated Development Environments: The Restaurant</vt:lpstr>
      <vt:lpstr>PowerPoint Presentation</vt:lpstr>
      <vt:lpstr>Let’s practice!</vt:lpstr>
      <vt:lpstr>VS Code IDE</vt:lpstr>
      <vt:lpstr>Let’s practice!</vt:lpstr>
      <vt:lpstr>PowerPoint Presentation</vt:lpstr>
      <vt:lpstr>Anaconda: The supplier &amp; pantry  Conda environments:  The kitchens</vt:lpstr>
      <vt:lpstr>The Restaurant: The Big Picture</vt:lpstr>
      <vt:lpstr>Importing packages (adding food to the pantry)</vt:lpstr>
      <vt:lpstr>PowerPoint Presentation</vt:lpstr>
      <vt:lpstr>Let’s practice!</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Coding with Python</dc:title>
  <dc:creator>Microsoft Office User</dc:creator>
  <cp:lastModifiedBy>Groves, Sarah</cp:lastModifiedBy>
  <cp:revision>381</cp:revision>
  <dcterms:created xsi:type="dcterms:W3CDTF">2025-12-30T19:01:21Z</dcterms:created>
  <dcterms:modified xsi:type="dcterms:W3CDTF">2026-09-08T18:22:34Z</dcterms:modified>
</cp:coreProperties>
</file>