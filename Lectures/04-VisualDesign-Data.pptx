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466" r:id="rId2"/>
    <p:sldId id="467" r:id="rId3"/>
    <p:sldId id="468" r:id="rId4"/>
    <p:sldId id="469" r:id="rId5"/>
    <p:sldId id="454" r:id="rId6"/>
    <p:sldId id="470" r:id="rId7"/>
    <p:sldId id="471" r:id="rId8"/>
    <p:sldId id="256" r:id="rId9"/>
    <p:sldId id="259" r:id="rId10"/>
    <p:sldId id="266" r:id="rId11"/>
    <p:sldId id="267" r:id="rId12"/>
    <p:sldId id="257" r:id="rId13"/>
    <p:sldId id="459" r:id="rId14"/>
    <p:sldId id="260" r:id="rId15"/>
    <p:sldId id="261" r:id="rId16"/>
    <p:sldId id="262" r:id="rId17"/>
    <p:sldId id="430" r:id="rId18"/>
    <p:sldId id="431" r:id="rId19"/>
    <p:sldId id="265" r:id="rId20"/>
    <p:sldId id="460" r:id="rId21"/>
    <p:sldId id="461" r:id="rId22"/>
    <p:sldId id="432" r:id="rId23"/>
    <p:sldId id="433" r:id="rId24"/>
    <p:sldId id="464" r:id="rId25"/>
    <p:sldId id="434" r:id="rId26"/>
    <p:sldId id="435" r:id="rId27"/>
    <p:sldId id="436" r:id="rId28"/>
    <p:sldId id="462" r:id="rId29"/>
    <p:sldId id="463" r:id="rId30"/>
    <p:sldId id="273" r:id="rId31"/>
    <p:sldId id="274" r:id="rId32"/>
    <p:sldId id="275" r:id="rId33"/>
    <p:sldId id="276" r:id="rId34"/>
    <p:sldId id="444" r:id="rId35"/>
    <p:sldId id="445" r:id="rId36"/>
    <p:sldId id="268" r:id="rId37"/>
    <p:sldId id="448" r:id="rId38"/>
    <p:sldId id="449" r:id="rId39"/>
    <p:sldId id="450" r:id="rId40"/>
    <p:sldId id="451" r:id="rId41"/>
    <p:sldId id="472" r:id="rId42"/>
    <p:sldId id="457" r:id="rId43"/>
    <p:sldId id="455" r:id="rId44"/>
    <p:sldId id="465" r:id="rId45"/>
    <p:sldId id="458"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nnah Bako" initials="H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B4EE54-D6B1-FA4B-97B4-E1C5064313B8}" v="37" dt="2026-01-24T22:14:35.52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21"/>
    <p:restoredTop sz="78498"/>
  </p:normalViewPr>
  <p:slideViewPr>
    <p:cSldViewPr snapToGrid="0">
      <p:cViewPr varScale="1">
        <p:scale>
          <a:sx n="52" d="100"/>
          <a:sy n="52" d="100"/>
        </p:scale>
        <p:origin x="62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ko, Hannah (znf3ft)" userId="924d98da-1223-44d8-a077-e3bcce5ad882" providerId="ADAL" clId="{077658EA-3E5E-5D35-9C0C-E503AACADC5F}"/>
    <pc:docChg chg="undo custSel addSld delSld modSld">
      <pc:chgData name="Bako, Hannah (znf3ft)" userId="924d98da-1223-44d8-a077-e3bcce5ad882" providerId="ADAL" clId="{077658EA-3E5E-5D35-9C0C-E503AACADC5F}" dt="2026-01-26T16:56:44.731" v="3066" actId="729"/>
      <pc:docMkLst>
        <pc:docMk/>
      </pc:docMkLst>
      <pc:sldChg chg="del mod modShow">
        <pc:chgData name="Bako, Hannah (znf3ft)" userId="924d98da-1223-44d8-a077-e3bcce5ad882" providerId="ADAL" clId="{077658EA-3E5E-5D35-9C0C-E503AACADC5F}" dt="2026-01-26T02:17:41.421" v="3060" actId="2696"/>
        <pc:sldMkLst>
          <pc:docMk/>
          <pc:sldMk cId="0" sldId="260"/>
        </pc:sldMkLst>
      </pc:sldChg>
      <pc:sldChg chg="del mod modShow">
        <pc:chgData name="Bako, Hannah (znf3ft)" userId="924d98da-1223-44d8-a077-e3bcce5ad882" providerId="ADAL" clId="{077658EA-3E5E-5D35-9C0C-E503AACADC5F}" dt="2026-01-26T02:17:41.423" v="3061" actId="2696"/>
        <pc:sldMkLst>
          <pc:docMk/>
          <pc:sldMk cId="0" sldId="261"/>
        </pc:sldMkLst>
      </pc:sldChg>
      <pc:sldChg chg="del mod modShow">
        <pc:chgData name="Bako, Hannah (znf3ft)" userId="924d98da-1223-44d8-a077-e3bcce5ad882" providerId="ADAL" clId="{077658EA-3E5E-5D35-9C0C-E503AACADC5F}" dt="2026-01-26T02:17:41.425" v="3062" actId="2696"/>
        <pc:sldMkLst>
          <pc:docMk/>
          <pc:sldMk cId="0" sldId="262"/>
        </pc:sldMkLst>
      </pc:sldChg>
      <pc:sldChg chg="del mod modShow">
        <pc:chgData name="Bako, Hannah (znf3ft)" userId="924d98da-1223-44d8-a077-e3bcce5ad882" providerId="ADAL" clId="{077658EA-3E5E-5D35-9C0C-E503AACADC5F}" dt="2026-01-26T02:17:41.426" v="3063" actId="2696"/>
        <pc:sldMkLst>
          <pc:docMk/>
          <pc:sldMk cId="0" sldId="263"/>
        </pc:sldMkLst>
      </pc:sldChg>
      <pc:sldChg chg="del mod modShow">
        <pc:chgData name="Bako, Hannah (znf3ft)" userId="924d98da-1223-44d8-a077-e3bcce5ad882" providerId="ADAL" clId="{077658EA-3E5E-5D35-9C0C-E503AACADC5F}" dt="2026-01-26T02:17:41.429" v="3064" actId="2696"/>
        <pc:sldMkLst>
          <pc:docMk/>
          <pc:sldMk cId="0" sldId="264"/>
        </pc:sldMkLst>
      </pc:sldChg>
      <pc:sldChg chg="modNotesTx">
        <pc:chgData name="Bako, Hannah (znf3ft)" userId="924d98da-1223-44d8-a077-e3bcce5ad882" providerId="ADAL" clId="{077658EA-3E5E-5D35-9C0C-E503AACADC5F}" dt="2026-01-24T21:57:42.663" v="1684" actId="113"/>
        <pc:sldMkLst>
          <pc:docMk/>
          <pc:sldMk cId="4195469433" sldId="268"/>
        </pc:sldMkLst>
      </pc:sldChg>
      <pc:sldChg chg="addSp delSp modSp mod delAnim modAnim">
        <pc:chgData name="Bako, Hannah (znf3ft)" userId="924d98da-1223-44d8-a077-e3bcce5ad882" providerId="ADAL" clId="{077658EA-3E5E-5D35-9C0C-E503AACADC5F}" dt="2026-01-24T22:05:18.962" v="2523" actId="21"/>
        <pc:sldMkLst>
          <pc:docMk/>
          <pc:sldMk cId="185897965" sldId="270"/>
        </pc:sldMkLst>
      </pc:sldChg>
      <pc:sldChg chg="addSp delSp modSp mod delAnim modAnim">
        <pc:chgData name="Bako, Hannah (znf3ft)" userId="924d98da-1223-44d8-a077-e3bcce5ad882" providerId="ADAL" clId="{077658EA-3E5E-5D35-9C0C-E503AACADC5F}" dt="2026-01-26T16:56:21.877" v="3065" actId="478"/>
        <pc:sldMkLst>
          <pc:docMk/>
          <pc:sldMk cId="3168965985" sldId="272"/>
        </pc:sldMkLst>
        <pc:spChg chg="add del mod">
          <ac:chgData name="Bako, Hannah (znf3ft)" userId="924d98da-1223-44d8-a077-e3bcce5ad882" providerId="ADAL" clId="{077658EA-3E5E-5D35-9C0C-E503AACADC5F}" dt="2026-01-26T16:56:21.877" v="3065" actId="478"/>
          <ac:spMkLst>
            <pc:docMk/>
            <pc:sldMk cId="3168965985" sldId="272"/>
            <ac:spMk id="2" creationId="{EF6113B9-CBD1-08C3-0EC4-4C6AF7A35868}"/>
          </ac:spMkLst>
        </pc:spChg>
      </pc:sldChg>
      <pc:sldChg chg="modSp mod">
        <pc:chgData name="Bako, Hannah (znf3ft)" userId="924d98da-1223-44d8-a077-e3bcce5ad882" providerId="ADAL" clId="{077658EA-3E5E-5D35-9C0C-E503AACADC5F}" dt="2026-01-24T22:06:00.405" v="2533" actId="20577"/>
        <pc:sldMkLst>
          <pc:docMk/>
          <pc:sldMk cId="3894618312" sldId="273"/>
        </pc:sldMkLst>
        <pc:spChg chg="mod">
          <ac:chgData name="Bako, Hannah (znf3ft)" userId="924d98da-1223-44d8-a077-e3bcce5ad882" providerId="ADAL" clId="{077658EA-3E5E-5D35-9C0C-E503AACADC5F}" dt="2026-01-24T22:06:00.405" v="2533" actId="20577"/>
          <ac:spMkLst>
            <pc:docMk/>
            <pc:sldMk cId="3894618312" sldId="273"/>
            <ac:spMk id="353" creationId="{00000000-0000-0000-0000-000000000000}"/>
          </ac:spMkLst>
        </pc:spChg>
      </pc:sldChg>
      <pc:sldChg chg="modAnim">
        <pc:chgData name="Bako, Hannah (znf3ft)" userId="924d98da-1223-44d8-a077-e3bcce5ad882" providerId="ADAL" clId="{077658EA-3E5E-5D35-9C0C-E503AACADC5F}" dt="2026-01-24T21:44:38.505" v="168"/>
        <pc:sldMkLst>
          <pc:docMk/>
          <pc:sldMk cId="2060365563" sldId="434"/>
        </pc:sldMkLst>
      </pc:sldChg>
      <pc:sldChg chg="modNotesTx">
        <pc:chgData name="Bako, Hannah (znf3ft)" userId="924d98da-1223-44d8-a077-e3bcce5ad882" providerId="ADAL" clId="{077658EA-3E5E-5D35-9C0C-E503AACADC5F}" dt="2026-01-24T21:44:03.844" v="109" actId="20577"/>
        <pc:sldMkLst>
          <pc:docMk/>
          <pc:sldMk cId="3814081520" sldId="436"/>
        </pc:sldMkLst>
      </pc:sldChg>
      <pc:sldChg chg="modNotesTx">
        <pc:chgData name="Bako, Hannah (znf3ft)" userId="924d98da-1223-44d8-a077-e3bcce5ad882" providerId="ADAL" clId="{077658EA-3E5E-5D35-9C0C-E503AACADC5F}" dt="2026-01-24T21:47:27.911" v="646" actId="20577"/>
        <pc:sldMkLst>
          <pc:docMk/>
          <pc:sldMk cId="3012854319" sldId="437"/>
        </pc:sldMkLst>
      </pc:sldChg>
      <pc:sldChg chg="modNotesTx">
        <pc:chgData name="Bako, Hannah (znf3ft)" userId="924d98da-1223-44d8-a077-e3bcce5ad882" providerId="ADAL" clId="{077658EA-3E5E-5D35-9C0C-E503AACADC5F}" dt="2026-01-24T21:48:25.443" v="862" actId="20577"/>
        <pc:sldMkLst>
          <pc:docMk/>
          <pc:sldMk cId="3724094440" sldId="438"/>
        </pc:sldMkLst>
      </pc:sldChg>
      <pc:sldChg chg="modNotesTx">
        <pc:chgData name="Bako, Hannah (znf3ft)" userId="924d98da-1223-44d8-a077-e3bcce5ad882" providerId="ADAL" clId="{077658EA-3E5E-5D35-9C0C-E503AACADC5F}" dt="2026-01-24T21:49:10.504" v="955" actId="20577"/>
        <pc:sldMkLst>
          <pc:docMk/>
          <pc:sldMk cId="591580583" sldId="439"/>
        </pc:sldMkLst>
      </pc:sldChg>
      <pc:sldChg chg="addSp delSp mod modNotesTx">
        <pc:chgData name="Bako, Hannah (znf3ft)" userId="924d98da-1223-44d8-a077-e3bcce5ad882" providerId="ADAL" clId="{077658EA-3E5E-5D35-9C0C-E503AACADC5F}" dt="2026-01-24T21:51:19.708" v="1087" actId="20577"/>
        <pc:sldMkLst>
          <pc:docMk/>
          <pc:sldMk cId="4276913717" sldId="440"/>
        </pc:sldMkLst>
      </pc:sldChg>
      <pc:sldChg chg="modNotesTx">
        <pc:chgData name="Bako, Hannah (znf3ft)" userId="924d98da-1223-44d8-a077-e3bcce5ad882" providerId="ADAL" clId="{077658EA-3E5E-5D35-9C0C-E503AACADC5F}" dt="2026-01-24T21:51:39.208" v="1088" actId="20577"/>
        <pc:sldMkLst>
          <pc:docMk/>
          <pc:sldMk cId="1132195890" sldId="441"/>
        </pc:sldMkLst>
      </pc:sldChg>
      <pc:sldChg chg="modNotesTx">
        <pc:chgData name="Bako, Hannah (znf3ft)" userId="924d98da-1223-44d8-a077-e3bcce5ad882" providerId="ADAL" clId="{077658EA-3E5E-5D35-9C0C-E503AACADC5F}" dt="2026-01-24T21:52:55.164" v="1156" actId="20577"/>
        <pc:sldMkLst>
          <pc:docMk/>
          <pc:sldMk cId="2080130202" sldId="443"/>
        </pc:sldMkLst>
      </pc:sldChg>
      <pc:sldChg chg="modNotesTx">
        <pc:chgData name="Bako, Hannah (znf3ft)" userId="924d98da-1223-44d8-a077-e3bcce5ad882" providerId="ADAL" clId="{077658EA-3E5E-5D35-9C0C-E503AACADC5F}" dt="2026-01-24T21:54:11.545" v="1314" actId="20577"/>
        <pc:sldMkLst>
          <pc:docMk/>
          <pc:sldMk cId="2285496888" sldId="444"/>
        </pc:sldMkLst>
      </pc:sldChg>
      <pc:sldChg chg="addSp modSp mod modNotesTx">
        <pc:chgData name="Bako, Hannah (znf3ft)" userId="924d98da-1223-44d8-a077-e3bcce5ad882" providerId="ADAL" clId="{077658EA-3E5E-5D35-9C0C-E503AACADC5F}" dt="2026-01-24T21:55:46.468" v="1492" actId="20577"/>
        <pc:sldMkLst>
          <pc:docMk/>
          <pc:sldMk cId="54257014" sldId="445"/>
        </pc:sldMkLst>
        <pc:spChg chg="mod">
          <ac:chgData name="Bako, Hannah (znf3ft)" userId="924d98da-1223-44d8-a077-e3bcce5ad882" providerId="ADAL" clId="{077658EA-3E5E-5D35-9C0C-E503AACADC5F}" dt="2026-01-24T21:55:46.468" v="1492" actId="20577"/>
          <ac:spMkLst>
            <pc:docMk/>
            <pc:sldMk cId="54257014" sldId="445"/>
            <ac:spMk id="3" creationId="{84D3B85E-7093-4348-9C47-4B7CBDE509C0}"/>
          </ac:spMkLst>
        </pc:spChg>
        <pc:spChg chg="add mod">
          <ac:chgData name="Bako, Hannah (znf3ft)" userId="924d98da-1223-44d8-a077-e3bcce5ad882" providerId="ADAL" clId="{077658EA-3E5E-5D35-9C0C-E503AACADC5F}" dt="2026-01-24T21:55:30.523" v="1447" actId="207"/>
          <ac:spMkLst>
            <pc:docMk/>
            <pc:sldMk cId="54257014" sldId="445"/>
            <ac:spMk id="4" creationId="{6107B9DB-4902-D38D-3524-1F59E60BE452}"/>
          </ac:spMkLst>
        </pc:spChg>
      </pc:sldChg>
      <pc:sldChg chg="modNotesTx">
        <pc:chgData name="Bako, Hannah (znf3ft)" userId="924d98da-1223-44d8-a077-e3bcce5ad882" providerId="ADAL" clId="{077658EA-3E5E-5D35-9C0C-E503AACADC5F}" dt="2026-01-24T21:58:28.858" v="1777" actId="20577"/>
        <pc:sldMkLst>
          <pc:docMk/>
          <pc:sldMk cId="3660281156" sldId="448"/>
        </pc:sldMkLst>
      </pc:sldChg>
      <pc:sldChg chg="modNotesTx">
        <pc:chgData name="Bako, Hannah (znf3ft)" userId="924d98da-1223-44d8-a077-e3bcce5ad882" providerId="ADAL" clId="{077658EA-3E5E-5D35-9C0C-E503AACADC5F}" dt="2026-01-24T22:00:23.120" v="1943" actId="20577"/>
        <pc:sldMkLst>
          <pc:docMk/>
          <pc:sldMk cId="1121067270" sldId="449"/>
        </pc:sldMkLst>
      </pc:sldChg>
      <pc:sldChg chg="modNotesTx">
        <pc:chgData name="Bako, Hannah (znf3ft)" userId="924d98da-1223-44d8-a077-e3bcce5ad882" providerId="ADAL" clId="{077658EA-3E5E-5D35-9C0C-E503AACADC5F}" dt="2026-01-24T22:01:53.591" v="2160" actId="20577"/>
        <pc:sldMkLst>
          <pc:docMk/>
          <pc:sldMk cId="3162697910" sldId="450"/>
        </pc:sldMkLst>
      </pc:sldChg>
      <pc:sldChg chg="modNotesTx">
        <pc:chgData name="Bako, Hannah (znf3ft)" userId="924d98da-1223-44d8-a077-e3bcce5ad882" providerId="ADAL" clId="{077658EA-3E5E-5D35-9C0C-E503AACADC5F}" dt="2026-01-24T22:02:40.939" v="2255" actId="20577"/>
        <pc:sldMkLst>
          <pc:docMk/>
          <pc:sldMk cId="562108579" sldId="451"/>
        </pc:sldMkLst>
      </pc:sldChg>
      <pc:sldChg chg="modNotesTx">
        <pc:chgData name="Bako, Hannah (znf3ft)" userId="924d98da-1223-44d8-a077-e3bcce5ad882" providerId="ADAL" clId="{077658EA-3E5E-5D35-9C0C-E503AACADC5F}" dt="2026-01-24T22:04:25.786" v="2518" actId="20577"/>
        <pc:sldMkLst>
          <pc:docMk/>
          <pc:sldMk cId="3599606756" sldId="452"/>
        </pc:sldMkLst>
      </pc:sldChg>
      <pc:sldChg chg="addSp delSp modSp mod modShow">
        <pc:chgData name="Bako, Hannah (znf3ft)" userId="924d98da-1223-44d8-a077-e3bcce5ad882" providerId="ADAL" clId="{077658EA-3E5E-5D35-9C0C-E503AACADC5F}" dt="2026-01-26T16:56:44.731" v="3066" actId="729"/>
        <pc:sldMkLst>
          <pc:docMk/>
          <pc:sldMk cId="1260707070" sldId="453"/>
        </pc:sldMkLst>
        <pc:spChg chg="add mod">
          <ac:chgData name="Bako, Hannah (znf3ft)" userId="924d98da-1223-44d8-a077-e3bcce5ad882" providerId="ADAL" clId="{077658EA-3E5E-5D35-9C0C-E503AACADC5F}" dt="2026-01-24T22:07:40.051" v="2535" actId="478"/>
          <ac:spMkLst>
            <pc:docMk/>
            <pc:sldMk cId="1260707070" sldId="453"/>
            <ac:spMk id="6" creationId="{055F49C1-7F84-151C-8B90-BB0E12260976}"/>
          </ac:spMkLst>
        </pc:spChg>
      </pc:sldChg>
      <pc:sldChg chg="modNotesTx">
        <pc:chgData name="Bako, Hannah (znf3ft)" userId="924d98da-1223-44d8-a077-e3bcce5ad882" providerId="ADAL" clId="{077658EA-3E5E-5D35-9C0C-E503AACADC5F}" dt="2026-01-24T22:13:34.655" v="3021" actId="20577"/>
        <pc:sldMkLst>
          <pc:docMk/>
          <pc:sldMk cId="4063093065" sldId="454"/>
        </pc:sldMkLst>
      </pc:sldChg>
      <pc:sldChg chg="modNotesTx">
        <pc:chgData name="Bako, Hannah (znf3ft)" userId="924d98da-1223-44d8-a077-e3bcce5ad882" providerId="ADAL" clId="{077658EA-3E5E-5D35-9C0C-E503AACADC5F}" dt="2026-01-24T22:13:57.707" v="3051" actId="20577"/>
        <pc:sldMkLst>
          <pc:docMk/>
          <pc:sldMk cId="3529571651" sldId="455"/>
        </pc:sldMkLst>
      </pc:sldChg>
      <pc:sldChg chg="modSp add mod modShow modNotesTx">
        <pc:chgData name="Bako, Hannah (znf3ft)" userId="924d98da-1223-44d8-a077-e3bcce5ad882" providerId="ADAL" clId="{077658EA-3E5E-5D35-9C0C-E503AACADC5F}" dt="2026-01-26T16:56:44.731" v="3066" actId="729"/>
        <pc:sldMkLst>
          <pc:docMk/>
          <pc:sldMk cId="2634485118" sldId="456"/>
        </pc:sldMkLst>
        <pc:spChg chg="mod">
          <ac:chgData name="Bako, Hannah (znf3ft)" userId="924d98da-1223-44d8-a077-e3bcce5ad882" providerId="ADAL" clId="{077658EA-3E5E-5D35-9C0C-E503AACADC5F}" dt="2026-01-24T22:08:13.551" v="2540" actId="20577"/>
          <ac:spMkLst>
            <pc:docMk/>
            <pc:sldMk cId="2634485118" sldId="456"/>
            <ac:spMk id="4" creationId="{0213B0D7-6CCA-714C-E19C-AE297337EDFC}"/>
          </ac:spMkLst>
        </pc:spChg>
      </pc:sldChg>
      <pc:sldChg chg="modSp add mod modNotesTx">
        <pc:chgData name="Bako, Hannah (znf3ft)" userId="924d98da-1223-44d8-a077-e3bcce5ad882" providerId="ADAL" clId="{077658EA-3E5E-5D35-9C0C-E503AACADC5F}" dt="2026-01-24T22:12:06.947" v="2810" actId="20577"/>
        <pc:sldMkLst>
          <pc:docMk/>
          <pc:sldMk cId="4121230775" sldId="457"/>
        </pc:sldMkLst>
        <pc:spChg chg="mod">
          <ac:chgData name="Bako, Hannah (znf3ft)" userId="924d98da-1223-44d8-a077-e3bcce5ad882" providerId="ADAL" clId="{077658EA-3E5E-5D35-9C0C-E503AACADC5F}" dt="2026-01-24T22:11:49.757" v="2767" actId="20577"/>
          <ac:spMkLst>
            <pc:docMk/>
            <pc:sldMk cId="4121230775" sldId="457"/>
            <ac:spMk id="4" creationId="{42199EAE-6584-9FA8-218E-3E7D4935C694}"/>
          </ac:spMkLst>
        </pc:spChg>
      </pc:sldChg>
      <pc:sldChg chg="modSp add mod">
        <pc:chgData name="Bako, Hannah (znf3ft)" userId="924d98da-1223-44d8-a077-e3bcce5ad882" providerId="ADAL" clId="{077658EA-3E5E-5D35-9C0C-E503AACADC5F}" dt="2026-01-24T22:14:42.446" v="3057" actId="20577"/>
        <pc:sldMkLst>
          <pc:docMk/>
          <pc:sldMk cId="1533978453" sldId="458"/>
        </pc:sldMkLst>
        <pc:spChg chg="mod">
          <ac:chgData name="Bako, Hannah (znf3ft)" userId="924d98da-1223-44d8-a077-e3bcce5ad882" providerId="ADAL" clId="{077658EA-3E5E-5D35-9C0C-E503AACADC5F}" dt="2026-01-24T22:14:42.446" v="3057" actId="20577"/>
          <ac:spMkLst>
            <pc:docMk/>
            <pc:sldMk cId="1533978453" sldId="458"/>
            <ac:spMk id="288" creationId="{D13FFEAC-73AF-0BB4-3091-26104F1383B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xfrm>
            <a:off x="1143000" y="685800"/>
            <a:ext cx="4572000" cy="3429000"/>
          </a:xfrm>
          <a:prstGeom prst="rect">
            <a:avLst/>
          </a:prstGeom>
        </p:spPr>
        <p:txBody>
          <a:bodyPr/>
          <a:lstStyle/>
          <a:p>
            <a:endParaRPr/>
          </a:p>
        </p:txBody>
      </p:sp>
      <p:sp>
        <p:nvSpPr>
          <p:cNvPr id="272" name="Shape 2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455CC-5A9F-C9D7-B03B-022F5877F690}"/>
            </a:ext>
          </a:extLst>
        </p:cNvPr>
        <p:cNvGrpSpPr/>
        <p:nvPr/>
      </p:nvGrpSpPr>
      <p:grpSpPr>
        <a:xfrm>
          <a:off x="0" y="0"/>
          <a:ext cx="0" cy="0"/>
          <a:chOff x="0" y="0"/>
          <a:chExt cx="0" cy="0"/>
        </a:xfrm>
      </p:grpSpPr>
      <p:sp>
        <p:nvSpPr>
          <p:cNvPr id="641" name="Shape 641">
            <a:extLst>
              <a:ext uri="{FF2B5EF4-FFF2-40B4-BE49-F238E27FC236}">
                <a16:creationId xmlns:a16="http://schemas.microsoft.com/office/drawing/2014/main" id="{C166123C-B5A6-1BDD-80A7-584508167E2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642" name="Shape 642">
            <a:extLst>
              <a:ext uri="{FF2B5EF4-FFF2-40B4-BE49-F238E27FC236}">
                <a16:creationId xmlns:a16="http://schemas.microsoft.com/office/drawing/2014/main" id="{C27C5E86-1943-C538-F583-08BB29178E4C}"/>
              </a:ext>
            </a:extLst>
          </p:cNvPr>
          <p:cNvSpPr>
            <a:spLocks noGrp="1"/>
          </p:cNvSpPr>
          <p:nvPr>
            <p:ph type="body" sz="quarter" idx="1"/>
          </p:nvPr>
        </p:nvSpPr>
        <p:spPr>
          <a:prstGeom prst="rect">
            <a:avLst/>
          </a:prstGeom>
        </p:spPr>
        <p:txBody>
          <a:bodyPr/>
          <a:lstStyle>
            <a:lvl1pPr defTabSz="914400">
              <a:lnSpc>
                <a:spcPct val="100000"/>
              </a:lnSpc>
              <a:defRPr sz="1200">
                <a:latin typeface="Calibri"/>
                <a:ea typeface="Calibri"/>
                <a:cs typeface="Calibri"/>
                <a:sym typeface="Calibri"/>
              </a:defRPr>
            </a:lvl1pPr>
          </a:lstStyle>
          <a:p>
            <a:r>
              <a:rPr dirty="0"/>
              <a:t>Let’s take a look at another example</a:t>
            </a:r>
          </a:p>
        </p:txBody>
      </p:sp>
    </p:spTree>
    <p:extLst>
      <p:ext uri="{BB962C8B-B14F-4D97-AF65-F5344CB8AC3E}">
        <p14:creationId xmlns:p14="http://schemas.microsoft.com/office/powerpoint/2010/main" val="2130068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E4D0-35CB-1067-1902-35DB5F80C4EA}"/>
            </a:ext>
          </a:extLst>
        </p:cNvPr>
        <p:cNvGrpSpPr/>
        <p:nvPr/>
      </p:nvGrpSpPr>
      <p:grpSpPr>
        <a:xfrm>
          <a:off x="0" y="0"/>
          <a:ext cx="0" cy="0"/>
          <a:chOff x="0" y="0"/>
          <a:chExt cx="0" cy="0"/>
        </a:xfrm>
      </p:grpSpPr>
      <p:sp>
        <p:nvSpPr>
          <p:cNvPr id="646" name="Shape 646">
            <a:extLst>
              <a:ext uri="{FF2B5EF4-FFF2-40B4-BE49-F238E27FC236}">
                <a16:creationId xmlns:a16="http://schemas.microsoft.com/office/drawing/2014/main" id="{F4F02263-55E9-6D8F-63D1-4B63C693A07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647" name="Shape 647">
            <a:extLst>
              <a:ext uri="{FF2B5EF4-FFF2-40B4-BE49-F238E27FC236}">
                <a16:creationId xmlns:a16="http://schemas.microsoft.com/office/drawing/2014/main" id="{1437FC50-561B-D1EF-3951-11B6269EA953}"/>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dirty="0"/>
              <a:t>To address this question, we can look at what’s called a shot chart</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https://</a:t>
            </a:r>
            <a:r>
              <a:rPr dirty="0" err="1"/>
              <a:t>fivethirtyeight.com</a:t>
            </a:r>
            <a:r>
              <a:rPr dirty="0"/>
              <a:t>/features/how-mapping-shots-in-the-</a:t>
            </a:r>
            <a:r>
              <a:rPr dirty="0" err="1"/>
              <a:t>nba</a:t>
            </a:r>
            <a:r>
              <a:rPr dirty="0"/>
              <a:t>-changed-it-forever/</a:t>
            </a:r>
          </a:p>
        </p:txBody>
      </p:sp>
    </p:spTree>
    <p:extLst>
      <p:ext uri="{BB962C8B-B14F-4D97-AF65-F5344CB8AC3E}">
        <p14:creationId xmlns:p14="http://schemas.microsoft.com/office/powerpoint/2010/main" val="1870990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220B-00CC-9ECC-AD90-E7813764E18C}"/>
            </a:ext>
          </a:extLst>
        </p:cNvPr>
        <p:cNvGrpSpPr/>
        <p:nvPr/>
      </p:nvGrpSpPr>
      <p:grpSpPr>
        <a:xfrm>
          <a:off x="0" y="0"/>
          <a:ext cx="0" cy="0"/>
          <a:chOff x="0" y="0"/>
          <a:chExt cx="0" cy="0"/>
        </a:xfrm>
      </p:grpSpPr>
      <p:sp>
        <p:nvSpPr>
          <p:cNvPr id="660" name="Shape 660">
            <a:extLst>
              <a:ext uri="{FF2B5EF4-FFF2-40B4-BE49-F238E27FC236}">
                <a16:creationId xmlns:a16="http://schemas.microsoft.com/office/drawing/2014/main" id="{5BF26DF6-B458-3E7D-3E73-A0D91A51FD67}"/>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661" name="Shape 661">
            <a:extLst>
              <a:ext uri="{FF2B5EF4-FFF2-40B4-BE49-F238E27FC236}">
                <a16:creationId xmlns:a16="http://schemas.microsoft.com/office/drawing/2014/main" id="{A8392C01-C149-287A-90D1-310DAC9EBBC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dirty="0"/>
              <a:t>In case you don’t know much about basketball: the basket is here, you get 2 pts for shots within this arc and 3 pts for shots outside the arc</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https://</a:t>
            </a:r>
            <a:r>
              <a:rPr dirty="0" err="1"/>
              <a:t>fivethirtyeight.com</a:t>
            </a:r>
            <a:r>
              <a:rPr dirty="0"/>
              <a:t>/features/how-mapping-shots-in-the-</a:t>
            </a:r>
            <a:r>
              <a:rPr dirty="0" err="1"/>
              <a:t>nba</a:t>
            </a:r>
            <a:r>
              <a:rPr dirty="0"/>
              <a:t>-changed-it-forever/</a:t>
            </a:r>
          </a:p>
        </p:txBody>
      </p:sp>
    </p:spTree>
    <p:extLst>
      <p:ext uri="{BB962C8B-B14F-4D97-AF65-F5344CB8AC3E}">
        <p14:creationId xmlns:p14="http://schemas.microsoft.com/office/powerpoint/2010/main" val="2742975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60703-2211-FEE8-26CB-8B5FE2C1AC3B}"/>
            </a:ext>
          </a:extLst>
        </p:cNvPr>
        <p:cNvGrpSpPr/>
        <p:nvPr/>
      </p:nvGrpSpPr>
      <p:grpSpPr>
        <a:xfrm>
          <a:off x="0" y="0"/>
          <a:ext cx="0" cy="0"/>
          <a:chOff x="0" y="0"/>
          <a:chExt cx="0" cy="0"/>
        </a:xfrm>
      </p:grpSpPr>
      <p:sp>
        <p:nvSpPr>
          <p:cNvPr id="676" name="Shape 676">
            <a:extLst>
              <a:ext uri="{FF2B5EF4-FFF2-40B4-BE49-F238E27FC236}">
                <a16:creationId xmlns:a16="http://schemas.microsoft.com/office/drawing/2014/main" id="{4EC54F7F-67C7-CAC5-535E-A0A763C3AC4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677" name="Shape 677">
            <a:extLst>
              <a:ext uri="{FF2B5EF4-FFF2-40B4-BE49-F238E27FC236}">
                <a16:creationId xmlns:a16="http://schemas.microsoft.com/office/drawing/2014/main" id="{916351E8-7D06-5380-0285-2D6DD0DA415B}"/>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t>The difference between a 2-pointer and a 3-pointer is significant.</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&lt;click animations and read&gt;</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So, if you can shoot 40% from the 3 point area, it’s a more advantageous shot</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https://fivethirtyeight.com/features/how-mapping-shots-in-the-nba-changed-it-forever/</a:t>
            </a:r>
          </a:p>
        </p:txBody>
      </p:sp>
    </p:spTree>
    <p:extLst>
      <p:ext uri="{BB962C8B-B14F-4D97-AF65-F5344CB8AC3E}">
        <p14:creationId xmlns:p14="http://schemas.microsoft.com/office/powerpoint/2010/main" val="1323242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73ED-3509-68FC-0AD2-A5758C62FA8D}"/>
            </a:ext>
          </a:extLst>
        </p:cNvPr>
        <p:cNvGrpSpPr/>
        <p:nvPr/>
      </p:nvGrpSpPr>
      <p:grpSpPr>
        <a:xfrm>
          <a:off x="0" y="0"/>
          <a:ext cx="0" cy="0"/>
          <a:chOff x="0" y="0"/>
          <a:chExt cx="0" cy="0"/>
        </a:xfrm>
      </p:grpSpPr>
      <p:sp>
        <p:nvSpPr>
          <p:cNvPr id="693" name="Shape 693">
            <a:extLst>
              <a:ext uri="{FF2B5EF4-FFF2-40B4-BE49-F238E27FC236}">
                <a16:creationId xmlns:a16="http://schemas.microsoft.com/office/drawing/2014/main" id="{8E706954-9339-702A-39D4-FB5F47B86F09}"/>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694" name="Shape 694">
            <a:extLst>
              <a:ext uri="{FF2B5EF4-FFF2-40B4-BE49-F238E27FC236}">
                <a16:creationId xmlns:a16="http://schemas.microsoft.com/office/drawing/2014/main" id="{9454CD54-F417-87DF-D655-0D595C817F68}"/>
              </a:ext>
            </a:extLst>
          </p:cNvPr>
          <p:cNvSpPr>
            <a:spLocks noGrp="1"/>
          </p:cNvSpPr>
          <p:nvPr>
            <p:ph type="body" sz="quarter" idx="1"/>
          </p:nvPr>
        </p:nvSpPr>
        <p:spPr>
          <a:prstGeom prst="rect">
            <a:avLst/>
          </a:prstGeom>
        </p:spPr>
        <p:txBody>
          <a:bodyPr/>
          <a:lstStyle/>
          <a:p>
            <a:pPr defTabSz="914400">
              <a:lnSpc>
                <a:spcPct val="100000"/>
              </a:lnSpc>
              <a:defRPr sz="1200">
                <a:latin typeface="Times New Roman"/>
                <a:ea typeface="Times New Roman"/>
                <a:cs typeface="Times New Roman"/>
                <a:sym typeface="Times New Roman"/>
              </a:defRPr>
            </a:pPr>
            <a:r>
              <a:t>And these analytics led to a massive change in professional sports, including baseball and basketball.</a:t>
            </a:r>
          </a:p>
          <a:p>
            <a:pPr defTabSz="914400">
              <a:lnSpc>
                <a:spcPct val="100000"/>
              </a:lnSpc>
              <a:defRPr sz="1200">
                <a:latin typeface="Times New Roman"/>
                <a:ea typeface="Times New Roman"/>
                <a:cs typeface="Times New Roman"/>
                <a:sym typeface="Times New Roman"/>
              </a:defRPr>
            </a:pPr>
            <a:endParaRPr/>
          </a:p>
          <a:p>
            <a:pPr defTabSz="914400">
              <a:lnSpc>
                <a:spcPct val="100000"/>
              </a:lnSpc>
              <a:defRPr sz="1200">
                <a:latin typeface="Times New Roman"/>
                <a:ea typeface="Times New Roman"/>
                <a:cs typeface="Times New Roman"/>
                <a:sym typeface="Times New Roman"/>
              </a:defRPr>
            </a:pPr>
            <a:r>
              <a:t>Here are the top 200 shot locations in the NBA in 2001-02. You’ll notice a density of shots around the basket and baseline with smaller amounts around the 3 pt line.</a:t>
            </a:r>
          </a:p>
          <a:p>
            <a:pPr defTabSz="914400">
              <a:lnSpc>
                <a:spcPct val="100000"/>
              </a:lnSpc>
              <a:defRPr sz="1200">
                <a:latin typeface="Times New Roman"/>
                <a:ea typeface="Times New Roman"/>
                <a:cs typeface="Times New Roman"/>
                <a:sym typeface="Times New Roman"/>
              </a:defRPr>
            </a:pPr>
            <a:endParaRPr/>
          </a:p>
          <a:p>
            <a:pPr defTabSz="914400">
              <a:lnSpc>
                <a:spcPct val="100000"/>
              </a:lnSpc>
              <a:defRPr sz="1200">
                <a:latin typeface="Times New Roman"/>
                <a:ea typeface="Times New Roman"/>
                <a:cs typeface="Times New Roman"/>
                <a:sym typeface="Times New Roman"/>
              </a:defRPr>
            </a:pPr>
            <a:r>
              <a:t>What do you think this looked like in 2019-2020?</a:t>
            </a:r>
          </a:p>
          <a:p>
            <a:pPr defTabSz="914400">
              <a:lnSpc>
                <a:spcPct val="100000"/>
              </a:lnSpc>
              <a:defRPr sz="1200">
                <a:latin typeface="Times New Roman"/>
                <a:ea typeface="Times New Roman"/>
                <a:cs typeface="Times New Roman"/>
                <a:sym typeface="Times New Roman"/>
              </a:defRPr>
            </a:pPr>
            <a:endParaRPr/>
          </a:p>
          <a:p>
            <a:pPr defTabSz="914400">
              <a:lnSpc>
                <a:spcPct val="100000"/>
              </a:lnSpc>
              <a:defRPr sz="1200">
                <a:latin typeface="Times New Roman"/>
                <a:ea typeface="Times New Roman"/>
                <a:cs typeface="Times New Roman"/>
                <a:sym typeface="Times New Roman"/>
              </a:defRPr>
            </a:pPr>
            <a:r>
              <a:t>---</a:t>
            </a:r>
          </a:p>
          <a:p>
            <a:pPr defTabSz="914400">
              <a:lnSpc>
                <a:spcPct val="100000"/>
              </a:lnSpc>
              <a:defRPr sz="1200">
                <a:latin typeface="Times New Roman"/>
                <a:ea typeface="Times New Roman"/>
                <a:cs typeface="Times New Roman"/>
                <a:sym typeface="Times New Roman"/>
              </a:defRPr>
            </a:pPr>
            <a:r>
              <a:t>https://twitter.com/kirkgoldsberry/status/1217109175894831105?s=20&amp;t=Yd-E6l4UL2jO7iq5iGjPHw</a:t>
            </a:r>
          </a:p>
        </p:txBody>
      </p:sp>
    </p:spTree>
    <p:extLst>
      <p:ext uri="{BB962C8B-B14F-4D97-AF65-F5344CB8AC3E}">
        <p14:creationId xmlns:p14="http://schemas.microsoft.com/office/powerpoint/2010/main" val="2230442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3F412-E638-00F9-CD07-0DE55DB97FF8}"/>
            </a:ext>
          </a:extLst>
        </p:cNvPr>
        <p:cNvGrpSpPr/>
        <p:nvPr/>
      </p:nvGrpSpPr>
      <p:grpSpPr>
        <a:xfrm>
          <a:off x="0" y="0"/>
          <a:ext cx="0" cy="0"/>
          <a:chOff x="0" y="0"/>
          <a:chExt cx="0" cy="0"/>
        </a:xfrm>
      </p:grpSpPr>
      <p:sp>
        <p:nvSpPr>
          <p:cNvPr id="699" name="Shape 699">
            <a:extLst>
              <a:ext uri="{FF2B5EF4-FFF2-40B4-BE49-F238E27FC236}">
                <a16:creationId xmlns:a16="http://schemas.microsoft.com/office/drawing/2014/main" id="{9598CEFE-E0D6-85ED-1DA4-CC1F16AE2D7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00" name="Shape 700">
            <a:extLst>
              <a:ext uri="{FF2B5EF4-FFF2-40B4-BE49-F238E27FC236}">
                <a16:creationId xmlns:a16="http://schemas.microsoft.com/office/drawing/2014/main" id="{C9F7D9C4-BBF5-DD9E-0DEA-5A438810A2C7}"/>
              </a:ext>
            </a:extLst>
          </p:cNvPr>
          <p:cNvSpPr>
            <a:spLocks noGrp="1"/>
          </p:cNvSpPr>
          <p:nvPr>
            <p:ph type="body" sz="quarter" idx="1"/>
          </p:nvPr>
        </p:nvSpPr>
        <p:spPr>
          <a:prstGeom prst="rect">
            <a:avLst/>
          </a:prstGeom>
        </p:spPr>
        <p:txBody>
          <a:bodyPr/>
          <a:lstStyle/>
          <a:p>
            <a:pPr defTabSz="914400">
              <a:lnSpc>
                <a:spcPct val="100000"/>
              </a:lnSpc>
              <a:defRPr sz="1200">
                <a:latin typeface="Times New Roman"/>
                <a:ea typeface="Times New Roman"/>
                <a:cs typeface="Times New Roman"/>
                <a:sym typeface="Times New Roman"/>
              </a:defRPr>
            </a:pPr>
            <a:r>
              <a:t>Almost no mid-range shots? Now, all shots are centered around the basket and the 3 point line? Some would argue, this is a less interesting form of the spot.</a:t>
            </a:r>
          </a:p>
          <a:p>
            <a:pPr defTabSz="914400">
              <a:lnSpc>
                <a:spcPct val="100000"/>
              </a:lnSpc>
              <a:defRPr sz="1200">
                <a:latin typeface="Times New Roman"/>
                <a:ea typeface="Times New Roman"/>
                <a:cs typeface="Times New Roman"/>
                <a:sym typeface="Times New Roman"/>
              </a:defRPr>
            </a:pPr>
            <a:endParaRPr/>
          </a:p>
          <a:p>
            <a:pPr defTabSz="914400">
              <a:lnSpc>
                <a:spcPct val="100000"/>
              </a:lnSpc>
              <a:defRPr sz="1200">
                <a:latin typeface="Times New Roman"/>
                <a:ea typeface="Times New Roman"/>
                <a:cs typeface="Times New Roman"/>
                <a:sym typeface="Times New Roman"/>
              </a:defRPr>
            </a:pPr>
            <a:r>
              <a:t>Why did this happen? It again comes down to effective yield of each shot, which was made clear via analytics</a:t>
            </a:r>
          </a:p>
          <a:p>
            <a:pPr defTabSz="914400">
              <a:lnSpc>
                <a:spcPct val="100000"/>
              </a:lnSpc>
              <a:defRPr sz="1200">
                <a:latin typeface="Times New Roman"/>
                <a:ea typeface="Times New Roman"/>
                <a:cs typeface="Times New Roman"/>
                <a:sym typeface="Times New Roman"/>
              </a:defRPr>
            </a:pPr>
            <a:endParaRPr/>
          </a:p>
          <a:p>
            <a:pPr defTabSz="914400">
              <a:lnSpc>
                <a:spcPct val="100000"/>
              </a:lnSpc>
              <a:defRPr sz="1200">
                <a:latin typeface="Times New Roman"/>
                <a:ea typeface="Times New Roman"/>
                <a:cs typeface="Times New Roman"/>
                <a:sym typeface="Times New Roman"/>
              </a:defRPr>
            </a:pPr>
            <a:r>
              <a:t>---</a:t>
            </a:r>
          </a:p>
          <a:p>
            <a:pPr defTabSz="914400">
              <a:lnSpc>
                <a:spcPct val="100000"/>
              </a:lnSpc>
              <a:defRPr sz="1200">
                <a:latin typeface="Times New Roman"/>
                <a:ea typeface="Times New Roman"/>
                <a:cs typeface="Times New Roman"/>
                <a:sym typeface="Times New Roman"/>
              </a:defRPr>
            </a:pPr>
            <a:r>
              <a:t>https://twitter.com/kirkgoldsberry/status/1217109175894831105?s=20&amp;t=Yd-E6l4UL2jO7iq5iGjPHw</a:t>
            </a:r>
          </a:p>
        </p:txBody>
      </p:sp>
    </p:spTree>
    <p:extLst>
      <p:ext uri="{BB962C8B-B14F-4D97-AF65-F5344CB8AC3E}">
        <p14:creationId xmlns:p14="http://schemas.microsoft.com/office/powerpoint/2010/main" val="650041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Shape 292"/>
          <p:cNvSpPr>
            <a:spLocks noGrp="1" noRot="1" noChangeAspect="1"/>
          </p:cNvSpPr>
          <p:nvPr>
            <p:ph type="sldImg"/>
          </p:nvPr>
        </p:nvSpPr>
        <p:spPr>
          <a:xfrm>
            <a:off x="381000" y="685800"/>
            <a:ext cx="6096000" cy="3429000"/>
          </a:xfrm>
          <a:prstGeom prst="rect">
            <a:avLst/>
          </a:prstGeom>
        </p:spPr>
        <p:txBody>
          <a:bodyPr/>
          <a:lstStyle/>
          <a:p>
            <a:endParaRPr/>
          </a:p>
        </p:txBody>
      </p:sp>
      <p:sp>
        <p:nvSpPr>
          <p:cNvPr id="293" name="Shape 293"/>
          <p:cNvSpPr>
            <a:spLocks noGrp="1"/>
          </p:cNvSpPr>
          <p:nvPr>
            <p:ph type="body" sz="quarter" idx="1"/>
          </p:nvPr>
        </p:nvSpPr>
        <p:spPr>
          <a:prstGeom prst="rect">
            <a:avLst/>
          </a:prstGeom>
        </p:spPr>
        <p:txBody>
          <a:bodyPr/>
          <a:lstStyle/>
          <a:p>
            <a:r>
              <a:t>Good visualizations: Creating graphics that accurately represent data, and that are easy to read.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remember the main picture, our goal is to turn data into visual representations to enable us communicate insights with data. And this happens using visual encodings</a:t>
            </a:r>
          </a:p>
        </p:txBody>
      </p:sp>
    </p:spTree>
    <p:extLst>
      <p:ext uri="{BB962C8B-B14F-4D97-AF65-F5344CB8AC3E}">
        <p14:creationId xmlns:p14="http://schemas.microsoft.com/office/powerpoint/2010/main" val="2907094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visual encodings map data to visual channels such as color or opacity, and graphical marks. We’ll cover visual encodings in future classes.</a:t>
            </a:r>
          </a:p>
        </p:txBody>
      </p:sp>
    </p:spTree>
    <p:extLst>
      <p:ext uri="{BB962C8B-B14F-4D97-AF65-F5344CB8AC3E}">
        <p14:creationId xmlns:p14="http://schemas.microsoft.com/office/powerpoint/2010/main" val="4020646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379c993999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g379c993999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489ef2bc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 name="Google Shape;50;g3489ef2bc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489ef2bc7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3489ef2bc7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89ef2bc7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89ef2bc7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79c993999e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79c993999e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Almost all datasets—no matter how complex—can be decomposed into these three components.</a:t>
            </a:r>
          </a:p>
          <a:p>
            <a:r>
              <a:rPr lang="en-US" b="1" dirty="0"/>
              <a:t>Items</a:t>
            </a:r>
            <a:r>
              <a:rPr lang="en-US" dirty="0"/>
              <a:t>: the things you’re studying</a:t>
            </a:r>
          </a:p>
          <a:p>
            <a:r>
              <a:rPr lang="en-US" b="1" dirty="0"/>
              <a:t>Attributes</a:t>
            </a:r>
            <a:r>
              <a:rPr lang="en-US" dirty="0"/>
              <a:t>: properties of those things</a:t>
            </a:r>
          </a:p>
          <a:p>
            <a:r>
              <a:rPr lang="en-US" b="1" dirty="0"/>
              <a:t>Relationships</a:t>
            </a:r>
            <a:r>
              <a:rPr lang="en-US" dirty="0"/>
              <a:t>: how things connect</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b="1" dirty="0"/>
              <a:t>Example</a:t>
            </a:r>
            <a:br>
              <a:rPr lang="en-US" dirty="0"/>
            </a:br>
            <a:r>
              <a:rPr lang="en-US" dirty="0"/>
              <a:t>Cities (items), population (attribute), trade routes (relationships).</a:t>
            </a:r>
          </a:p>
          <a:p>
            <a:endParaRPr lang="en-US" dirty="0"/>
          </a:p>
          <a:p>
            <a:r>
              <a:rPr lang="en-US" dirty="0"/>
              <a:t>===================================</a:t>
            </a:r>
          </a:p>
          <a:p>
            <a:r>
              <a:rPr lang="en-US" dirty="0"/>
              <a:t>Well, first we have data items which is the smallest atomic unit of meaningful information within a dataset. For instance a car in a dataset about cars, and data about an employee</a:t>
            </a:r>
          </a:p>
          <a:p>
            <a:endParaRPr lang="en-US" dirty="0"/>
          </a:p>
          <a:p>
            <a:r>
              <a:rPr lang="en-US" dirty="0"/>
              <a:t>A data attribute basically refers to a column or field within a dataset, and captures an identifying piece of information about the data.</a:t>
            </a:r>
          </a:p>
          <a:p>
            <a:endParaRPr lang="en-US" dirty="0"/>
          </a:p>
          <a:p>
            <a:r>
              <a:rPr lang="en-US" dirty="0"/>
              <a:t>Relationships or links define how data in one table connects to the another. This mostly exists in relational databases</a:t>
            </a:r>
          </a:p>
        </p:txBody>
      </p:sp>
    </p:spTree>
    <p:extLst>
      <p:ext uri="{BB962C8B-B14F-4D97-AF65-F5344CB8AC3E}">
        <p14:creationId xmlns:p14="http://schemas.microsoft.com/office/powerpoint/2010/main" val="4264571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Multivariate data is what most people picture: rows are items, columns are attributes.</a:t>
            </a:r>
          </a:p>
        </p:txBody>
      </p:sp>
    </p:spTree>
    <p:extLst>
      <p:ext uri="{BB962C8B-B14F-4D97-AF65-F5344CB8AC3E}">
        <p14:creationId xmlns:p14="http://schemas.microsoft.com/office/powerpoint/2010/main" val="1108343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489ef2bc7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489ef2bc7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489ef2bc7a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489ef2bc7a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9c993999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79c993999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6963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networks and trees, the relationships between data items become a critical component</a:t>
            </a:r>
          </a:p>
          <a:p>
            <a:endParaRPr lang="en-US" dirty="0"/>
          </a:p>
          <a:p>
            <a:r>
              <a:rPr lang="en-US" dirty="0"/>
              <a:t>Multivariate data focuses on attributes</a:t>
            </a:r>
          </a:p>
          <a:p>
            <a:r>
              <a:rPr lang="en-US" dirty="0"/>
              <a:t>Networks → focus on connections</a:t>
            </a:r>
          </a:p>
          <a:p>
            <a:endParaRPr lang="en-US" dirty="0"/>
          </a:p>
        </p:txBody>
      </p:sp>
    </p:spTree>
    <p:extLst>
      <p:ext uri="{BB962C8B-B14F-4D97-AF65-F5344CB8AC3E}">
        <p14:creationId xmlns:p14="http://schemas.microsoft.com/office/powerpoint/2010/main" val="662885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41D2D84F-FBEF-1F3F-C766-F8F0C0B9EBB3}"/>
            </a:ext>
          </a:extLst>
        </p:cNvPr>
        <p:cNvGrpSpPr/>
        <p:nvPr/>
      </p:nvGrpSpPr>
      <p:grpSpPr>
        <a:xfrm>
          <a:off x="0" y="0"/>
          <a:ext cx="0" cy="0"/>
          <a:chOff x="0" y="0"/>
          <a:chExt cx="0" cy="0"/>
        </a:xfrm>
      </p:grpSpPr>
      <p:sp>
        <p:nvSpPr>
          <p:cNvPr id="66" name="Google Shape;66;g379c993999e_0_28:notes">
            <a:extLst>
              <a:ext uri="{FF2B5EF4-FFF2-40B4-BE49-F238E27FC236}">
                <a16:creationId xmlns:a16="http://schemas.microsoft.com/office/drawing/2014/main" id="{12C271B5-8884-8F9C-C263-E574ADCB9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79c993999e_0_28:notes">
            <a:extLst>
              <a:ext uri="{FF2B5EF4-FFF2-40B4-BE49-F238E27FC236}">
                <a16:creationId xmlns:a16="http://schemas.microsoft.com/office/drawing/2014/main" id="{24DE133B-BCF1-18C6-C182-DDC241C221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8200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039F4-2B55-6FD9-18E3-09079CA67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CED60-C93E-2CCC-2977-47E82841CA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5FC9FB0-D20C-BC72-E3F3-B901E81DDF94}"/>
              </a:ext>
            </a:extLst>
          </p:cNvPr>
          <p:cNvSpPr>
            <a:spLocks noGrp="1"/>
          </p:cNvSpPr>
          <p:nvPr>
            <p:ph type="body" idx="1"/>
          </p:nvPr>
        </p:nvSpPr>
        <p:spPr/>
        <p:txBody>
          <a:bodyPr/>
          <a:lstStyle/>
          <a:p>
            <a:r>
              <a:rPr lang="en-US" b="1" dirty="0"/>
              <a:t>Describe the dataset</a:t>
            </a:r>
          </a:p>
          <a:p>
            <a:endParaRPr lang="en-US" dirty="0"/>
          </a:p>
          <a:p>
            <a:r>
              <a:rPr lang="en-US" dirty="0"/>
              <a:t>Ask students where the relationship exists here</a:t>
            </a:r>
          </a:p>
        </p:txBody>
      </p:sp>
    </p:spTree>
    <p:extLst>
      <p:ext uri="{BB962C8B-B14F-4D97-AF65-F5344CB8AC3E}">
        <p14:creationId xmlns:p14="http://schemas.microsoft.com/office/powerpoint/2010/main" val="2415146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table can be represented as a tree as well [walk through tree]</a:t>
            </a:r>
          </a:p>
        </p:txBody>
      </p:sp>
    </p:spTree>
    <p:extLst>
      <p:ext uri="{BB962C8B-B14F-4D97-AF65-F5344CB8AC3E}">
        <p14:creationId xmlns:p14="http://schemas.microsoft.com/office/powerpoint/2010/main" val="2705138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can then be represented in a chart like this. Can you see the relationship? How is it represented here?</a:t>
            </a:r>
          </a:p>
        </p:txBody>
      </p:sp>
    </p:spTree>
    <p:extLst>
      <p:ext uri="{BB962C8B-B14F-4D97-AF65-F5344CB8AC3E}">
        <p14:creationId xmlns:p14="http://schemas.microsoft.com/office/powerpoint/2010/main" val="131248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48a8d15e2d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48a8d15e2d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7807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48a8d15e2d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48a8d15e2d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49990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48a8d15e2d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48a8d15e2d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Penguins data set contains measurements of three different penguin species collected during the Palmer Station Long Term Ecological Research (LTER) program. The data was originally gathered and prepared by Dr. Kristen Gorman and Dr. Allison Horst as an alternative to the common Iris dataset for data exploration and visualization. </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48a8d15e2d_0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48a8d15e2d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48a8d15e2d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48a8d15e2d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Penguins data set contains measurements of three different penguin species collected during the Palmer Station Long Term Ecological Research (LTER) program. The data was originally gathered and prepared by Dr. Kristen Gorman and Dr. Allison Horst as an alternative to the common Iris dataset for data exploration and visualization. </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48a8d15e2d_0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48a8d15e2d_0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A1791-D465-4FCD-E4DB-F8A40B8D1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A7183-3140-65A2-BD3B-044F9EC0AC3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CFD2CD-74F9-2E8A-5DFA-66E93BF5994E}"/>
              </a:ext>
            </a:extLst>
          </p:cNvPr>
          <p:cNvSpPr>
            <a:spLocks noGrp="1"/>
          </p:cNvSpPr>
          <p:nvPr>
            <p:ph type="body" idx="1"/>
          </p:nvPr>
        </p:nvSpPr>
        <p:spPr/>
        <p:txBody>
          <a:bodyPr/>
          <a:lstStyle/>
          <a:p>
            <a:pPr marL="0" indent="0">
              <a:buFont typeface="Arial" panose="020B0604020202020204" pitchFamily="34" charset="0"/>
              <a:buNone/>
            </a:pPr>
            <a:r>
              <a:rPr lang="en-US" dirty="0"/>
              <a:t>There are two forms of tidy data tables, wide and long</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Wide and long formats contain the same information—but support different operations and visualizations.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There is no correct format, you choose the format that is fit for your purpose.</a:t>
            </a:r>
          </a:p>
        </p:txBody>
      </p:sp>
    </p:spTree>
    <p:extLst>
      <p:ext uri="{BB962C8B-B14F-4D97-AF65-F5344CB8AC3E}">
        <p14:creationId xmlns:p14="http://schemas.microsoft.com/office/powerpoint/2010/main" val="2050420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in groups of 3, discuss the prompt, and I’ll go through and ask people at random to tell me their thoughts.</a:t>
            </a:r>
          </a:p>
        </p:txBody>
      </p:sp>
    </p:spTree>
    <p:extLst>
      <p:ext uri="{BB962C8B-B14F-4D97-AF65-F5344CB8AC3E}">
        <p14:creationId xmlns:p14="http://schemas.microsoft.com/office/powerpoint/2010/main" val="34543011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Now, let’s get into the core of data attributes. There are four different types a data attribute can take.</a:t>
            </a:r>
          </a:p>
          <a:p>
            <a:endParaRPr lang="en-US" dirty="0"/>
          </a:p>
          <a:p>
            <a:r>
              <a:rPr lang="en-US" b="1" dirty="0"/>
              <a:t>Read slide</a:t>
            </a:r>
          </a:p>
          <a:p>
            <a:endParaRPr lang="en-US" dirty="0"/>
          </a:p>
          <a:p>
            <a:r>
              <a:rPr lang="en-US" dirty="0"/>
              <a:t>Attribute types determine what comparisons are valid—and which visual encodings make sense.</a:t>
            </a:r>
          </a:p>
        </p:txBody>
      </p:sp>
    </p:spTree>
    <p:extLst>
      <p:ext uri="{BB962C8B-B14F-4D97-AF65-F5344CB8AC3E}">
        <p14:creationId xmlns:p14="http://schemas.microsoft.com/office/powerpoint/2010/main" val="22264055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Nominal attributes are categories with no inherent order.</a:t>
            </a:r>
          </a:p>
          <a:p>
            <a:endParaRPr lang="en-US" dirty="0"/>
          </a:p>
          <a:p>
            <a:r>
              <a:rPr lang="en-US" dirty="0"/>
              <a:t>fruit type, country, color.</a:t>
            </a:r>
          </a:p>
          <a:p>
            <a:endParaRPr lang="en-US" dirty="0"/>
          </a:p>
          <a:p>
            <a:r>
              <a:rPr lang="en-US" dirty="0"/>
              <a:t>You can only compare equivalence with nominal attributes</a:t>
            </a:r>
          </a:p>
        </p:txBody>
      </p:sp>
    </p:spTree>
    <p:extLst>
      <p:ext uri="{BB962C8B-B14F-4D97-AF65-F5344CB8AC3E}">
        <p14:creationId xmlns:p14="http://schemas.microsoft.com/office/powerpoint/2010/main" val="7536841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Ordinal attributes have order, but not meaningful distance</a:t>
            </a:r>
          </a:p>
          <a:p>
            <a:endParaRPr lang="en-US" dirty="0"/>
          </a:p>
          <a:p>
            <a:r>
              <a:rPr lang="en-US" dirty="0"/>
              <a:t>An example would be grades. So &gt;93 is A &lt;70 is an F. The grades A – F are ordinal</a:t>
            </a:r>
          </a:p>
          <a:p>
            <a:endParaRPr lang="en-US" dirty="0"/>
          </a:p>
          <a:p>
            <a:r>
              <a:rPr lang="en-US" dirty="0"/>
              <a:t>Be careful not to treat ordinal values as numeric</a:t>
            </a:r>
          </a:p>
          <a:p>
            <a:endParaRPr lang="en-US" dirty="0"/>
          </a:p>
        </p:txBody>
      </p:sp>
    </p:spTree>
    <p:extLst>
      <p:ext uri="{BB962C8B-B14F-4D97-AF65-F5344CB8AC3E}">
        <p14:creationId xmlns:p14="http://schemas.microsoft.com/office/powerpoint/2010/main" val="18451685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Quantitative Interval data allows differences, but not ratios. </a:t>
            </a:r>
          </a:p>
          <a:p>
            <a:endParaRPr lang="en-US" dirty="0"/>
          </a:p>
          <a:p>
            <a:r>
              <a:rPr lang="en-US" dirty="0"/>
              <a:t>What we mean here is that 0 in quantitative intervals is arbitrary.</a:t>
            </a:r>
          </a:p>
          <a:p>
            <a:br>
              <a:rPr lang="en-US" dirty="0"/>
            </a:br>
            <a:r>
              <a:rPr lang="en-US" dirty="0"/>
              <a:t>For instance, dates or temperature in Celsius. There is no meaningful zero in these measurements</a:t>
            </a:r>
          </a:p>
          <a:p>
            <a:endParaRPr lang="en-US" dirty="0"/>
          </a:p>
          <a:p>
            <a:endParaRPr lang="en-US" dirty="0"/>
          </a:p>
        </p:txBody>
      </p:sp>
    </p:spTree>
    <p:extLst>
      <p:ext uri="{BB962C8B-B14F-4D97-AF65-F5344CB8AC3E}">
        <p14:creationId xmlns:p14="http://schemas.microsoft.com/office/powerpoint/2010/main" val="10960927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 the other hand, quantitative Ratio data has a meaningful zero—so ratios and proportions make sense</a:t>
            </a:r>
          </a:p>
          <a:p>
            <a:endParaRPr lang="en-US" dirty="0"/>
          </a:p>
          <a:p>
            <a:r>
              <a:rPr lang="en-US" dirty="0"/>
              <a:t>Examples here include length, mass, counts</a:t>
            </a:r>
          </a:p>
          <a:p>
            <a:endParaRPr lang="en-US" dirty="0"/>
          </a:p>
          <a:p>
            <a:r>
              <a:rPr lang="en-US" dirty="0"/>
              <a:t>Most statistical operations assume ratio data.</a:t>
            </a:r>
          </a:p>
        </p:txBody>
      </p:sp>
    </p:spTree>
    <p:extLst>
      <p:ext uri="{BB962C8B-B14F-4D97-AF65-F5344CB8AC3E}">
        <p14:creationId xmlns:p14="http://schemas.microsoft.com/office/powerpoint/2010/main" val="2075456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EF850-2E3E-8257-8C0C-8E7B49893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7250D-8F99-AB88-8C7E-9583699DB9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0FC2B2-E091-4290-A113-DBF44BC636DF}"/>
              </a:ext>
            </a:extLst>
          </p:cNvPr>
          <p:cNvSpPr>
            <a:spLocks noGrp="1"/>
          </p:cNvSpPr>
          <p:nvPr>
            <p:ph type="body" idx="1"/>
          </p:nvPr>
        </p:nvSpPr>
        <p:spPr/>
        <p:txBody>
          <a:bodyPr/>
          <a:lstStyle/>
          <a:p>
            <a:r>
              <a:rPr lang="en-US" dirty="0"/>
              <a:t>Up to this point, we’ve been treating aggregation as something neutral — even helpful.</a:t>
            </a:r>
            <a:br>
              <a:rPr lang="en-US" dirty="0"/>
            </a:br>
            <a:r>
              <a:rPr lang="en-US" dirty="0"/>
              <a:t>We summarize, average, and combine data all the time to “see the big picture.”</a:t>
            </a:r>
          </a:p>
          <a:p>
            <a:r>
              <a:rPr lang="en-US" dirty="0"/>
              <a:t>Simpson’s Paradox is a reminder that </a:t>
            </a:r>
            <a:r>
              <a:rPr lang="en-US" i="1" dirty="0"/>
              <a:t>how</a:t>
            </a:r>
            <a:r>
              <a:rPr lang="en-US" dirty="0"/>
              <a:t> we group data is itself a design decision — and a consequential one.</a:t>
            </a:r>
          </a:p>
          <a:p>
            <a:endParaRPr lang="en-US" dirty="0"/>
          </a:p>
          <a:p>
            <a:r>
              <a:rPr lang="en-US" dirty="0"/>
              <a:t>Real world examples:</a:t>
            </a:r>
          </a:p>
          <a:p>
            <a:pPr marL="685800" lvl="0" indent="-685800" fontAlgn="base">
              <a:buFont typeface="Arial" panose="020B0604020202020204" pitchFamily="34" charset="0"/>
              <a:buChar char="•"/>
            </a:pPr>
            <a:r>
              <a:rPr lang="en-US" dirty="0"/>
              <a:t>Study of gender bias in graduate school admission at UC Berkeley, 1973</a:t>
            </a:r>
          </a:p>
          <a:p>
            <a:pPr marL="685800" lvl="0" indent="-685800" fontAlgn="base">
              <a:buFont typeface="Arial" panose="020B0604020202020204" pitchFamily="34" charset="0"/>
              <a:buChar char="•"/>
            </a:pPr>
            <a:r>
              <a:rPr lang="en-US" dirty="0"/>
              <a:t>Success rates of two treatment for kidney stones, 1994</a:t>
            </a:r>
          </a:p>
          <a:p>
            <a:pPr marL="685800" lvl="0" indent="-685800" fontAlgn="base">
              <a:buFont typeface="Arial" panose="020B0604020202020204" pitchFamily="34" charset="0"/>
              <a:buChar char="•"/>
            </a:pPr>
            <a:r>
              <a:rPr lang="en-US" dirty="0"/>
              <a:t>Batting averages for professional baseball players, 1995, 1996</a:t>
            </a:r>
          </a:p>
          <a:p>
            <a:endParaRPr lang="en-US" dirty="0"/>
          </a:p>
          <a:p>
            <a:endParaRPr lang="en-US" dirty="0"/>
          </a:p>
          <a:p>
            <a:r>
              <a:rPr lang="en-US" dirty="0"/>
              <a:t>Some examples of these were seen in a study of UC Berkley admissions. Overall admissions rates suggested bias against women, but department-level data showed women were admitted at similar or higher rates in most departments. The reversal occurred because women applied more often to highly competitive departments with lower acceptance rates.</a:t>
            </a:r>
          </a:p>
          <a:p>
            <a:endParaRPr lang="en-US" dirty="0"/>
          </a:p>
          <a:p>
            <a:r>
              <a:rPr lang="en-US" dirty="0"/>
              <a:t>In a kidney stone study conducted in 1994 One treatment appeared better overall, even though the other was more effective for both small and large kidney stones. This happened because the less effective treatment was used more often for severe cases.</a:t>
            </a:r>
          </a:p>
          <a:p>
            <a:endParaRPr lang="en-US" dirty="0"/>
          </a:p>
          <a:p>
            <a:r>
              <a:rPr lang="en-US" dirty="0"/>
              <a:t>The same paradox was observed in batting averages for baseball players in 1995 and 1996. A player had higher batting averages in each season but ranked lower when seasons were combined. The reversal occurred because seasons with more difficult conditions or fewer attempts were weighted differently in the aggregate.</a:t>
            </a:r>
          </a:p>
        </p:txBody>
      </p:sp>
    </p:spTree>
    <p:extLst>
      <p:ext uri="{BB962C8B-B14F-4D97-AF65-F5344CB8AC3E}">
        <p14:creationId xmlns:p14="http://schemas.microsoft.com/office/powerpoint/2010/main" val="12377506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quote is funny—but also dangerous.</a:t>
            </a:r>
            <a:br>
              <a:rPr lang="en-US" dirty="0"/>
            </a:br>
            <a:r>
              <a:rPr lang="en-US" dirty="0"/>
              <a:t>The goal of data analysis and visualization is not to torture data, but to reveal structure honestly.</a:t>
            </a:r>
          </a:p>
        </p:txBody>
      </p:sp>
    </p:spTree>
    <p:extLst>
      <p:ext uri="{BB962C8B-B14F-4D97-AF65-F5344CB8AC3E}">
        <p14:creationId xmlns:p14="http://schemas.microsoft.com/office/powerpoint/2010/main" val="28985453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DB81-01FF-795F-9EF9-B4A7CFFE4939}"/>
            </a:ext>
          </a:extLst>
        </p:cNvPr>
        <p:cNvGrpSpPr/>
        <p:nvPr/>
      </p:nvGrpSpPr>
      <p:grpSpPr>
        <a:xfrm>
          <a:off x="0" y="0"/>
          <a:ext cx="0" cy="0"/>
          <a:chOff x="0" y="0"/>
          <a:chExt cx="0" cy="0"/>
        </a:xfrm>
      </p:grpSpPr>
      <p:sp>
        <p:nvSpPr>
          <p:cNvPr id="292" name="Shape 292">
            <a:extLst>
              <a:ext uri="{FF2B5EF4-FFF2-40B4-BE49-F238E27FC236}">
                <a16:creationId xmlns:a16="http://schemas.microsoft.com/office/drawing/2014/main" id="{8B03E94D-20A9-FE07-D9AB-EDE71F15822F}"/>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293" name="Shape 293">
            <a:extLst>
              <a:ext uri="{FF2B5EF4-FFF2-40B4-BE49-F238E27FC236}">
                <a16:creationId xmlns:a16="http://schemas.microsoft.com/office/drawing/2014/main" id="{B594200E-9739-F7EB-B134-B55D17972FD0}"/>
              </a:ext>
            </a:extLst>
          </p:cNvPr>
          <p:cNvSpPr>
            <a:spLocks noGrp="1"/>
          </p:cNvSpPr>
          <p:nvPr>
            <p:ph type="body" sz="quarter" idx="1"/>
          </p:nvPr>
        </p:nvSpPr>
        <p:spPr>
          <a:prstGeom prst="rect">
            <a:avLst/>
          </a:prstGeom>
        </p:spPr>
        <p:txBody>
          <a:bodyPr/>
          <a:lstStyle/>
          <a:p>
            <a:r>
              <a:t>Good visualizations: Creating graphics that accurately represent data, and that are easy to read.</a:t>
            </a:r>
          </a:p>
        </p:txBody>
      </p:sp>
    </p:spTree>
    <p:extLst>
      <p:ext uri="{BB962C8B-B14F-4D97-AF65-F5344CB8AC3E}">
        <p14:creationId xmlns:p14="http://schemas.microsoft.com/office/powerpoint/2010/main" val="2863166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defTabSz="825500">
              <a:lnSpc>
                <a:spcPct val="100000"/>
              </a:lnSpc>
              <a:spcBef>
                <a:spcPts val="0"/>
              </a:spcBef>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defTabSz="825500">
              <a:lnSpc>
                <a:spcPct val="100000"/>
              </a:lnSpc>
              <a:spcBef>
                <a:spcPts val="0"/>
              </a:spcBef>
              <a:defRPr sz="5500" b="1"/>
            </a:lvl1pPr>
            <a:lvl2pPr defTabSz="825500">
              <a:lnSpc>
                <a:spcPct val="100000"/>
              </a:lnSpc>
              <a:spcBef>
                <a:spcPts val="0"/>
              </a:spcBef>
              <a:defRPr sz="5500" b="1"/>
            </a:lvl2pPr>
            <a:lvl3pPr defTabSz="825500">
              <a:lnSpc>
                <a:spcPct val="100000"/>
              </a:lnSpc>
              <a:spcBef>
                <a:spcPts val="0"/>
              </a:spcBef>
              <a:defRPr sz="5500" b="1"/>
            </a:lvl3pPr>
            <a:lvl4pPr defTabSz="825500">
              <a:lnSpc>
                <a:spcPct val="100000"/>
              </a:lnSpc>
              <a:spcBef>
                <a:spcPts val="0"/>
              </a:spcBef>
              <a:defRPr sz="5500" b="1"/>
            </a:lvl4pPr>
            <a:lvl5pPr defTabSz="825500">
              <a:lnSpc>
                <a:spcPct val="100000"/>
              </a:lnSpc>
              <a:spcBef>
                <a:spcPts val="0"/>
              </a:spcBef>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g"/>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defTabSz="825500">
              <a:lnSpc>
                <a:spcPct val="100000"/>
              </a:lnSpc>
              <a:spcBef>
                <a:spcPts val="0"/>
              </a:spcBef>
              <a:defRPr sz="5500" b="1"/>
            </a:lvl1pPr>
            <a:lvl2pPr defTabSz="825500">
              <a:lnSpc>
                <a:spcPct val="100000"/>
              </a:lnSpc>
              <a:spcBef>
                <a:spcPts val="0"/>
              </a:spcBef>
              <a:defRPr sz="5500" b="1"/>
            </a:lvl2pPr>
            <a:lvl3pPr defTabSz="825500">
              <a:lnSpc>
                <a:spcPct val="100000"/>
              </a:lnSpc>
              <a:spcBef>
                <a:spcPts val="0"/>
              </a:spcBef>
              <a:defRPr sz="5500" b="1"/>
            </a:lvl3pPr>
            <a:lvl4pPr defTabSz="825500">
              <a:lnSpc>
                <a:spcPct val="100000"/>
              </a:lnSpc>
              <a:spcBef>
                <a:spcPts val="0"/>
              </a:spcBef>
              <a:defRPr sz="5500" b="1"/>
            </a:lvl4pPr>
            <a:lvl5pPr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defTabSz="825500">
              <a:lnSpc>
                <a:spcPct val="100000"/>
              </a:lnSpc>
              <a:spcBef>
                <a:spcPts val="0"/>
              </a:spcBef>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rPr dirty="0"/>
              <a:t>Slide bullet text</a:t>
            </a:r>
          </a:p>
          <a:p>
            <a:pPr lvl="1"/>
            <a:endParaRPr dirty="0"/>
          </a:p>
          <a:p>
            <a:pPr lvl="2"/>
            <a:endParaRPr dirty="0"/>
          </a:p>
          <a:p>
            <a:pPr lvl="3"/>
            <a:endParaRPr dirty="0"/>
          </a:p>
          <a:p>
            <a:pPr lvl="4"/>
            <a:endParaRPr dirty="0"/>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defTabSz="825500">
              <a:lnSpc>
                <a:spcPct val="100000"/>
              </a:lnSpc>
              <a:spcBef>
                <a:spcPts val="0"/>
              </a:spcBef>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660384004_1290x1720.jpg"/>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defTabSz="825500">
              <a:lnSpc>
                <a:spcPct val="100000"/>
              </a:lnSpc>
              <a:spcBef>
                <a:spcPts val="0"/>
              </a:spcBef>
              <a:defRPr sz="3600" b="1"/>
            </a:lvl1pPr>
          </a:lstStyle>
          <a:p>
            <a:r>
              <a:t>Attribution</a:t>
            </a:r>
          </a:p>
        </p:txBody>
      </p:sp>
      <p:sp>
        <p:nvSpPr>
          <p:cNvPr id="11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defRPr sz="8500" spc="-170">
                <a:latin typeface="Helvetica Neue Medium"/>
                <a:ea typeface="Helvetica Neue Medium"/>
                <a:cs typeface="Helvetica Neue Medium"/>
                <a:sym typeface="Helvetica Neue Medium"/>
              </a:defRPr>
            </a:lvl1pPr>
            <a:lvl2pPr marL="638923" indent="-12700">
              <a:spcBef>
                <a:spcPts val="0"/>
              </a:spcBef>
              <a:defRPr sz="8500" spc="-170">
                <a:latin typeface="Helvetica Neue Medium"/>
                <a:ea typeface="Helvetica Neue Medium"/>
                <a:cs typeface="Helvetica Neue Medium"/>
                <a:sym typeface="Helvetica Neue Medium"/>
              </a:defRPr>
            </a:lvl2pPr>
            <a:lvl3pPr marL="638923" indent="444500">
              <a:spcBef>
                <a:spcPts val="0"/>
              </a:spcBef>
              <a:defRPr sz="8500" spc="-170">
                <a:latin typeface="Helvetica Neue Medium"/>
                <a:ea typeface="Helvetica Neue Medium"/>
                <a:cs typeface="Helvetica Neue Medium"/>
                <a:sym typeface="Helvetica Neue Medium"/>
              </a:defRPr>
            </a:lvl3pPr>
            <a:lvl4pPr marL="638923" indent="901700">
              <a:spcBef>
                <a:spcPts val="0"/>
              </a:spcBef>
              <a:defRPr sz="8500" spc="-170">
                <a:latin typeface="Helvetica Neue Medium"/>
                <a:ea typeface="Helvetica Neue Medium"/>
                <a:cs typeface="Helvetica Neue Medium"/>
                <a:sym typeface="Helvetica Neue Medium"/>
              </a:defRPr>
            </a:lvl4pPr>
            <a:lvl5pPr marL="638923" indent="1358900">
              <a:spcBef>
                <a:spcPts val="0"/>
              </a:spcBef>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Image"/>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5" name="Image"/>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6" name="Imag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Image"/>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Content left, Figure right">
    <p:spTree>
      <p:nvGrpSpPr>
        <p:cNvPr id="1" name=""/>
        <p:cNvGrpSpPr/>
        <p:nvPr/>
      </p:nvGrpSpPr>
      <p:grpSpPr>
        <a:xfrm>
          <a:off x="0" y="0"/>
          <a:ext cx="0" cy="0"/>
          <a:chOff x="0" y="0"/>
          <a:chExt cx="0" cy="0"/>
        </a:xfrm>
      </p:grpSpPr>
      <p:sp>
        <p:nvSpPr>
          <p:cNvPr id="195" name="Title Text"/>
          <p:cNvSpPr txBox="1">
            <a:spLocks noGrp="1"/>
          </p:cNvSpPr>
          <p:nvPr>
            <p:ph type="title"/>
          </p:nvPr>
        </p:nvSpPr>
        <p:spPr>
          <a:xfrm>
            <a:off x="1061961" y="357187"/>
            <a:ext cx="21959434" cy="3429001"/>
          </a:xfrm>
          <a:prstGeom prst="rect">
            <a:avLst/>
          </a:prstGeom>
        </p:spPr>
        <p:txBody>
          <a:bodyPr lIns="71437" tIns="71437" rIns="71437" bIns="71437" anchor="ctr"/>
          <a:lstStyle>
            <a:lvl1pPr defTabSz="584200">
              <a:lnSpc>
                <a:spcPct val="100000"/>
              </a:lnSpc>
              <a:defRPr sz="11400" spc="0">
                <a:latin typeface="Helvetica"/>
                <a:ea typeface="Helvetica"/>
                <a:cs typeface="Helvetica"/>
                <a:sym typeface="Helvetica"/>
              </a:defRPr>
            </a:lvl1pPr>
          </a:lstStyle>
          <a:p>
            <a:r>
              <a:t>Title Text</a:t>
            </a:r>
          </a:p>
        </p:txBody>
      </p:sp>
      <p:sp>
        <p:nvSpPr>
          <p:cNvPr id="196" name="Body Level One…"/>
          <p:cNvSpPr txBox="1">
            <a:spLocks noGrp="1"/>
          </p:cNvSpPr>
          <p:nvPr>
            <p:ph type="body" sz="half" idx="1"/>
          </p:nvPr>
        </p:nvSpPr>
        <p:spPr>
          <a:xfrm>
            <a:off x="1061961" y="3893343"/>
            <a:ext cx="11528501" cy="8663253"/>
          </a:xfrm>
          <a:prstGeom prst="rect">
            <a:avLst/>
          </a:prstGeom>
        </p:spPr>
        <p:txBody>
          <a:bodyPr lIns="71437" tIns="71437" rIns="71437" bIns="71437"/>
          <a:lstStyle>
            <a:lvl1pPr defTabSz="584200">
              <a:lnSpc>
                <a:spcPct val="100000"/>
              </a:lnSpc>
              <a:spcBef>
                <a:spcPts val="2400"/>
              </a:spcBef>
              <a:defRPr sz="6500">
                <a:latin typeface="Helvetica"/>
                <a:ea typeface="Helvetica"/>
                <a:cs typeface="Helvetica"/>
                <a:sym typeface="Helvetica"/>
              </a:defRPr>
            </a:lvl1pPr>
            <a:lvl2pPr indent="444500" defTabSz="584200">
              <a:lnSpc>
                <a:spcPct val="100000"/>
              </a:lnSpc>
              <a:spcBef>
                <a:spcPts val="2400"/>
              </a:spcBef>
              <a:defRPr sz="5500">
                <a:latin typeface="Helvetica"/>
                <a:ea typeface="Helvetica"/>
                <a:cs typeface="Helvetica"/>
                <a:sym typeface="Helvetica"/>
              </a:defRPr>
            </a:lvl2pPr>
            <a:lvl3pPr indent="889000" defTabSz="584200">
              <a:lnSpc>
                <a:spcPct val="100000"/>
              </a:lnSpc>
              <a:spcBef>
                <a:spcPts val="2400"/>
              </a:spcBef>
              <a:defRPr sz="5500">
                <a:latin typeface="Helvetica"/>
                <a:ea typeface="Helvetica"/>
                <a:cs typeface="Helvetica"/>
                <a:sym typeface="Helvetica"/>
              </a:defRPr>
            </a:lvl3pPr>
            <a:lvl4pPr indent="1333500" defTabSz="584200">
              <a:lnSpc>
                <a:spcPct val="100000"/>
              </a:lnSpc>
              <a:spcBef>
                <a:spcPts val="2400"/>
              </a:spcBef>
              <a:defRPr sz="5500">
                <a:latin typeface="Helvetica"/>
                <a:ea typeface="Helvetica"/>
                <a:cs typeface="Helvetica"/>
                <a:sym typeface="Helvetica"/>
              </a:defRPr>
            </a:lvl4pPr>
            <a:lvl5pPr indent="1778000" defTabSz="584200">
              <a:lnSpc>
                <a:spcPct val="60000"/>
              </a:lnSpc>
              <a:spcBef>
                <a:spcPts val="2400"/>
              </a:spcBef>
              <a:defRPr sz="5500">
                <a:latin typeface="Helvetica"/>
                <a:ea typeface="Helvetica"/>
                <a:cs typeface="Helvetica"/>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97" name="Slide Number"/>
          <p:cNvSpPr txBox="1">
            <a:spLocks noGrp="1"/>
          </p:cNvSpPr>
          <p:nvPr>
            <p:ph type="sldNum" sz="quarter" idx="2"/>
          </p:nvPr>
        </p:nvSpPr>
        <p:spPr>
          <a:xfrm>
            <a:off x="11950250" y="13055203"/>
            <a:ext cx="466354" cy="473076"/>
          </a:xfrm>
          <a:prstGeom prst="rect">
            <a:avLst/>
          </a:prstGeom>
        </p:spPr>
        <p:txBody>
          <a:bodyPr lIns="71437" tIns="71437" rIns="71437" bIns="71437" anchor="t">
            <a:normAutofit/>
          </a:bodyPr>
          <a:lstStyle>
            <a:lvl1pPr>
              <a:defRPr sz="2200">
                <a:latin typeface="Helvetica"/>
                <a:ea typeface="Helvetica"/>
                <a:cs typeface="Helvetica"/>
                <a:sym typeface="Helvetica"/>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4" name="Slide Title"/>
          <p:cNvSpPr txBox="1">
            <a:spLocks noGrp="1"/>
          </p:cNvSpPr>
          <p:nvPr>
            <p:ph type="title" hasCustomPrompt="1"/>
          </p:nvPr>
        </p:nvSpPr>
        <p:spPr>
          <a:prstGeom prst="rect">
            <a:avLst/>
          </a:prstGeom>
        </p:spPr>
        <p:txBody>
          <a:bodyPr/>
          <a:lstStyle/>
          <a:p>
            <a:r>
              <a:t>Slide Title</a:t>
            </a:r>
          </a:p>
        </p:txBody>
      </p:sp>
      <p:sp>
        <p:nvSpPr>
          <p:cNvPr id="205"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defTabSz="825500">
              <a:lnSpc>
                <a:spcPct val="100000"/>
              </a:lnSpc>
              <a:spcBef>
                <a:spcPts val="0"/>
              </a:spcBef>
              <a:defRPr sz="5500" b="1"/>
            </a:lvl1pPr>
          </a:lstStyle>
          <a:p>
            <a:r>
              <a:t>Slide Subtitle</a:t>
            </a:r>
          </a:p>
        </p:txBody>
      </p:sp>
      <p:sp>
        <p:nvSpPr>
          <p:cNvPr id="206" name="Body Level One…"/>
          <p:cNvSpPr txBox="1">
            <a:spLocks noGrp="1"/>
          </p:cNvSpPr>
          <p:nvPr>
            <p:ph type="body" idx="1" hasCustomPrompt="1"/>
          </p:nvPr>
        </p:nvSpPr>
        <p:spPr>
          <a:prstGeom prst="rect">
            <a:avLst/>
          </a:prstGeom>
        </p:spPr>
        <p:txBody>
          <a:bodyPr/>
          <a:lstStyle>
            <a:lvl1pPr marL="1905000" indent="-1905000" defTabSz="584200">
              <a:lnSpc>
                <a:spcPct val="100000"/>
              </a:lnSpc>
              <a:spcBef>
                <a:spcPts val="2400"/>
              </a:spcBef>
              <a:buSzPct val="123000"/>
              <a:buChar char="•"/>
              <a:defRPr sz="15000" b="1"/>
            </a:lvl1pPr>
            <a:lvl2pPr marL="2514600" indent="-1905000" defTabSz="584200">
              <a:lnSpc>
                <a:spcPct val="100000"/>
              </a:lnSpc>
              <a:spcBef>
                <a:spcPts val="2400"/>
              </a:spcBef>
              <a:buSzPct val="123000"/>
              <a:buChar char="•"/>
              <a:defRPr sz="15000" b="1"/>
            </a:lvl2pPr>
            <a:lvl3pPr marL="3124200" indent="-1905000" defTabSz="584200">
              <a:lnSpc>
                <a:spcPct val="100000"/>
              </a:lnSpc>
              <a:spcBef>
                <a:spcPts val="2400"/>
              </a:spcBef>
              <a:buSzPct val="123000"/>
              <a:buChar char="•"/>
              <a:defRPr sz="15000" b="1"/>
            </a:lvl3pPr>
            <a:lvl4pPr marL="3733800" indent="-1905000" defTabSz="584200">
              <a:lnSpc>
                <a:spcPct val="100000"/>
              </a:lnSpc>
              <a:spcBef>
                <a:spcPts val="2400"/>
              </a:spcBef>
              <a:buSzPct val="123000"/>
              <a:buChar char="•"/>
              <a:defRPr sz="15000" b="1"/>
            </a:lvl4pPr>
            <a:lvl5pPr marL="4343400" indent="-1905000" defTabSz="584200">
              <a:lnSpc>
                <a:spcPct val="100000"/>
              </a:lnSpc>
              <a:spcBef>
                <a:spcPts val="2400"/>
              </a:spcBef>
              <a:buSzPct val="123000"/>
              <a:buChar char="•"/>
              <a:defRPr sz="15000" b="1"/>
            </a:lvl5pPr>
          </a:lstStyle>
          <a:p>
            <a:r>
              <a:t>Slide bullet text</a:t>
            </a:r>
          </a:p>
          <a:p>
            <a:pPr lvl="1"/>
            <a:endParaRPr/>
          </a:p>
          <a:p>
            <a:pPr lvl="2"/>
            <a:endParaRPr/>
          </a:p>
          <a:p>
            <a:pPr lvl="3"/>
            <a:endParaRPr/>
          </a:p>
          <a:p>
            <a:pPr lvl="4"/>
            <a:endParaRPr/>
          </a:p>
        </p:txBody>
      </p:sp>
      <p:sp>
        <p:nvSpPr>
          <p:cNvPr id="2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43" name="Slide Title"/>
          <p:cNvSpPr txBox="1">
            <a:spLocks noGrp="1"/>
          </p:cNvSpPr>
          <p:nvPr>
            <p:ph type="title" hasCustomPrompt="1"/>
          </p:nvPr>
        </p:nvSpPr>
        <p:spPr>
          <a:prstGeom prst="rect">
            <a:avLst/>
          </a:prstGeom>
        </p:spPr>
        <p:txBody>
          <a:bodyPr/>
          <a:lstStyle/>
          <a:p>
            <a:r>
              <a:t>Slide Title</a:t>
            </a:r>
          </a:p>
        </p:txBody>
      </p:sp>
      <p:sp>
        <p:nvSpPr>
          <p:cNvPr id="244"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defTabSz="825500">
              <a:lnSpc>
                <a:spcPct val="100000"/>
              </a:lnSpc>
              <a:spcBef>
                <a:spcPts val="0"/>
              </a:spcBef>
              <a:defRPr sz="5500" b="1"/>
            </a:lvl1pPr>
          </a:lstStyle>
          <a:p>
            <a:r>
              <a:t>Slide Subtitle</a:t>
            </a:r>
          </a:p>
        </p:txBody>
      </p:sp>
      <p:sp>
        <p:nvSpPr>
          <p:cNvPr id="245" name="Body Level One…"/>
          <p:cNvSpPr txBox="1">
            <a:spLocks noGrp="1"/>
          </p:cNvSpPr>
          <p:nvPr>
            <p:ph type="body" idx="1" hasCustomPrompt="1"/>
          </p:nvPr>
        </p:nvSpPr>
        <p:spPr>
          <a:prstGeom prst="rect">
            <a:avLst/>
          </a:prstGeom>
        </p:spPr>
        <p:txBody>
          <a:bodyPr/>
          <a:lstStyle>
            <a:lvl1pPr marL="558800" indent="-558800">
              <a:spcBef>
                <a:spcPts val="2100"/>
              </a:spcBef>
              <a:buSzPct val="123000"/>
              <a:buChar char="•"/>
              <a:defRPr sz="4400">
                <a:solidFill>
                  <a:srgbClr val="535353"/>
                </a:solidFill>
              </a:defRPr>
            </a:lvl1pPr>
            <a:lvl2pPr marL="1168400" indent="-558800">
              <a:spcBef>
                <a:spcPts val="2100"/>
              </a:spcBef>
              <a:buSzPct val="123000"/>
              <a:buChar char="•"/>
              <a:defRPr sz="4400">
                <a:solidFill>
                  <a:srgbClr val="535353"/>
                </a:solidFill>
              </a:defRPr>
            </a:lvl2pPr>
            <a:lvl3pPr marL="1778000" indent="-558800">
              <a:spcBef>
                <a:spcPts val="2100"/>
              </a:spcBef>
              <a:buSzPct val="123000"/>
              <a:buChar char="•"/>
              <a:defRPr sz="4400">
                <a:solidFill>
                  <a:srgbClr val="535353"/>
                </a:solidFill>
              </a:defRPr>
            </a:lvl3pPr>
            <a:lvl4pPr marL="2387600" indent="-558800">
              <a:spcBef>
                <a:spcPts val="2100"/>
              </a:spcBef>
              <a:buSzPct val="123000"/>
              <a:buChar char="•"/>
              <a:defRPr sz="4400">
                <a:solidFill>
                  <a:srgbClr val="535353"/>
                </a:solidFill>
              </a:defRPr>
            </a:lvl4pPr>
            <a:lvl5pPr marL="2997200" indent="-558800">
              <a:spcBef>
                <a:spcPts val="2100"/>
              </a:spcBef>
              <a:buSzPct val="123000"/>
              <a:buChar char="•"/>
              <a:defRPr sz="4400">
                <a:solidFill>
                  <a:srgbClr val="535353"/>
                </a:solidFill>
              </a:defRPr>
            </a:lvl5pPr>
          </a:lstStyle>
          <a:p>
            <a:r>
              <a:t>Slide bullet text</a:t>
            </a:r>
          </a:p>
          <a:p>
            <a:pPr lvl="1"/>
            <a:endParaRPr/>
          </a:p>
          <a:p>
            <a:pPr lvl="2"/>
            <a:endParaRPr/>
          </a:p>
          <a:p>
            <a:pPr lvl="3"/>
            <a:endParaRPr/>
          </a:p>
          <a:p>
            <a:pPr lvl="4"/>
            <a:endParaRPr/>
          </a:p>
        </p:txBody>
      </p:sp>
      <p:sp>
        <p:nvSpPr>
          <p:cNvPr id="2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831200" y="5735600"/>
            <a:ext cx="22721600" cy="2244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9600"/>
            </a:lvl1pPr>
            <a:lvl2pPr lvl="1" algn="ctr">
              <a:spcBef>
                <a:spcPts val="0"/>
              </a:spcBef>
              <a:spcAft>
                <a:spcPts val="0"/>
              </a:spcAft>
              <a:buSzPts val="3600"/>
              <a:buNone/>
              <a:defRPr sz="9600"/>
            </a:lvl2pPr>
            <a:lvl3pPr lvl="2" algn="ctr">
              <a:spcBef>
                <a:spcPts val="0"/>
              </a:spcBef>
              <a:spcAft>
                <a:spcPts val="0"/>
              </a:spcAft>
              <a:buSzPts val="3600"/>
              <a:buNone/>
              <a:defRPr sz="9600"/>
            </a:lvl3pPr>
            <a:lvl4pPr lvl="3" algn="ctr">
              <a:spcBef>
                <a:spcPts val="0"/>
              </a:spcBef>
              <a:spcAft>
                <a:spcPts val="0"/>
              </a:spcAft>
              <a:buSzPts val="3600"/>
              <a:buNone/>
              <a:defRPr sz="9600"/>
            </a:lvl4pPr>
            <a:lvl5pPr lvl="4" algn="ctr">
              <a:spcBef>
                <a:spcPts val="0"/>
              </a:spcBef>
              <a:spcAft>
                <a:spcPts val="0"/>
              </a:spcAft>
              <a:buSzPts val="3600"/>
              <a:buNone/>
              <a:defRPr sz="9600"/>
            </a:lvl5pPr>
            <a:lvl6pPr lvl="5" algn="ctr">
              <a:spcBef>
                <a:spcPts val="0"/>
              </a:spcBef>
              <a:spcAft>
                <a:spcPts val="0"/>
              </a:spcAft>
              <a:buSzPts val="3600"/>
              <a:buNone/>
              <a:defRPr sz="9600"/>
            </a:lvl6pPr>
            <a:lvl7pPr lvl="6" algn="ctr">
              <a:spcBef>
                <a:spcPts val="0"/>
              </a:spcBef>
              <a:spcAft>
                <a:spcPts val="0"/>
              </a:spcAft>
              <a:buSzPts val="3600"/>
              <a:buNone/>
              <a:defRPr sz="9600"/>
            </a:lvl7pPr>
            <a:lvl8pPr lvl="7" algn="ctr">
              <a:spcBef>
                <a:spcPts val="0"/>
              </a:spcBef>
              <a:spcAft>
                <a:spcPts val="0"/>
              </a:spcAft>
              <a:buSzPts val="3600"/>
              <a:buNone/>
              <a:defRPr sz="9600"/>
            </a:lvl8pPr>
            <a:lvl9pPr lvl="8" algn="ctr">
              <a:spcBef>
                <a:spcPts val="0"/>
              </a:spcBef>
              <a:spcAft>
                <a:spcPts val="0"/>
              </a:spcAft>
              <a:buSzPts val="3600"/>
              <a:buNone/>
              <a:defRPr sz="9600"/>
            </a:lvl9pPr>
          </a:lstStyle>
          <a:p>
            <a:endParaRPr/>
          </a:p>
        </p:txBody>
      </p:sp>
      <p:sp>
        <p:nvSpPr>
          <p:cNvPr id="16" name="Google Shape;16;p3"/>
          <p:cNvSpPr txBox="1">
            <a:spLocks noGrp="1"/>
          </p:cNvSpPr>
          <p:nvPr>
            <p:ph type="sldNum" idx="12"/>
          </p:nvPr>
        </p:nvSpPr>
        <p:spPr>
          <a:xfrm>
            <a:off x="22593221" y="12435245"/>
            <a:ext cx="1463200" cy="104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298123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ssertion">
  <p:cSld name="Assertion">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1200" y="5123335"/>
            <a:ext cx="22721600" cy="1527000"/>
          </a:xfrm>
          <a:prstGeom prst="rect">
            <a:avLst/>
          </a:prstGeom>
        </p:spPr>
        <p:txBody>
          <a:bodyPr spcFirstLastPara="1" wrap="square" lIns="91425" tIns="91425" rIns="91425" bIns="91425" anchor="ctr" anchorCtr="0">
            <a:normAutofit/>
          </a:bodyPr>
          <a:lstStyle>
            <a:lvl1pPr lvl="0" algn="ctr" rtl="0">
              <a:spcBef>
                <a:spcPts val="0"/>
              </a:spcBef>
              <a:spcAft>
                <a:spcPts val="0"/>
              </a:spcAft>
              <a:buNone/>
              <a:defRPr b="0"/>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Tree>
    <p:extLst>
      <p:ext uri="{BB962C8B-B14F-4D97-AF65-F5344CB8AC3E}">
        <p14:creationId xmlns:p14="http://schemas.microsoft.com/office/powerpoint/2010/main" val="2531372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22593221" y="12435245"/>
            <a:ext cx="1463200" cy="104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76383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1"/>
        <p:cNvGrpSpPr/>
        <p:nvPr/>
      </p:nvGrpSpPr>
      <p:grpSpPr>
        <a:xfrm>
          <a:off x="0" y="0"/>
          <a:ext cx="0" cy="0"/>
          <a:chOff x="0" y="0"/>
          <a:chExt cx="0" cy="0"/>
        </a:xfrm>
      </p:grpSpPr>
      <p:sp>
        <p:nvSpPr>
          <p:cNvPr id="22" name="Google Shape;22;p5"/>
          <p:cNvSpPr txBox="1">
            <a:spLocks noGrp="1"/>
          </p:cNvSpPr>
          <p:nvPr>
            <p:ph type="sldNum" idx="12"/>
          </p:nvPr>
        </p:nvSpPr>
        <p:spPr>
          <a:xfrm>
            <a:off x="22593221" y="12435245"/>
            <a:ext cx="1463200" cy="104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
        <p:nvSpPr>
          <p:cNvPr id="23" name="Google Shape;23;p5"/>
          <p:cNvSpPr txBox="1">
            <a:spLocks noGrp="1"/>
          </p:cNvSpPr>
          <p:nvPr>
            <p:ph type="title"/>
          </p:nvPr>
        </p:nvSpPr>
        <p:spPr>
          <a:xfrm>
            <a:off x="597645" y="609267"/>
            <a:ext cx="22806400" cy="15272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3762307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ansition slide">
  <p:cSld name="Transition slide">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831200" y="1186733"/>
            <a:ext cx="22721600" cy="11408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22593221" y="12435245"/>
            <a:ext cx="1463200" cy="104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66370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60" r:id="rId6"/>
    <p:sldLayoutId id="2147483661" r:id="rId7"/>
    <p:sldLayoutId id="2147483662" r:id="rId8"/>
    <p:sldLayoutId id="2147483663" r:id="rId9"/>
    <p:sldLayoutId id="2147483669" r:id="rId10"/>
    <p:sldLayoutId id="2147483670" r:id="rId11"/>
    <p:sldLayoutId id="2147483674" r:id="rId12"/>
    <p:sldLayoutId id="2147483675" r:id="rId13"/>
    <p:sldLayoutId id="2147483676" r:id="rId14"/>
    <p:sldLayoutId id="2147483677" r:id="rId15"/>
    <p:sldLayoutId id="2147483679" r:id="rId16"/>
    <p:sldLayoutId id="2147483680" r:id="rId17"/>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0" marR="0" indent="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1pPr>
      <a:lvl2pPr marL="0" marR="0" indent="4572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2pPr>
      <a:lvl3pPr marL="0" marR="0" indent="9144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3pPr>
      <a:lvl4pPr marL="0" marR="0" indent="13716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4pPr>
      <a:lvl5pPr marL="0" marR="0" indent="18288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5pPr>
      <a:lvl6pPr marL="0" marR="0" indent="22860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6pPr>
      <a:lvl7pPr marL="0" marR="0" indent="27432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7pPr>
      <a:lvl8pPr marL="0" marR="0" indent="32004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8pPr>
      <a:lvl9pPr marL="0" marR="0" indent="3657600" algn="l" defTabSz="2438338" latinLnBrk="0">
        <a:lnSpc>
          <a:spcPct val="90000"/>
        </a:lnSpc>
        <a:spcBef>
          <a:spcPts val="1800"/>
        </a:spcBef>
        <a:spcAft>
          <a:spcPts val="0"/>
        </a:spcAft>
        <a:buClrTx/>
        <a:buSzTx/>
        <a:buFontTx/>
        <a:buNone/>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fivethirtyeight.com/features/how-mapping-shots-in-the-nba-changed-it-forever/"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hyperlink" Target="https://fivethirtyeight.com/features/how-mapping-shots-in-the-nba-changed-it-forever/"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fivethirtyeight.com/features/how-mapping-shots-in-the-nba-changed-it-forev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hyperlink" Target="https://twitter.com/kirkgoldsberry/status/1217109175894831105?s=20&amp;t=Yd-E6l4UL2jO7iq5iGjPHw"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hyperlink" Target="https://twitter.com/kirkgoldsberry/status/1217109175894831105?s=20&amp;t=Yd-E6l4UL2jO7iq5iGjPHw"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hyperlink" Target="http://vita.had.co.nz/papers/tidy-data.pdf"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8372-C884-02AF-E5CB-76C29386A65E}"/>
            </a:ext>
          </a:extLst>
        </p:cNvPr>
        <p:cNvGrpSpPr/>
        <p:nvPr/>
      </p:nvGrpSpPr>
      <p:grpSpPr>
        <a:xfrm>
          <a:off x="0" y="0"/>
          <a:ext cx="0" cy="0"/>
          <a:chOff x="0" y="0"/>
          <a:chExt cx="0" cy="0"/>
        </a:xfrm>
      </p:grpSpPr>
      <p:sp>
        <p:nvSpPr>
          <p:cNvPr id="640" name="Title 3">
            <a:extLst>
              <a:ext uri="{FF2B5EF4-FFF2-40B4-BE49-F238E27FC236}">
                <a16:creationId xmlns:a16="http://schemas.microsoft.com/office/drawing/2014/main" id="{BB6B1853-8360-C32C-C321-487143511B93}"/>
              </a:ext>
            </a:extLst>
          </p:cNvPr>
          <p:cNvSpPr txBox="1"/>
          <p:nvPr/>
        </p:nvSpPr>
        <p:spPr>
          <a:xfrm>
            <a:off x="2951361" y="5212688"/>
            <a:ext cx="18481279" cy="365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1828800">
              <a:lnSpc>
                <a:spcPct val="90000"/>
              </a:lnSpc>
              <a:defRPr sz="13200" b="1">
                <a:solidFill>
                  <a:srgbClr val="000000"/>
                </a:solidFill>
              </a:defRPr>
            </a:lvl1pPr>
          </a:lstStyle>
          <a:p>
            <a:r>
              <a:rPr lang="en-US" dirty="0"/>
              <a:t>Is the game of basketball broken?</a:t>
            </a:r>
            <a:endParaRPr dirty="0"/>
          </a:p>
        </p:txBody>
      </p:sp>
    </p:spTree>
    <p:extLst>
      <p:ext uri="{BB962C8B-B14F-4D97-AF65-F5344CB8AC3E}">
        <p14:creationId xmlns:p14="http://schemas.microsoft.com/office/powerpoint/2010/main" val="175657265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D472E-D7EF-9FCE-1874-DF0A80721B6D}"/>
            </a:ext>
          </a:extLst>
        </p:cNvPr>
        <p:cNvGrpSpPr/>
        <p:nvPr/>
      </p:nvGrpSpPr>
      <p:grpSpPr>
        <a:xfrm>
          <a:off x="0" y="0"/>
          <a:ext cx="0" cy="0"/>
          <a:chOff x="0" y="0"/>
          <a:chExt cx="0" cy="0"/>
        </a:xfrm>
      </p:grpSpPr>
      <p:pic>
        <p:nvPicPr>
          <p:cNvPr id="644" name="Picture 2" descr="Picture 2">
            <a:extLst>
              <a:ext uri="{FF2B5EF4-FFF2-40B4-BE49-F238E27FC236}">
                <a16:creationId xmlns:a16="http://schemas.microsoft.com/office/drawing/2014/main" id="{69D17AD1-6CC9-018D-1720-57A43D5C23CF}"/>
              </a:ext>
            </a:extLst>
          </p:cNvPr>
          <p:cNvPicPr>
            <a:picLocks noChangeAspect="1"/>
          </p:cNvPicPr>
          <p:nvPr/>
        </p:nvPicPr>
        <p:blipFill>
          <a:blip r:embed="rId3"/>
          <a:stretch>
            <a:fillRect/>
          </a:stretch>
        </p:blipFill>
        <p:spPr>
          <a:xfrm>
            <a:off x="5264813" y="597447"/>
            <a:ext cx="13854371" cy="12521105"/>
          </a:xfrm>
          <a:prstGeom prst="rect">
            <a:avLst/>
          </a:prstGeom>
          <a:ln w="12700">
            <a:miter lim="400000"/>
          </a:ln>
        </p:spPr>
      </p:pic>
      <p:sp>
        <p:nvSpPr>
          <p:cNvPr id="645" name="Content Placeholder 5">
            <a:extLst>
              <a:ext uri="{FF2B5EF4-FFF2-40B4-BE49-F238E27FC236}">
                <a16:creationId xmlns:a16="http://schemas.microsoft.com/office/drawing/2014/main" id="{4531C75D-62B2-D913-2FCB-263E4922E88D}"/>
              </a:ext>
            </a:extLst>
          </p:cNvPr>
          <p:cNvSpPr txBox="1"/>
          <p:nvPr/>
        </p:nvSpPr>
        <p:spPr>
          <a:xfrm>
            <a:off x="5434379" y="12689222"/>
            <a:ext cx="13363984"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l" defTabSz="1828800">
              <a:lnSpc>
                <a:spcPct val="90000"/>
              </a:lnSpc>
              <a:spcBef>
                <a:spcPts val="2000"/>
              </a:spcBef>
              <a:defRPr sz="1800">
                <a:solidFill>
                  <a:srgbClr val="808080"/>
                </a:solidFill>
                <a:latin typeface="Helvetica"/>
                <a:ea typeface="Helvetica"/>
                <a:cs typeface="Helvetica"/>
                <a:sym typeface="Helvetica"/>
              </a:defRPr>
            </a:pPr>
            <a:r>
              <a:t>Source: </a:t>
            </a:r>
            <a:r>
              <a:rPr u="sng">
                <a:solidFill>
                  <a:srgbClr val="0563C1"/>
                </a:solidFill>
                <a:uFill>
                  <a:solidFill>
                    <a:srgbClr val="0563C1"/>
                  </a:solidFill>
                </a:uFill>
                <a:hlinkClick r:id="rId4"/>
              </a:rPr>
              <a:t>Kirk Goldsberry, FiveThirtyEight, 2019</a:t>
            </a:r>
          </a:p>
        </p:txBody>
      </p:sp>
    </p:spTree>
    <p:extLst>
      <p:ext uri="{BB962C8B-B14F-4D97-AF65-F5344CB8AC3E}">
        <p14:creationId xmlns:p14="http://schemas.microsoft.com/office/powerpoint/2010/main" val="293230438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E7A3F-43B0-D77D-F603-601EF83C0A63}"/>
            </a:ext>
          </a:extLst>
        </p:cNvPr>
        <p:cNvGrpSpPr/>
        <p:nvPr/>
      </p:nvGrpSpPr>
      <p:grpSpPr>
        <a:xfrm>
          <a:off x="0" y="0"/>
          <a:ext cx="0" cy="0"/>
          <a:chOff x="0" y="0"/>
          <a:chExt cx="0" cy="0"/>
        </a:xfrm>
      </p:grpSpPr>
      <p:pic>
        <p:nvPicPr>
          <p:cNvPr id="649" name="Picture 2" descr="Picture 2">
            <a:extLst>
              <a:ext uri="{FF2B5EF4-FFF2-40B4-BE49-F238E27FC236}">
                <a16:creationId xmlns:a16="http://schemas.microsoft.com/office/drawing/2014/main" id="{036758E1-11DB-B701-0D3C-A604C105A3E5}"/>
              </a:ext>
            </a:extLst>
          </p:cNvPr>
          <p:cNvPicPr>
            <a:picLocks noChangeAspect="1"/>
          </p:cNvPicPr>
          <p:nvPr/>
        </p:nvPicPr>
        <p:blipFill>
          <a:blip r:embed="rId3"/>
          <a:stretch>
            <a:fillRect/>
          </a:stretch>
        </p:blipFill>
        <p:spPr>
          <a:xfrm>
            <a:off x="5264813" y="597447"/>
            <a:ext cx="13854371" cy="12521105"/>
          </a:xfrm>
          <a:prstGeom prst="rect">
            <a:avLst/>
          </a:prstGeom>
          <a:ln w="12700">
            <a:miter lim="400000"/>
          </a:ln>
        </p:spPr>
      </p:pic>
      <p:sp>
        <p:nvSpPr>
          <p:cNvPr id="650" name="Content Placeholder 5">
            <a:extLst>
              <a:ext uri="{FF2B5EF4-FFF2-40B4-BE49-F238E27FC236}">
                <a16:creationId xmlns:a16="http://schemas.microsoft.com/office/drawing/2014/main" id="{78311B6D-611A-6098-0AE2-1760A77BC4A2}"/>
              </a:ext>
            </a:extLst>
          </p:cNvPr>
          <p:cNvSpPr txBox="1"/>
          <p:nvPr/>
        </p:nvSpPr>
        <p:spPr>
          <a:xfrm>
            <a:off x="5434379" y="12689222"/>
            <a:ext cx="13363984"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l" defTabSz="1828800">
              <a:lnSpc>
                <a:spcPct val="90000"/>
              </a:lnSpc>
              <a:spcBef>
                <a:spcPts val="2000"/>
              </a:spcBef>
              <a:defRPr sz="1800">
                <a:solidFill>
                  <a:srgbClr val="808080"/>
                </a:solidFill>
                <a:latin typeface="Helvetica"/>
                <a:ea typeface="Helvetica"/>
                <a:cs typeface="Helvetica"/>
                <a:sym typeface="Helvetica"/>
              </a:defRPr>
            </a:pPr>
            <a:r>
              <a:t>Source: </a:t>
            </a:r>
            <a:r>
              <a:rPr u="sng">
                <a:solidFill>
                  <a:srgbClr val="0563C1"/>
                </a:solidFill>
                <a:uFill>
                  <a:solidFill>
                    <a:srgbClr val="0563C1"/>
                  </a:solidFill>
                </a:uFill>
                <a:hlinkClick r:id="rId4"/>
              </a:rPr>
              <a:t>Kirk Goldsberry, FiveThirtyEight, 2019</a:t>
            </a:r>
          </a:p>
        </p:txBody>
      </p:sp>
      <p:grpSp>
        <p:nvGrpSpPr>
          <p:cNvPr id="653" name="Group 3">
            <a:extLst>
              <a:ext uri="{FF2B5EF4-FFF2-40B4-BE49-F238E27FC236}">
                <a16:creationId xmlns:a16="http://schemas.microsoft.com/office/drawing/2014/main" id="{FDFD2D0C-33B0-DFB0-D2CA-5339DA8BB867}"/>
              </a:ext>
            </a:extLst>
          </p:cNvPr>
          <p:cNvGrpSpPr/>
          <p:nvPr/>
        </p:nvGrpSpPr>
        <p:grpSpPr>
          <a:xfrm>
            <a:off x="8555600" y="9507246"/>
            <a:ext cx="3249471" cy="1320950"/>
            <a:chOff x="0" y="0"/>
            <a:chExt cx="3249470" cy="1320949"/>
          </a:xfrm>
        </p:grpSpPr>
        <p:sp>
          <p:nvSpPr>
            <p:cNvPr id="651" name="Straight Connector 4">
              <a:extLst>
                <a:ext uri="{FF2B5EF4-FFF2-40B4-BE49-F238E27FC236}">
                  <a16:creationId xmlns:a16="http://schemas.microsoft.com/office/drawing/2014/main" id="{3B16343F-ADD8-A5F0-835E-D7A3F11B1346}"/>
                </a:ext>
              </a:extLst>
            </p:cNvPr>
            <p:cNvSpPr/>
            <p:nvPr/>
          </p:nvSpPr>
          <p:spPr>
            <a:xfrm>
              <a:off x="2488762" y="606814"/>
              <a:ext cx="760709" cy="714136"/>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52" name="TextBox 6">
              <a:extLst>
                <a:ext uri="{FF2B5EF4-FFF2-40B4-BE49-F238E27FC236}">
                  <a16:creationId xmlns:a16="http://schemas.microsoft.com/office/drawing/2014/main" id="{3B5C63D9-9D98-C94F-1E49-3D50E8AA3412}"/>
                </a:ext>
              </a:extLst>
            </p:cNvPr>
            <p:cNvSpPr txBox="1"/>
            <p:nvPr/>
          </p:nvSpPr>
          <p:spPr>
            <a:xfrm>
              <a:off x="0" y="0"/>
              <a:ext cx="2878376" cy="8509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Basket</a:t>
              </a:r>
            </a:p>
          </p:txBody>
        </p:sp>
      </p:grpSp>
      <p:grpSp>
        <p:nvGrpSpPr>
          <p:cNvPr id="656" name="Group 7">
            <a:extLst>
              <a:ext uri="{FF2B5EF4-FFF2-40B4-BE49-F238E27FC236}">
                <a16:creationId xmlns:a16="http://schemas.microsoft.com/office/drawing/2014/main" id="{5C7EA30E-0A07-85A8-EB5E-1CA3EDE4A5EF}"/>
              </a:ext>
            </a:extLst>
          </p:cNvPr>
          <p:cNvGrpSpPr/>
          <p:nvPr/>
        </p:nvGrpSpPr>
        <p:grpSpPr>
          <a:xfrm>
            <a:off x="16023441" y="4208643"/>
            <a:ext cx="5097884" cy="2552701"/>
            <a:chOff x="64880" y="0"/>
            <a:chExt cx="5097883" cy="2552700"/>
          </a:xfrm>
        </p:grpSpPr>
        <p:sp>
          <p:nvSpPr>
            <p:cNvPr id="654" name="Straight Connector 8">
              <a:extLst>
                <a:ext uri="{FF2B5EF4-FFF2-40B4-BE49-F238E27FC236}">
                  <a16:creationId xmlns:a16="http://schemas.microsoft.com/office/drawing/2014/main" id="{D3B168D8-4C09-46FB-7F00-F3DC5F2204F9}"/>
                </a:ext>
              </a:extLst>
            </p:cNvPr>
            <p:cNvSpPr/>
            <p:nvPr/>
          </p:nvSpPr>
          <p:spPr>
            <a:xfrm flipH="1">
              <a:off x="64880" y="68448"/>
              <a:ext cx="1780200" cy="1748102"/>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55" name="TextBox 9">
              <a:extLst>
                <a:ext uri="{FF2B5EF4-FFF2-40B4-BE49-F238E27FC236}">
                  <a16:creationId xmlns:a16="http://schemas.microsoft.com/office/drawing/2014/main" id="{AB17E5D5-1B78-8071-5711-958C1917F3FB}"/>
                </a:ext>
              </a:extLst>
            </p:cNvPr>
            <p:cNvSpPr txBox="1"/>
            <p:nvPr/>
          </p:nvSpPr>
          <p:spPr>
            <a:xfrm>
              <a:off x="786893" y="0"/>
              <a:ext cx="4375872" cy="25527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3 pts for shots outside this arc</a:t>
              </a:r>
            </a:p>
          </p:txBody>
        </p:sp>
      </p:grpSp>
      <p:grpSp>
        <p:nvGrpSpPr>
          <p:cNvPr id="659" name="Group 11">
            <a:extLst>
              <a:ext uri="{FF2B5EF4-FFF2-40B4-BE49-F238E27FC236}">
                <a16:creationId xmlns:a16="http://schemas.microsoft.com/office/drawing/2014/main" id="{1787982C-4529-A9BE-9208-5E486607E318}"/>
              </a:ext>
            </a:extLst>
          </p:cNvPr>
          <p:cNvGrpSpPr/>
          <p:nvPr/>
        </p:nvGrpSpPr>
        <p:grpSpPr>
          <a:xfrm>
            <a:off x="2753802" y="6980670"/>
            <a:ext cx="4861747" cy="2552701"/>
            <a:chOff x="0" y="0"/>
            <a:chExt cx="4861745" cy="2552700"/>
          </a:xfrm>
        </p:grpSpPr>
        <p:sp>
          <p:nvSpPr>
            <p:cNvPr id="657" name="Straight Connector 12">
              <a:extLst>
                <a:ext uri="{FF2B5EF4-FFF2-40B4-BE49-F238E27FC236}">
                  <a16:creationId xmlns:a16="http://schemas.microsoft.com/office/drawing/2014/main" id="{01FDE523-5B22-1906-58CB-B99A24D9EDBF}"/>
                </a:ext>
              </a:extLst>
            </p:cNvPr>
            <p:cNvSpPr/>
            <p:nvPr/>
          </p:nvSpPr>
          <p:spPr>
            <a:xfrm>
              <a:off x="3986255" y="606813"/>
              <a:ext cx="875491" cy="653427"/>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58" name="TextBox 13">
              <a:extLst>
                <a:ext uri="{FF2B5EF4-FFF2-40B4-BE49-F238E27FC236}">
                  <a16:creationId xmlns:a16="http://schemas.microsoft.com/office/drawing/2014/main" id="{14613E69-74C6-7B5C-5AF2-0C6B7A18DF9C}"/>
                </a:ext>
              </a:extLst>
            </p:cNvPr>
            <p:cNvSpPr txBox="1"/>
            <p:nvPr/>
          </p:nvSpPr>
          <p:spPr>
            <a:xfrm>
              <a:off x="0" y="0"/>
              <a:ext cx="4375868" cy="25527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2 pts for shots within this arc</a:t>
              </a:r>
            </a:p>
          </p:txBody>
        </p:sp>
      </p:grpSp>
    </p:spTree>
    <p:extLst>
      <p:ext uri="{BB962C8B-B14F-4D97-AF65-F5344CB8AC3E}">
        <p14:creationId xmlns:p14="http://schemas.microsoft.com/office/powerpoint/2010/main" val="190710582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AEF6-397A-C304-E27C-3C41C693C660}"/>
            </a:ext>
          </a:extLst>
        </p:cNvPr>
        <p:cNvGrpSpPr/>
        <p:nvPr/>
      </p:nvGrpSpPr>
      <p:grpSpPr>
        <a:xfrm>
          <a:off x="0" y="0"/>
          <a:ext cx="0" cy="0"/>
          <a:chOff x="0" y="0"/>
          <a:chExt cx="0" cy="0"/>
        </a:xfrm>
      </p:grpSpPr>
      <p:pic>
        <p:nvPicPr>
          <p:cNvPr id="663" name="Picture 2" descr="Picture 2">
            <a:extLst>
              <a:ext uri="{FF2B5EF4-FFF2-40B4-BE49-F238E27FC236}">
                <a16:creationId xmlns:a16="http://schemas.microsoft.com/office/drawing/2014/main" id="{DA65C143-A0CE-8AA6-798C-5C9718BC96DF}"/>
              </a:ext>
            </a:extLst>
          </p:cNvPr>
          <p:cNvPicPr>
            <a:picLocks noChangeAspect="1"/>
          </p:cNvPicPr>
          <p:nvPr/>
        </p:nvPicPr>
        <p:blipFill>
          <a:blip r:embed="rId3"/>
          <a:stretch>
            <a:fillRect/>
          </a:stretch>
        </p:blipFill>
        <p:spPr>
          <a:xfrm>
            <a:off x="5264813" y="597447"/>
            <a:ext cx="13854371" cy="12521105"/>
          </a:xfrm>
          <a:prstGeom prst="rect">
            <a:avLst/>
          </a:prstGeom>
          <a:ln w="12700">
            <a:miter lim="400000"/>
          </a:ln>
        </p:spPr>
      </p:pic>
      <p:sp>
        <p:nvSpPr>
          <p:cNvPr id="664" name="Content Placeholder 5">
            <a:extLst>
              <a:ext uri="{FF2B5EF4-FFF2-40B4-BE49-F238E27FC236}">
                <a16:creationId xmlns:a16="http://schemas.microsoft.com/office/drawing/2014/main" id="{563AC220-27CC-010D-0890-58BE28E74FAD}"/>
              </a:ext>
            </a:extLst>
          </p:cNvPr>
          <p:cNvSpPr txBox="1"/>
          <p:nvPr/>
        </p:nvSpPr>
        <p:spPr>
          <a:xfrm>
            <a:off x="5434379" y="12689222"/>
            <a:ext cx="13363984"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l" defTabSz="1828800">
              <a:lnSpc>
                <a:spcPct val="90000"/>
              </a:lnSpc>
              <a:spcBef>
                <a:spcPts val="2000"/>
              </a:spcBef>
              <a:defRPr sz="1800">
                <a:solidFill>
                  <a:srgbClr val="808080"/>
                </a:solidFill>
                <a:latin typeface="Helvetica"/>
                <a:ea typeface="Helvetica"/>
                <a:cs typeface="Helvetica"/>
                <a:sym typeface="Helvetica"/>
              </a:defRPr>
            </a:pPr>
            <a:r>
              <a:t>Source: </a:t>
            </a:r>
            <a:r>
              <a:rPr u="sng">
                <a:solidFill>
                  <a:srgbClr val="0563C1"/>
                </a:solidFill>
                <a:uFill>
                  <a:solidFill>
                    <a:srgbClr val="0563C1"/>
                  </a:solidFill>
                </a:uFill>
                <a:hlinkClick r:id="rId4"/>
              </a:rPr>
              <a:t>Kirk Goldsberry, FiveThirtyEight, 2019</a:t>
            </a:r>
          </a:p>
        </p:txBody>
      </p:sp>
      <p:grpSp>
        <p:nvGrpSpPr>
          <p:cNvPr id="667" name="Group 3">
            <a:extLst>
              <a:ext uri="{FF2B5EF4-FFF2-40B4-BE49-F238E27FC236}">
                <a16:creationId xmlns:a16="http://schemas.microsoft.com/office/drawing/2014/main" id="{D36F72E3-0C9B-3971-0061-0350F66D5292}"/>
              </a:ext>
            </a:extLst>
          </p:cNvPr>
          <p:cNvGrpSpPr/>
          <p:nvPr/>
        </p:nvGrpSpPr>
        <p:grpSpPr>
          <a:xfrm>
            <a:off x="8555600" y="9507246"/>
            <a:ext cx="3249471" cy="1320950"/>
            <a:chOff x="0" y="0"/>
            <a:chExt cx="3249470" cy="1320949"/>
          </a:xfrm>
        </p:grpSpPr>
        <p:sp>
          <p:nvSpPr>
            <p:cNvPr id="665" name="Straight Connector 4">
              <a:extLst>
                <a:ext uri="{FF2B5EF4-FFF2-40B4-BE49-F238E27FC236}">
                  <a16:creationId xmlns:a16="http://schemas.microsoft.com/office/drawing/2014/main" id="{4E53DADF-8696-E3B8-E85C-07AD080CA095}"/>
                </a:ext>
              </a:extLst>
            </p:cNvPr>
            <p:cNvSpPr/>
            <p:nvPr/>
          </p:nvSpPr>
          <p:spPr>
            <a:xfrm>
              <a:off x="2488762" y="606814"/>
              <a:ext cx="760709" cy="714136"/>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66" name="TextBox 6">
              <a:extLst>
                <a:ext uri="{FF2B5EF4-FFF2-40B4-BE49-F238E27FC236}">
                  <a16:creationId xmlns:a16="http://schemas.microsoft.com/office/drawing/2014/main" id="{8B333118-D561-2737-4830-E9559AEB8F86}"/>
                </a:ext>
              </a:extLst>
            </p:cNvPr>
            <p:cNvSpPr txBox="1"/>
            <p:nvPr/>
          </p:nvSpPr>
          <p:spPr>
            <a:xfrm>
              <a:off x="0" y="0"/>
              <a:ext cx="2878376" cy="8509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Basket</a:t>
              </a:r>
            </a:p>
          </p:txBody>
        </p:sp>
      </p:grpSp>
      <p:grpSp>
        <p:nvGrpSpPr>
          <p:cNvPr id="670" name="Group 7">
            <a:extLst>
              <a:ext uri="{FF2B5EF4-FFF2-40B4-BE49-F238E27FC236}">
                <a16:creationId xmlns:a16="http://schemas.microsoft.com/office/drawing/2014/main" id="{DB94B372-123B-3019-0487-6125018FF524}"/>
              </a:ext>
            </a:extLst>
          </p:cNvPr>
          <p:cNvGrpSpPr/>
          <p:nvPr/>
        </p:nvGrpSpPr>
        <p:grpSpPr>
          <a:xfrm>
            <a:off x="16023441" y="4208643"/>
            <a:ext cx="5097884" cy="2552701"/>
            <a:chOff x="64880" y="0"/>
            <a:chExt cx="5097883" cy="2552700"/>
          </a:xfrm>
        </p:grpSpPr>
        <p:sp>
          <p:nvSpPr>
            <p:cNvPr id="668" name="Straight Connector 8">
              <a:extLst>
                <a:ext uri="{FF2B5EF4-FFF2-40B4-BE49-F238E27FC236}">
                  <a16:creationId xmlns:a16="http://schemas.microsoft.com/office/drawing/2014/main" id="{40E3728E-92DF-983E-E353-E54C3CB1E681}"/>
                </a:ext>
              </a:extLst>
            </p:cNvPr>
            <p:cNvSpPr/>
            <p:nvPr/>
          </p:nvSpPr>
          <p:spPr>
            <a:xfrm flipH="1">
              <a:off x="64880" y="68448"/>
              <a:ext cx="1780200" cy="1748102"/>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69" name="TextBox 9">
              <a:extLst>
                <a:ext uri="{FF2B5EF4-FFF2-40B4-BE49-F238E27FC236}">
                  <a16:creationId xmlns:a16="http://schemas.microsoft.com/office/drawing/2014/main" id="{3EA291A0-5486-A9CC-F70C-C1A4F5F1F89D}"/>
                </a:ext>
              </a:extLst>
            </p:cNvPr>
            <p:cNvSpPr txBox="1"/>
            <p:nvPr/>
          </p:nvSpPr>
          <p:spPr>
            <a:xfrm>
              <a:off x="786893" y="0"/>
              <a:ext cx="4375872" cy="25527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3 pts for shots outside this arc</a:t>
              </a:r>
            </a:p>
          </p:txBody>
        </p:sp>
      </p:grpSp>
      <p:grpSp>
        <p:nvGrpSpPr>
          <p:cNvPr id="673" name="Group 11">
            <a:extLst>
              <a:ext uri="{FF2B5EF4-FFF2-40B4-BE49-F238E27FC236}">
                <a16:creationId xmlns:a16="http://schemas.microsoft.com/office/drawing/2014/main" id="{5B73C5D4-27EA-2CB5-32E1-8CB0EE387149}"/>
              </a:ext>
            </a:extLst>
          </p:cNvPr>
          <p:cNvGrpSpPr/>
          <p:nvPr/>
        </p:nvGrpSpPr>
        <p:grpSpPr>
          <a:xfrm>
            <a:off x="2753802" y="6980670"/>
            <a:ext cx="4861747" cy="2552701"/>
            <a:chOff x="0" y="0"/>
            <a:chExt cx="4861745" cy="2552700"/>
          </a:xfrm>
        </p:grpSpPr>
        <p:sp>
          <p:nvSpPr>
            <p:cNvPr id="671" name="Straight Connector 12">
              <a:extLst>
                <a:ext uri="{FF2B5EF4-FFF2-40B4-BE49-F238E27FC236}">
                  <a16:creationId xmlns:a16="http://schemas.microsoft.com/office/drawing/2014/main" id="{A0A1F4F1-A2CF-6B51-E2F8-79520350C935}"/>
                </a:ext>
              </a:extLst>
            </p:cNvPr>
            <p:cNvSpPr/>
            <p:nvPr/>
          </p:nvSpPr>
          <p:spPr>
            <a:xfrm>
              <a:off x="3986255" y="606813"/>
              <a:ext cx="875491" cy="653427"/>
            </a:xfrm>
            <a:prstGeom prst="line">
              <a:avLst/>
            </a:prstGeom>
            <a:noFill/>
            <a:ln w="50800" cap="flat">
              <a:solidFill>
                <a:srgbClr val="000000"/>
              </a:solidFill>
              <a:prstDash val="solid"/>
              <a:miter lim="800000"/>
              <a:tailEnd type="oval" w="med" len="med"/>
            </a:ln>
            <a:effectLst/>
          </p:spPr>
          <p:txBody>
            <a:bodyPr wrap="square" lIns="91439" tIns="91439" rIns="91439" bIns="91439" numCol="1" anchor="t">
              <a:noAutofit/>
            </a:bodyPr>
            <a:lstStyle/>
            <a:p>
              <a:pPr algn="l" defTabSz="1828800">
                <a:defRPr sz="3600">
                  <a:solidFill>
                    <a:srgbClr val="000000"/>
                  </a:solidFill>
                  <a:latin typeface="Calibri"/>
                  <a:ea typeface="Calibri"/>
                  <a:cs typeface="Calibri"/>
                  <a:sym typeface="Calibri"/>
                </a:defRPr>
              </a:pPr>
              <a:endParaRPr/>
            </a:p>
          </p:txBody>
        </p:sp>
        <p:sp>
          <p:nvSpPr>
            <p:cNvPr id="672" name="TextBox 13">
              <a:extLst>
                <a:ext uri="{FF2B5EF4-FFF2-40B4-BE49-F238E27FC236}">
                  <a16:creationId xmlns:a16="http://schemas.microsoft.com/office/drawing/2014/main" id="{32E8999A-0E6D-E97A-CDC8-EAC08089472A}"/>
                </a:ext>
              </a:extLst>
            </p:cNvPr>
            <p:cNvSpPr txBox="1"/>
            <p:nvPr/>
          </p:nvSpPr>
          <p:spPr>
            <a:xfrm>
              <a:off x="0" y="0"/>
              <a:ext cx="4375868" cy="2552700"/>
            </a:xfrm>
            <a:prstGeom prst="rect">
              <a:avLst/>
            </a:prstGeom>
            <a:solidFill>
              <a:srgbClr val="000000"/>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defTabSz="1828800">
                <a:defRPr sz="5600">
                  <a:solidFill>
                    <a:srgbClr val="FFFFFF"/>
                  </a:solidFill>
                  <a:latin typeface="Helvetica"/>
                  <a:ea typeface="Helvetica"/>
                  <a:cs typeface="Helvetica"/>
                  <a:sym typeface="Helvetica"/>
                </a:defRPr>
              </a:lvl1pPr>
            </a:lstStyle>
            <a:p>
              <a:r>
                <a:t>2 pts for shots within this arc</a:t>
              </a:r>
            </a:p>
          </p:txBody>
        </p:sp>
      </p:grpSp>
      <p:sp>
        <p:nvSpPr>
          <p:cNvPr id="674" name="TextBox 1">
            <a:extLst>
              <a:ext uri="{FF2B5EF4-FFF2-40B4-BE49-F238E27FC236}">
                <a16:creationId xmlns:a16="http://schemas.microsoft.com/office/drawing/2014/main" id="{BB359437-8F56-354F-7FEF-54466E200D04}"/>
              </a:ext>
            </a:extLst>
          </p:cNvPr>
          <p:cNvSpPr txBox="1"/>
          <p:nvPr/>
        </p:nvSpPr>
        <p:spPr>
          <a:xfrm>
            <a:off x="19119184" y="6987716"/>
            <a:ext cx="4429695" cy="38404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l" defTabSz="1828800">
              <a:defRPr sz="4000">
                <a:solidFill>
                  <a:srgbClr val="000000"/>
                </a:solidFill>
                <a:latin typeface="Segoe UI"/>
                <a:ea typeface="Segoe UI"/>
                <a:cs typeface="Segoe UI"/>
                <a:sym typeface="Segoe UI"/>
              </a:defRPr>
            </a:lvl1pPr>
          </a:lstStyle>
          <a:p>
            <a:r>
              <a:rPr dirty="0"/>
              <a:t>If you shoot 40% from 3pt, your effective shot yield is: 0.4 * 3 = 1.2 pts</a:t>
            </a:r>
          </a:p>
        </p:txBody>
      </p:sp>
      <p:sp>
        <p:nvSpPr>
          <p:cNvPr id="675" name="TextBox 14">
            <a:extLst>
              <a:ext uri="{FF2B5EF4-FFF2-40B4-BE49-F238E27FC236}">
                <a16:creationId xmlns:a16="http://schemas.microsoft.com/office/drawing/2014/main" id="{77C40591-7177-D3EE-07B5-467B30FD8CAF}"/>
              </a:ext>
            </a:extLst>
          </p:cNvPr>
          <p:cNvSpPr txBox="1"/>
          <p:nvPr/>
        </p:nvSpPr>
        <p:spPr>
          <a:xfrm>
            <a:off x="737042" y="9710521"/>
            <a:ext cx="4612554" cy="3230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l" defTabSz="1828800">
              <a:defRPr sz="4000">
                <a:solidFill>
                  <a:srgbClr val="000000"/>
                </a:solidFill>
                <a:latin typeface="Segoe UI"/>
                <a:ea typeface="Segoe UI"/>
                <a:cs typeface="Segoe UI"/>
                <a:sym typeface="Segoe UI"/>
              </a:defRPr>
            </a:lvl1pPr>
          </a:lstStyle>
          <a:p>
            <a:r>
              <a:rPr dirty="0"/>
              <a:t>If you shoot 50% from 2pt, your effective shot yield is: 0.5 * 2 = 1 pt</a:t>
            </a:r>
          </a:p>
        </p:txBody>
      </p:sp>
    </p:spTree>
    <p:extLst>
      <p:ext uri="{BB962C8B-B14F-4D97-AF65-F5344CB8AC3E}">
        <p14:creationId xmlns:p14="http://schemas.microsoft.com/office/powerpoint/2010/main" val="191206314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1F4E6-AFA9-DAF6-5B42-A2A138E45533}"/>
            </a:ext>
          </a:extLst>
        </p:cNvPr>
        <p:cNvGrpSpPr/>
        <p:nvPr/>
      </p:nvGrpSpPr>
      <p:grpSpPr>
        <a:xfrm>
          <a:off x="0" y="0"/>
          <a:ext cx="0" cy="0"/>
          <a:chOff x="0" y="0"/>
          <a:chExt cx="0" cy="0"/>
        </a:xfrm>
      </p:grpSpPr>
      <p:pic>
        <p:nvPicPr>
          <p:cNvPr id="689" name="Picture 2" descr="Picture 2">
            <a:extLst>
              <a:ext uri="{FF2B5EF4-FFF2-40B4-BE49-F238E27FC236}">
                <a16:creationId xmlns:a16="http://schemas.microsoft.com/office/drawing/2014/main" id="{6B6E53FF-FD33-D858-9117-FE6FB6C564F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9" y="1247561"/>
            <a:ext cx="24383961" cy="11830496"/>
          </a:xfrm>
          <a:prstGeom prst="rect">
            <a:avLst/>
          </a:prstGeom>
          <a:ln w="12700">
            <a:miter lim="400000"/>
          </a:ln>
        </p:spPr>
      </p:pic>
      <p:pic>
        <p:nvPicPr>
          <p:cNvPr id="690" name="Picture 5" descr="Picture 5">
            <a:extLst>
              <a:ext uri="{FF2B5EF4-FFF2-40B4-BE49-F238E27FC236}">
                <a16:creationId xmlns:a16="http://schemas.microsoft.com/office/drawing/2014/main" id="{0BA6947F-9022-AAE8-0AC2-141D9EB0EEBE}"/>
              </a:ext>
            </a:extLst>
          </p:cNvPr>
          <p:cNvPicPr>
            <a:picLocks noChangeAspect="1"/>
          </p:cNvPicPr>
          <p:nvPr/>
        </p:nvPicPr>
        <p:blipFill>
          <a:blip r:embed="rId4"/>
          <a:stretch>
            <a:fillRect/>
          </a:stretch>
        </p:blipFill>
        <p:spPr>
          <a:xfrm>
            <a:off x="25333839" y="164181"/>
            <a:ext cx="11847623" cy="9526129"/>
          </a:xfrm>
          <a:prstGeom prst="rect">
            <a:avLst/>
          </a:prstGeom>
          <a:ln w="12700">
            <a:miter lim="400000"/>
          </a:ln>
        </p:spPr>
      </p:pic>
      <p:sp>
        <p:nvSpPr>
          <p:cNvPr id="691" name="Content Placeholder 5">
            <a:extLst>
              <a:ext uri="{FF2B5EF4-FFF2-40B4-BE49-F238E27FC236}">
                <a16:creationId xmlns:a16="http://schemas.microsoft.com/office/drawing/2014/main" id="{609790D9-07FF-67B2-367B-B1BE369A36E1}"/>
              </a:ext>
            </a:extLst>
          </p:cNvPr>
          <p:cNvSpPr txBox="1"/>
          <p:nvPr/>
        </p:nvSpPr>
        <p:spPr>
          <a:xfrm>
            <a:off x="826939" y="13226998"/>
            <a:ext cx="19528402"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l" defTabSz="1828800">
              <a:lnSpc>
                <a:spcPct val="90000"/>
              </a:lnSpc>
              <a:spcBef>
                <a:spcPts val="2000"/>
              </a:spcBef>
              <a:defRPr sz="1800">
                <a:solidFill>
                  <a:srgbClr val="808080"/>
                </a:solidFill>
                <a:latin typeface="Helvetica"/>
                <a:ea typeface="Helvetica"/>
                <a:cs typeface="Helvetica"/>
                <a:sym typeface="Helvetica"/>
              </a:defRPr>
            </a:pPr>
            <a:r>
              <a:t>Source: </a:t>
            </a:r>
            <a:r>
              <a:rPr u="sng">
                <a:solidFill>
                  <a:srgbClr val="0563C1"/>
                </a:solidFill>
                <a:uFill>
                  <a:solidFill>
                    <a:srgbClr val="0563C1"/>
                  </a:solidFill>
                </a:uFill>
                <a:hlinkClick r:id="rId5"/>
              </a:rPr>
              <a:t>Kirk Goldsberry, NBA Analyst at ESPN and Prof at UT</a:t>
            </a:r>
          </a:p>
        </p:txBody>
      </p:sp>
      <p:sp>
        <p:nvSpPr>
          <p:cNvPr id="692" name="Rectangle 6">
            <a:extLst>
              <a:ext uri="{FF2B5EF4-FFF2-40B4-BE49-F238E27FC236}">
                <a16:creationId xmlns:a16="http://schemas.microsoft.com/office/drawing/2014/main" id="{90578E08-8289-FDF6-BCBB-AC995394DAC9}"/>
              </a:ext>
            </a:extLst>
          </p:cNvPr>
          <p:cNvSpPr/>
          <p:nvPr/>
        </p:nvSpPr>
        <p:spPr>
          <a:xfrm>
            <a:off x="12489712" y="4451498"/>
            <a:ext cx="11596576" cy="8572749"/>
          </a:xfrm>
          <a:prstGeom prst="rect">
            <a:avLst/>
          </a:prstGeom>
          <a:solidFill>
            <a:srgbClr val="000000"/>
          </a:solidFill>
          <a:ln w="25400">
            <a:solidFill>
              <a:srgbClr val="000000"/>
            </a:solidFill>
            <a:miter/>
          </a:ln>
        </p:spPr>
        <p:txBody>
          <a:bodyPr tIns="91439" bIns="91439" anchor="ctr"/>
          <a:lstStyle/>
          <a:p>
            <a:pPr defTabSz="1828800">
              <a:defRPr sz="3600">
                <a:solidFill>
                  <a:srgbClr val="FFFFFF"/>
                </a:solidFill>
                <a:latin typeface="Calibri"/>
                <a:ea typeface="Calibri"/>
                <a:cs typeface="Calibri"/>
                <a:sym typeface="Calibri"/>
              </a:defRPr>
            </a:pPr>
            <a:endParaRPr/>
          </a:p>
        </p:txBody>
      </p:sp>
    </p:spTree>
    <p:extLst>
      <p:ext uri="{BB962C8B-B14F-4D97-AF65-F5344CB8AC3E}">
        <p14:creationId xmlns:p14="http://schemas.microsoft.com/office/powerpoint/2010/main" val="24002644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A1EE9-B0A1-3F28-1530-B61628A33E15}"/>
            </a:ext>
          </a:extLst>
        </p:cNvPr>
        <p:cNvGrpSpPr/>
        <p:nvPr/>
      </p:nvGrpSpPr>
      <p:grpSpPr>
        <a:xfrm>
          <a:off x="0" y="0"/>
          <a:ext cx="0" cy="0"/>
          <a:chOff x="0" y="0"/>
          <a:chExt cx="0" cy="0"/>
        </a:xfrm>
      </p:grpSpPr>
      <p:pic>
        <p:nvPicPr>
          <p:cNvPr id="696" name="Picture 2" descr="Picture 2">
            <a:extLst>
              <a:ext uri="{FF2B5EF4-FFF2-40B4-BE49-F238E27FC236}">
                <a16:creationId xmlns:a16="http://schemas.microsoft.com/office/drawing/2014/main" id="{4B11E9F1-E1CC-D2B0-F267-B385525B7DC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9" y="1247561"/>
            <a:ext cx="24383961" cy="11830496"/>
          </a:xfrm>
          <a:prstGeom prst="rect">
            <a:avLst/>
          </a:prstGeom>
          <a:ln w="12700">
            <a:miter lim="400000"/>
          </a:ln>
        </p:spPr>
      </p:pic>
      <p:pic>
        <p:nvPicPr>
          <p:cNvPr id="697" name="Picture 5" descr="Picture 5">
            <a:extLst>
              <a:ext uri="{FF2B5EF4-FFF2-40B4-BE49-F238E27FC236}">
                <a16:creationId xmlns:a16="http://schemas.microsoft.com/office/drawing/2014/main" id="{C5853762-601C-6F6C-8222-F7E401D5B40F}"/>
              </a:ext>
            </a:extLst>
          </p:cNvPr>
          <p:cNvPicPr>
            <a:picLocks noChangeAspect="1"/>
          </p:cNvPicPr>
          <p:nvPr/>
        </p:nvPicPr>
        <p:blipFill>
          <a:blip r:embed="rId4"/>
          <a:stretch>
            <a:fillRect/>
          </a:stretch>
        </p:blipFill>
        <p:spPr>
          <a:xfrm>
            <a:off x="25333839" y="164181"/>
            <a:ext cx="11847623" cy="9526129"/>
          </a:xfrm>
          <a:prstGeom prst="rect">
            <a:avLst/>
          </a:prstGeom>
          <a:ln w="12700">
            <a:miter lim="400000"/>
          </a:ln>
        </p:spPr>
      </p:pic>
      <p:sp>
        <p:nvSpPr>
          <p:cNvPr id="698" name="Content Placeholder 5">
            <a:extLst>
              <a:ext uri="{FF2B5EF4-FFF2-40B4-BE49-F238E27FC236}">
                <a16:creationId xmlns:a16="http://schemas.microsoft.com/office/drawing/2014/main" id="{118BC916-5A86-5499-8069-38ED0EAAAA9D}"/>
              </a:ext>
            </a:extLst>
          </p:cNvPr>
          <p:cNvSpPr txBox="1"/>
          <p:nvPr/>
        </p:nvSpPr>
        <p:spPr>
          <a:xfrm>
            <a:off x="826939" y="13226998"/>
            <a:ext cx="19528402"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l" defTabSz="1828800">
              <a:lnSpc>
                <a:spcPct val="90000"/>
              </a:lnSpc>
              <a:spcBef>
                <a:spcPts val="2000"/>
              </a:spcBef>
              <a:defRPr sz="1800">
                <a:solidFill>
                  <a:srgbClr val="808080"/>
                </a:solidFill>
                <a:latin typeface="Helvetica"/>
                <a:ea typeface="Helvetica"/>
                <a:cs typeface="Helvetica"/>
                <a:sym typeface="Helvetica"/>
              </a:defRPr>
            </a:pPr>
            <a:r>
              <a:t>Source: </a:t>
            </a:r>
            <a:r>
              <a:rPr u="sng">
                <a:solidFill>
                  <a:srgbClr val="0563C1"/>
                </a:solidFill>
                <a:uFill>
                  <a:solidFill>
                    <a:srgbClr val="0563C1"/>
                  </a:solidFill>
                </a:uFill>
                <a:hlinkClick r:id="rId5"/>
              </a:rPr>
              <a:t>Kirk Goldsberry, NBA Analyst at ESPN and Prof at UT</a:t>
            </a:r>
          </a:p>
        </p:txBody>
      </p:sp>
    </p:spTree>
    <p:extLst>
      <p:ext uri="{BB962C8B-B14F-4D97-AF65-F5344CB8AC3E}">
        <p14:creationId xmlns:p14="http://schemas.microsoft.com/office/powerpoint/2010/main" val="345730345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2E3D-A0A7-BF91-5DA6-A5E14755982D}"/>
              </a:ext>
            </a:extLst>
          </p:cNvPr>
          <p:cNvSpPr>
            <a:spLocks noGrp="1"/>
          </p:cNvSpPr>
          <p:nvPr>
            <p:ph type="title"/>
          </p:nvPr>
        </p:nvSpPr>
        <p:spPr>
          <a:xfrm>
            <a:off x="1061961" y="357187"/>
            <a:ext cx="21959434" cy="2192049"/>
          </a:xfrm>
        </p:spPr>
        <p:txBody>
          <a:bodyPr>
            <a:noAutofit/>
          </a:bodyPr>
          <a:lstStyle/>
          <a:p>
            <a:r>
              <a:rPr lang="en-US" sz="8000" dirty="0"/>
              <a:t>Project 1: Exploratory Data Analysis (EDA)</a:t>
            </a:r>
          </a:p>
        </p:txBody>
      </p:sp>
      <p:sp>
        <p:nvSpPr>
          <p:cNvPr id="3" name="Text Placeholder 2">
            <a:extLst>
              <a:ext uri="{FF2B5EF4-FFF2-40B4-BE49-F238E27FC236}">
                <a16:creationId xmlns:a16="http://schemas.microsoft.com/office/drawing/2014/main" id="{3FAA844D-6001-D899-BF17-C2617324BC71}"/>
              </a:ext>
            </a:extLst>
          </p:cNvPr>
          <p:cNvSpPr>
            <a:spLocks noGrp="1"/>
          </p:cNvSpPr>
          <p:nvPr>
            <p:ph type="body" idx="1"/>
          </p:nvPr>
        </p:nvSpPr>
        <p:spPr>
          <a:xfrm>
            <a:off x="380658" y="2549235"/>
            <a:ext cx="11878692" cy="10809577"/>
          </a:xfrm>
        </p:spPr>
        <p:txBody>
          <a:bodyPr>
            <a:normAutofit fontScale="85000" lnSpcReduction="20000"/>
          </a:bodyPr>
          <a:lstStyle/>
          <a:p>
            <a:pPr marL="857250" indent="-857250">
              <a:lnSpc>
                <a:spcPct val="110000"/>
              </a:lnSpc>
              <a:buFont typeface="Wingdings" pitchFamily="2" charset="2"/>
              <a:buChar char="§"/>
            </a:pPr>
            <a:r>
              <a:rPr lang="en-US" dirty="0"/>
              <a:t>We will discuss what this entails over the next few weeks</a:t>
            </a:r>
          </a:p>
          <a:p>
            <a:pPr marL="1040130" lvl="4" indent="-1040130">
              <a:lnSpc>
                <a:spcPct val="110000"/>
              </a:lnSpc>
              <a:buFont typeface="Wingdings" pitchFamily="2" charset="2"/>
              <a:buChar char="§"/>
            </a:pPr>
            <a:r>
              <a:rPr lang="en-US" dirty="0"/>
              <a:t>Checkpoint #1: Topic and dataset picked: </a:t>
            </a:r>
            <a:r>
              <a:rPr lang="en-US" dirty="0">
                <a:solidFill>
                  <a:schemeClr val="accent6"/>
                </a:solidFill>
              </a:rPr>
              <a:t>by Sept 13 @ midnight</a:t>
            </a:r>
            <a:endParaRPr lang="en-US" dirty="0"/>
          </a:p>
          <a:p>
            <a:pPr marL="1040130" lvl="4" indent="-1040130">
              <a:lnSpc>
                <a:spcPct val="110000"/>
              </a:lnSpc>
              <a:buFont typeface="Wingdings" pitchFamily="2" charset="2"/>
              <a:buChar char="§"/>
            </a:pPr>
            <a:r>
              <a:rPr lang="en-US" dirty="0"/>
              <a:t>Checkpoint # 2: Questions to explore picked: </a:t>
            </a:r>
            <a:r>
              <a:rPr lang="en-US" dirty="0">
                <a:solidFill>
                  <a:schemeClr val="accent6"/>
                </a:solidFill>
              </a:rPr>
              <a:t>by Sept 27 @ midnight</a:t>
            </a:r>
          </a:p>
          <a:p>
            <a:pPr marL="1040130" lvl="4" indent="-1040130">
              <a:lnSpc>
                <a:spcPct val="110000"/>
              </a:lnSpc>
              <a:buFont typeface="Wingdings" pitchFamily="2" charset="2"/>
              <a:buChar char="§"/>
            </a:pPr>
            <a:r>
              <a:rPr lang="en-US" dirty="0"/>
              <a:t>Final </a:t>
            </a:r>
            <a:r>
              <a:rPr lang="en-US" b="1" dirty="0"/>
              <a:t>lightning talk </a:t>
            </a:r>
            <a:r>
              <a:rPr lang="en-US" dirty="0"/>
              <a:t>due: </a:t>
            </a:r>
            <a:r>
              <a:rPr lang="en-US" dirty="0">
                <a:solidFill>
                  <a:schemeClr val="accent6"/>
                </a:solidFill>
              </a:rPr>
              <a:t>Oct 11 @ midnight</a:t>
            </a:r>
          </a:p>
          <a:p>
            <a:pPr marL="1040130" lvl="4" indent="-1040130">
              <a:lnSpc>
                <a:spcPct val="110000"/>
              </a:lnSpc>
              <a:buFont typeface="Wingdings" pitchFamily="2" charset="2"/>
              <a:buChar char="§"/>
            </a:pPr>
            <a:r>
              <a:rPr lang="en-US" dirty="0"/>
              <a:t>Final </a:t>
            </a:r>
            <a:r>
              <a:rPr lang="en-US" b="1" dirty="0"/>
              <a:t>notebook</a:t>
            </a:r>
            <a:r>
              <a:rPr lang="en-US" dirty="0"/>
              <a:t> due: </a:t>
            </a:r>
            <a:r>
              <a:rPr lang="en-US" dirty="0">
                <a:solidFill>
                  <a:schemeClr val="accent6"/>
                </a:solidFill>
              </a:rPr>
              <a:t>Oct 14 @ midnight</a:t>
            </a:r>
          </a:p>
          <a:p>
            <a:pPr marL="857250" indent="-857250">
              <a:lnSpc>
                <a:spcPct val="110000"/>
              </a:lnSpc>
              <a:buFont typeface="Wingdings" pitchFamily="2" charset="2"/>
              <a:buChar char="§"/>
            </a:pPr>
            <a:r>
              <a:rPr lang="en-US" dirty="0"/>
              <a:t>For now, you should pick one of your interests (research or hobby!) and think of questions you have about that interest</a:t>
            </a:r>
          </a:p>
        </p:txBody>
      </p:sp>
      <p:sp>
        <p:nvSpPr>
          <p:cNvPr id="4" name="TextBox 3">
            <a:extLst>
              <a:ext uri="{FF2B5EF4-FFF2-40B4-BE49-F238E27FC236}">
                <a16:creationId xmlns:a16="http://schemas.microsoft.com/office/drawing/2014/main" id="{2D49DD4C-2EE4-2E2A-1F1C-740FFB94306F}"/>
              </a:ext>
            </a:extLst>
          </p:cNvPr>
          <p:cNvSpPr txBox="1"/>
          <p:nvPr/>
        </p:nvSpPr>
        <p:spPr>
          <a:xfrm>
            <a:off x="12505310" y="2549234"/>
            <a:ext cx="11197388" cy="10259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4400" b="1" i="0" u="none" strike="noStrike" cap="none" spc="0" normalizeH="0" baseline="0" dirty="0">
                <a:ln>
                  <a:noFill/>
                </a:ln>
                <a:solidFill>
                  <a:srgbClr val="5E5E5E"/>
                </a:solidFill>
                <a:effectLst/>
                <a:uFillTx/>
                <a:latin typeface="+mn-lt"/>
                <a:ea typeface="+mn-ea"/>
                <a:cs typeface="+mn-cs"/>
                <a:sym typeface="Helvetica Neue"/>
              </a:rPr>
              <a:t>Coffee:</a:t>
            </a:r>
          </a:p>
          <a:p>
            <a:pPr marL="857250" marR="0" indent="-857250" algn="l" defTabSz="2438338" rtl="0" fontAlgn="auto" latinLnBrk="0" hangingPunct="0">
              <a:lnSpc>
                <a:spcPct val="100000"/>
              </a:lnSpc>
              <a:spcBef>
                <a:spcPts val="0"/>
              </a:spcBef>
              <a:spcAft>
                <a:spcPts val="0"/>
              </a:spcAft>
              <a:buClrTx/>
              <a:buSzTx/>
              <a:buFontTx/>
              <a:buChar char="-"/>
              <a:tabLst/>
            </a:pPr>
            <a:r>
              <a:rPr lang="en-US" sz="4400" dirty="0"/>
              <a:t>Is Charlottesville coffee overpriced?</a:t>
            </a:r>
          </a:p>
          <a:p>
            <a:pPr marL="857250" marR="0" indent="-857250" algn="l" defTabSz="2438338" rtl="0" fontAlgn="auto" latinLnBrk="0" hangingPunct="0">
              <a:lnSpc>
                <a:spcPct val="100000"/>
              </a:lnSpc>
              <a:spcBef>
                <a:spcPts val="0"/>
              </a:spcBef>
              <a:spcAft>
                <a:spcPts val="0"/>
              </a:spcAft>
              <a:buClrTx/>
              <a:buSzTx/>
              <a:buFontTx/>
              <a:buChar char="-"/>
              <a:tabLst/>
            </a:pPr>
            <a:r>
              <a:rPr lang="en-US" sz="4400" dirty="0"/>
              <a:t>What makes for a good cup of coffee? (CQI)</a:t>
            </a:r>
          </a:p>
          <a:p>
            <a:pPr marL="857250" marR="0" indent="-857250" algn="l" defTabSz="2438338" rtl="0" fontAlgn="auto" latinLnBrk="0" hangingPunct="0">
              <a:lnSpc>
                <a:spcPct val="100000"/>
              </a:lnSpc>
              <a:spcBef>
                <a:spcPts val="0"/>
              </a:spcBef>
              <a:spcAft>
                <a:spcPts val="0"/>
              </a:spcAft>
              <a:buClrTx/>
              <a:buSzTx/>
              <a:buFontTx/>
              <a:buChar char="-"/>
              <a:tabLst/>
            </a:pPr>
            <a:r>
              <a:rPr lang="en-US" sz="4400" dirty="0"/>
              <a:t>Do coffee consumers tend to prefer light or dark roast?</a:t>
            </a:r>
          </a:p>
          <a:p>
            <a:pPr marL="857250" marR="0" indent="-857250" algn="l" defTabSz="2438338" rtl="0" fontAlgn="auto" latinLnBrk="0" hangingPunct="0">
              <a:lnSpc>
                <a:spcPct val="100000"/>
              </a:lnSpc>
              <a:spcBef>
                <a:spcPts val="0"/>
              </a:spcBef>
              <a:spcAft>
                <a:spcPts val="0"/>
              </a:spcAft>
              <a:buClrTx/>
              <a:buSzTx/>
              <a:buFontTx/>
              <a:buChar char="-"/>
              <a:tabLst/>
            </a:pPr>
            <a:r>
              <a:rPr lang="en-US" sz="4400" dirty="0"/>
              <a:t>How does the local vs global economy affect coffee prices and sales?</a:t>
            </a:r>
          </a:p>
          <a:p>
            <a:pPr marL="0" marR="0" indent="0" algn="l" defTabSz="2438338" rtl="0" fontAlgn="auto" latinLnBrk="0" hangingPunct="0">
              <a:lnSpc>
                <a:spcPct val="100000"/>
              </a:lnSpc>
              <a:spcBef>
                <a:spcPts val="0"/>
              </a:spcBef>
              <a:spcAft>
                <a:spcPts val="0"/>
              </a:spcAft>
              <a:buClrTx/>
              <a:buSzTx/>
              <a:buFontTx/>
              <a:buNone/>
              <a:tabLst/>
            </a:pPr>
            <a:r>
              <a:rPr kumimoji="0" lang="en-US" sz="4400" b="1" i="0" u="none" strike="noStrike" cap="none" spc="0" normalizeH="0" baseline="0" dirty="0">
                <a:ln>
                  <a:noFill/>
                </a:ln>
                <a:solidFill>
                  <a:srgbClr val="5E5E5E"/>
                </a:solidFill>
                <a:effectLst/>
                <a:uFillTx/>
                <a:latin typeface="+mn-lt"/>
                <a:ea typeface="+mn-ea"/>
                <a:cs typeface="+mn-cs"/>
                <a:sym typeface="Helvetica Neue"/>
              </a:rPr>
              <a:t>Public transit:</a:t>
            </a:r>
          </a:p>
          <a:p>
            <a:pPr marL="571500" marR="0" indent="-571500" algn="l" defTabSz="2438338" rtl="0" fontAlgn="auto" latinLnBrk="0" hangingPunct="0">
              <a:lnSpc>
                <a:spcPct val="100000"/>
              </a:lnSpc>
              <a:spcBef>
                <a:spcPts val="0"/>
              </a:spcBef>
              <a:spcAft>
                <a:spcPts val="0"/>
              </a:spcAft>
              <a:buClrTx/>
              <a:buSzTx/>
              <a:buFontTx/>
              <a:buChar char="-"/>
              <a:tabLst/>
            </a:pPr>
            <a:r>
              <a:rPr lang="en-US" sz="4400" dirty="0"/>
              <a:t>How often are Charlottesville buses late?</a:t>
            </a:r>
          </a:p>
          <a:p>
            <a:pPr marL="571500" marR="0" indent="-571500" algn="l" defTabSz="2438338" rtl="0" fontAlgn="auto" latinLnBrk="0" hangingPunct="0">
              <a:lnSpc>
                <a:spcPct val="100000"/>
              </a:lnSpc>
              <a:spcBef>
                <a:spcPts val="0"/>
              </a:spcBef>
              <a:spcAft>
                <a:spcPts val="0"/>
              </a:spcAft>
              <a:buClrTx/>
              <a:buSzTx/>
              <a:buFontTx/>
              <a:buChar char="-"/>
              <a:tabLst/>
            </a:pPr>
            <a:r>
              <a:rPr kumimoji="0" lang="en-US" sz="4400" b="0" i="0" u="none" strike="noStrike" cap="none" spc="0" normalizeH="0" baseline="0" dirty="0">
                <a:ln>
                  <a:noFill/>
                </a:ln>
                <a:solidFill>
                  <a:srgbClr val="5E5E5E"/>
                </a:solidFill>
                <a:effectLst/>
                <a:uFillTx/>
                <a:latin typeface="+mn-lt"/>
                <a:ea typeface="+mn-ea"/>
                <a:cs typeface="+mn-cs"/>
                <a:sym typeface="Helvetica Neue"/>
              </a:rPr>
              <a:t>How much overlap is there between UTS and CAT?</a:t>
            </a:r>
            <a:endParaRPr lang="en-US" sz="4400" dirty="0"/>
          </a:p>
          <a:p>
            <a:pPr marL="571500" marR="0" indent="-571500" algn="l" defTabSz="2438338" rtl="0" fontAlgn="auto" latinLnBrk="0" hangingPunct="0">
              <a:lnSpc>
                <a:spcPct val="100000"/>
              </a:lnSpc>
              <a:spcBef>
                <a:spcPts val="0"/>
              </a:spcBef>
              <a:spcAft>
                <a:spcPts val="0"/>
              </a:spcAft>
              <a:buClrTx/>
              <a:buSzTx/>
              <a:buFontTx/>
              <a:buChar char="-"/>
              <a:tabLst/>
            </a:pPr>
            <a:r>
              <a:rPr kumimoji="0" lang="en-US" sz="4400" b="0" i="0" u="none" strike="noStrike" cap="none" spc="0" normalizeH="0" baseline="0" dirty="0">
                <a:ln>
                  <a:noFill/>
                </a:ln>
                <a:solidFill>
                  <a:srgbClr val="5E5E5E"/>
                </a:solidFill>
                <a:effectLst/>
                <a:uFillTx/>
                <a:latin typeface="+mn-lt"/>
                <a:ea typeface="+mn-ea"/>
                <a:cs typeface="+mn-cs"/>
                <a:sym typeface="Helvetica Neue"/>
              </a:rPr>
              <a:t>How has ridership changed since COVID? Was the decision to make rides free a good one?</a:t>
            </a:r>
          </a:p>
        </p:txBody>
      </p:sp>
    </p:spTree>
    <p:extLst>
      <p:ext uri="{BB962C8B-B14F-4D97-AF65-F5344CB8AC3E}">
        <p14:creationId xmlns:p14="http://schemas.microsoft.com/office/powerpoint/2010/main" val="335930475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Visualization Design"/>
          <p:cNvSpPr txBox="1">
            <a:spLocks noGrp="1"/>
          </p:cNvSpPr>
          <p:nvPr>
            <p:ph type="title"/>
          </p:nvPr>
        </p:nvSpPr>
        <p:spPr>
          <a:prstGeom prst="rect">
            <a:avLst/>
          </a:prstGeom>
        </p:spPr>
        <p:txBody>
          <a:bodyPr/>
          <a:lstStyle/>
          <a:p>
            <a:r>
              <a:rPr dirty="0"/>
              <a:t>Visualization Design</a:t>
            </a:r>
            <a:r>
              <a:rPr lang="en-US" dirty="0"/>
              <a:t>:</a:t>
            </a:r>
            <a:br>
              <a:rPr lang="en-US" dirty="0"/>
            </a:br>
            <a:r>
              <a:rPr lang="en-US" sz="6600" dirty="0"/>
              <a:t>Data Types, Tables, and Models</a:t>
            </a:r>
            <a:endParaRPr dirty="0"/>
          </a:p>
        </p:txBody>
      </p:sp>
      <p:sp>
        <p:nvSpPr>
          <p:cNvPr id="275" name="UVA DS2003 Communicating with Data…"/>
          <p:cNvSpPr txBox="1"/>
          <p:nvPr/>
        </p:nvSpPr>
        <p:spPr>
          <a:xfrm>
            <a:off x="1201340" y="1064862"/>
            <a:ext cx="12706588" cy="2248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algn="l" defTabSz="825500">
              <a:defRPr sz="3600" b="1"/>
            </a:pPr>
            <a:r>
              <a:rPr dirty="0"/>
              <a:t>UVA DS2003</a:t>
            </a:r>
            <a:r>
              <a:rPr lang="en-US" dirty="0"/>
              <a:t>:</a:t>
            </a:r>
            <a:r>
              <a:rPr dirty="0"/>
              <a:t> Communicating with Data</a:t>
            </a:r>
          </a:p>
          <a:p>
            <a:pPr algn="l" defTabSz="825500">
              <a:defRPr sz="3600"/>
            </a:pPr>
            <a:r>
              <a:rPr lang="en-US" dirty="0"/>
              <a:t>Fall</a:t>
            </a:r>
            <a:r>
              <a:rPr dirty="0"/>
              <a:t> 202</a:t>
            </a:r>
            <a:r>
              <a:rPr lang="en-US" dirty="0"/>
              <a:t>6</a:t>
            </a:r>
            <a:endParaRPr dirty="0"/>
          </a:p>
        </p:txBody>
      </p:sp>
      <p:sp>
        <p:nvSpPr>
          <p:cNvPr id="276" name="Nur Yildirim…"/>
          <p:cNvSpPr txBox="1"/>
          <p:nvPr/>
        </p:nvSpPr>
        <p:spPr>
          <a:xfrm>
            <a:off x="1201340" y="11859862"/>
            <a:ext cx="21981320" cy="1336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algn="l" defTabSz="825500">
              <a:defRPr sz="3600">
                <a:solidFill>
                  <a:srgbClr val="000000"/>
                </a:solidFill>
                <a:latin typeface="Helvetica Neue Medium"/>
                <a:ea typeface="Helvetica Neue Medium"/>
                <a:cs typeface="Helvetica Neue Medium"/>
                <a:sym typeface="Helvetica Neue Medium"/>
              </a:defRPr>
            </a:pPr>
            <a:r>
              <a:rPr lang="en-US" dirty="0"/>
              <a:t>Sarah Groves</a:t>
            </a:r>
            <a:endParaRPr dirty="0"/>
          </a:p>
        </p:txBody>
      </p:sp>
      <p:sp>
        <p:nvSpPr>
          <p:cNvPr id="2" name="TextBox 1">
            <a:extLst>
              <a:ext uri="{FF2B5EF4-FFF2-40B4-BE49-F238E27FC236}">
                <a16:creationId xmlns:a16="http://schemas.microsoft.com/office/drawing/2014/main" id="{03C0BEB3-2385-78D7-D84F-9BCE0E5AE77A}"/>
              </a:ext>
            </a:extLst>
          </p:cNvPr>
          <p:cNvSpPr txBox="1"/>
          <p:nvPr/>
        </p:nvSpPr>
        <p:spPr>
          <a:xfrm>
            <a:off x="17584061" y="13196168"/>
            <a:ext cx="679993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Adapted from Hannah Bako and Rafael Alvarado</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lide Title"/>
          <p:cNvSpPr txBox="1">
            <a:spLocks noGrp="1"/>
          </p:cNvSpPr>
          <p:nvPr>
            <p:ph type="title"/>
          </p:nvPr>
        </p:nvSpPr>
        <p:spPr>
          <a:prstGeom prst="rect">
            <a:avLst/>
          </a:prstGeom>
        </p:spPr>
        <p:txBody>
          <a:bodyPr/>
          <a:lstStyle/>
          <a:p>
            <a:r>
              <a:rPr lang="en-US" dirty="0"/>
              <a:t>What you will learn today</a:t>
            </a:r>
            <a:endParaRPr dirty="0"/>
          </a:p>
        </p:txBody>
      </p:sp>
      <p:sp>
        <p:nvSpPr>
          <p:cNvPr id="289" name="Slide Subtitle"/>
          <p:cNvSpPr txBox="1">
            <a:spLocks noGrp="1"/>
          </p:cNvSpPr>
          <p:nvPr>
            <p:ph type="body" idx="21"/>
          </p:nvPr>
        </p:nvSpPr>
        <p:spPr>
          <a:prstGeom prst="rect">
            <a:avLst/>
          </a:prstGeom>
        </p:spPr>
        <p:txBody>
          <a:bodyPr/>
          <a:lstStyle/>
          <a:p>
            <a:endParaRPr/>
          </a:p>
        </p:txBody>
      </p:sp>
      <p:sp>
        <p:nvSpPr>
          <p:cNvPr id="290" name="Slide bullet text"/>
          <p:cNvSpPr txBox="1">
            <a:spLocks noGrp="1"/>
          </p:cNvSpPr>
          <p:nvPr>
            <p:ph type="body" idx="1"/>
          </p:nvPr>
        </p:nvSpPr>
        <p:spPr>
          <a:prstGeom prst="rect">
            <a:avLst/>
          </a:prstGeom>
        </p:spPr>
        <p:txBody>
          <a:bodyPr/>
          <a:lstStyle/>
          <a:p>
            <a:pPr marL="685800" lvl="0" indent="-685800" fontAlgn="base">
              <a:buFont typeface="Arial" panose="020B0604020202020204" pitchFamily="34" charset="0"/>
              <a:buChar char="•"/>
            </a:pPr>
            <a:r>
              <a:rPr lang="en-US" b="1" dirty="0"/>
              <a:t>Data components</a:t>
            </a:r>
            <a:r>
              <a:rPr lang="en-US" dirty="0"/>
              <a:t>: item, attribute, relationship</a:t>
            </a:r>
          </a:p>
          <a:p>
            <a:pPr marL="685800" lvl="0" indent="-685800" fontAlgn="base">
              <a:buFont typeface="Arial" panose="020B0604020202020204" pitchFamily="34" charset="0"/>
              <a:buChar char="•"/>
            </a:pPr>
            <a:r>
              <a:rPr lang="en-US" b="1" dirty="0"/>
              <a:t>Dataset Types</a:t>
            </a:r>
            <a:r>
              <a:rPr lang="en-US" dirty="0"/>
              <a:t>: Multivariate, Network/Tree</a:t>
            </a:r>
          </a:p>
          <a:p>
            <a:pPr marL="685800" lvl="0" indent="-685800" fontAlgn="base">
              <a:buFont typeface="Arial" panose="020B0604020202020204" pitchFamily="34" charset="0"/>
              <a:buChar char="•"/>
            </a:pPr>
            <a:r>
              <a:rPr lang="en-US" b="1" dirty="0"/>
              <a:t>Data Tables</a:t>
            </a:r>
            <a:r>
              <a:rPr lang="en-US" dirty="0"/>
              <a:t>: Messy vs. Tidy Data</a:t>
            </a:r>
          </a:p>
          <a:p>
            <a:pPr marL="685800" lvl="0" indent="-685800" fontAlgn="base">
              <a:buFont typeface="Arial" panose="020B0604020202020204" pitchFamily="34" charset="0"/>
              <a:buChar char="•"/>
            </a:pPr>
            <a:endParaRPr lang="en-US" dirty="0"/>
          </a:p>
          <a:p>
            <a:pPr marL="685800" lvl="0" indent="-685800" fontAlgn="base">
              <a:buFont typeface="Arial" panose="020B0604020202020204" pitchFamily="34" charset="0"/>
              <a:buChar char="•"/>
            </a:pPr>
            <a:r>
              <a:rPr lang="en-US" b="1" dirty="0"/>
              <a:t>Attribute Types</a:t>
            </a:r>
            <a:r>
              <a:rPr lang="en-US" dirty="0"/>
              <a:t>: Nominal, Ordinal, Quantitative (Interval &amp; Ratio)</a:t>
            </a:r>
          </a:p>
          <a:p>
            <a:endParaRPr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Slide Title"/>
          <p:cNvSpPr txBox="1">
            <a:spLocks noGrp="1"/>
          </p:cNvSpPr>
          <p:nvPr>
            <p:ph type="title"/>
          </p:nvPr>
        </p:nvSpPr>
        <p:spPr>
          <a:prstGeom prst="rect">
            <a:avLst/>
          </a:prstGeom>
        </p:spPr>
        <p:txBody>
          <a:bodyPr/>
          <a:lstStyle/>
          <a:p>
            <a:endParaRPr/>
          </a:p>
        </p:txBody>
      </p:sp>
      <p:sp>
        <p:nvSpPr>
          <p:cNvPr id="319" name="Slide Subtitle"/>
          <p:cNvSpPr txBox="1">
            <a:spLocks noGrp="1"/>
          </p:cNvSpPr>
          <p:nvPr>
            <p:ph type="body" idx="21"/>
          </p:nvPr>
        </p:nvSpPr>
        <p:spPr>
          <a:prstGeom prst="rect">
            <a:avLst/>
          </a:prstGeom>
        </p:spPr>
        <p:txBody>
          <a:bodyPr/>
          <a:lstStyle/>
          <a:p>
            <a:endParaRPr/>
          </a:p>
        </p:txBody>
      </p:sp>
      <p:sp>
        <p:nvSpPr>
          <p:cNvPr id="320" name="Slide bullet text"/>
          <p:cNvSpPr txBox="1">
            <a:spLocks noGrp="1"/>
          </p:cNvSpPr>
          <p:nvPr>
            <p:ph type="body" idx="1"/>
          </p:nvPr>
        </p:nvSpPr>
        <p:spPr>
          <a:prstGeom prst="rect">
            <a:avLst/>
          </a:prstGeom>
        </p:spPr>
        <p:txBody>
          <a:bodyPr/>
          <a:lstStyle/>
          <a:p>
            <a:endParaRPr/>
          </a:p>
        </p:txBody>
      </p:sp>
      <p:pic>
        <p:nvPicPr>
          <p:cNvPr id="321" name="Image" descr="Image"/>
          <p:cNvPicPr>
            <a:picLocks noChangeAspect="1"/>
          </p:cNvPicPr>
          <p:nvPr/>
        </p:nvPicPr>
        <p:blipFill>
          <a:blip r:embed="rId3"/>
          <a:stretch>
            <a:fillRect/>
          </a:stretch>
        </p:blipFill>
        <p:spPr>
          <a:xfrm>
            <a:off x="0" y="0"/>
            <a:ext cx="24384000" cy="13716000"/>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lide Title"/>
          <p:cNvSpPr txBox="1">
            <a:spLocks noGrp="1"/>
          </p:cNvSpPr>
          <p:nvPr>
            <p:ph type="title"/>
          </p:nvPr>
        </p:nvSpPr>
        <p:spPr>
          <a:prstGeom prst="rect">
            <a:avLst/>
          </a:prstGeom>
        </p:spPr>
        <p:txBody>
          <a:bodyPr/>
          <a:lstStyle/>
          <a:p>
            <a:endParaRPr/>
          </a:p>
        </p:txBody>
      </p:sp>
      <p:sp>
        <p:nvSpPr>
          <p:cNvPr id="324" name="Slide Subtitle"/>
          <p:cNvSpPr txBox="1">
            <a:spLocks noGrp="1"/>
          </p:cNvSpPr>
          <p:nvPr>
            <p:ph type="body" idx="21"/>
          </p:nvPr>
        </p:nvSpPr>
        <p:spPr>
          <a:prstGeom prst="rect">
            <a:avLst/>
          </a:prstGeom>
        </p:spPr>
        <p:txBody>
          <a:bodyPr/>
          <a:lstStyle/>
          <a:p>
            <a:endParaRPr/>
          </a:p>
        </p:txBody>
      </p:sp>
      <p:sp>
        <p:nvSpPr>
          <p:cNvPr id="325" name="Slide bullet text"/>
          <p:cNvSpPr txBox="1">
            <a:spLocks noGrp="1"/>
          </p:cNvSpPr>
          <p:nvPr>
            <p:ph type="body" idx="1"/>
          </p:nvPr>
        </p:nvSpPr>
        <p:spPr>
          <a:prstGeom prst="rect">
            <a:avLst/>
          </a:prstGeom>
        </p:spPr>
        <p:txBody>
          <a:bodyPr/>
          <a:lstStyle/>
          <a:p>
            <a:endParaRPr/>
          </a:p>
        </p:txBody>
      </p:sp>
      <p:pic>
        <p:nvPicPr>
          <p:cNvPr id="326" name="Image" descr="Image"/>
          <p:cNvPicPr>
            <a:picLocks noChangeAspect="1"/>
          </p:cNvPicPr>
          <p:nvPr/>
        </p:nvPicPr>
        <p:blipFill>
          <a:blip r:embed="rId3"/>
          <a:stretch>
            <a:fillRect/>
          </a:stretch>
        </p:blipFill>
        <p:spPr>
          <a:xfrm>
            <a:off x="0" y="0"/>
            <a:ext cx="24384000" cy="13716000"/>
          </a:xfrm>
          <a:prstGeom prst="rect">
            <a:avLst/>
          </a:prstGeom>
          <a:ln w="12700">
            <a:miter lim="400000"/>
          </a:ln>
        </p:spPr>
      </p:pic>
      <p:sp>
        <p:nvSpPr>
          <p:cNvPr id="2" name="Rounded Rectangle 1">
            <a:extLst>
              <a:ext uri="{FF2B5EF4-FFF2-40B4-BE49-F238E27FC236}">
                <a16:creationId xmlns:a16="http://schemas.microsoft.com/office/drawing/2014/main" id="{599E3401-282F-1B9F-72A5-BA3096953155}"/>
              </a:ext>
            </a:extLst>
          </p:cNvPr>
          <p:cNvSpPr/>
          <p:nvPr/>
        </p:nvSpPr>
        <p:spPr>
          <a:xfrm>
            <a:off x="1013254" y="8625016"/>
            <a:ext cx="7982465" cy="3879500"/>
          </a:xfrm>
          <a:prstGeom prst="roundRect">
            <a:avLst/>
          </a:prstGeom>
          <a:noFill/>
          <a:ln w="76200"/>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831200" y="5735600"/>
            <a:ext cx="22721600" cy="2244800"/>
          </a:xfrm>
          <a:prstGeom prst="rect">
            <a:avLst/>
          </a:prstGeom>
        </p:spPr>
        <p:txBody>
          <a:bodyPr spcFirstLastPara="1" wrap="square" lIns="243800" tIns="243800" rIns="243800" bIns="243800" anchor="ctr" anchorCtr="0">
            <a:normAutofit/>
          </a:bodyPr>
          <a:lstStyle/>
          <a:p>
            <a:r>
              <a:rPr lang="en"/>
              <a:t>What is data?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2"/>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fontScale="90000"/>
          </a:bodyPr>
          <a:lstStyle/>
          <a:p>
            <a:r>
              <a:rPr lang="en"/>
              <a:t>Which are examples of data?</a:t>
            </a:r>
            <a:endParaRPr/>
          </a:p>
        </p:txBody>
      </p:sp>
      <p:sp>
        <p:nvSpPr>
          <p:cNvPr id="53" name="Google Shape;53;p12"/>
          <p:cNvSpPr txBox="1">
            <a:spLocks noGrp="1"/>
          </p:cNvSpPr>
          <p:nvPr>
            <p:ph type="body" idx="1"/>
          </p:nvPr>
        </p:nvSpPr>
        <p:spPr>
          <a:xfrm>
            <a:off x="597333" y="2421267"/>
            <a:ext cx="22806400" cy="10431200"/>
          </a:xfrm>
          <a:prstGeom prst="rect">
            <a:avLst/>
          </a:prstGeom>
        </p:spPr>
        <p:txBody>
          <a:bodyPr spcFirstLastPara="1" wrap="square" lIns="243800" tIns="243800" rIns="243800" bIns="243800" anchor="t" anchorCtr="0">
            <a:normAutofit/>
          </a:bodyPr>
          <a:lstStyle/>
          <a:p>
            <a:pPr indent="1219215" rtl="0">
              <a:spcBef>
                <a:spcPts val="1600"/>
              </a:spcBef>
              <a:buClr>
                <a:schemeClr val="dk1"/>
              </a:buClr>
              <a:buSzPts val="1100"/>
            </a:pPr>
            <a:r>
              <a:rPr lang="en" b="1">
                <a:latin typeface="Courier New"/>
                <a:ea typeface="Courier New"/>
                <a:cs typeface="Courier New"/>
                <a:sym typeface="Courier New"/>
              </a:rPr>
              <a:t>6</a:t>
            </a:r>
            <a:endParaRPr b="1">
              <a:latin typeface="Courier New"/>
              <a:ea typeface="Courier New"/>
              <a:cs typeface="Courier New"/>
              <a:sym typeface="Courier New"/>
            </a:endParaRPr>
          </a:p>
          <a:p>
            <a:pPr rtl="0">
              <a:spcBef>
                <a:spcPts val="1600"/>
              </a:spcBef>
              <a:buClr>
                <a:schemeClr val="dk1"/>
              </a:buClr>
              <a:buSzPts val="1100"/>
            </a:pPr>
            <a:endParaRPr b="1">
              <a:latin typeface="Courier New"/>
              <a:ea typeface="Courier New"/>
              <a:cs typeface="Courier New"/>
              <a:sym typeface="Courier New"/>
            </a:endParaRPr>
          </a:p>
          <a:p>
            <a:pPr indent="1219215" rtl="0">
              <a:spcBef>
                <a:spcPts val="1600"/>
              </a:spcBef>
              <a:buClr>
                <a:schemeClr val="dk1"/>
              </a:buClr>
              <a:buSzPts val="1100"/>
            </a:pPr>
            <a:r>
              <a:rPr lang="en" b="1">
                <a:latin typeface="Courier New"/>
                <a:ea typeface="Courier New"/>
                <a:cs typeface="Courier New"/>
                <a:sym typeface="Courier New"/>
              </a:rPr>
              <a:t>6 feet</a:t>
            </a:r>
            <a:endParaRPr b="1">
              <a:latin typeface="Courier New"/>
              <a:ea typeface="Courier New"/>
              <a:cs typeface="Courier New"/>
              <a:sym typeface="Courier New"/>
            </a:endParaRPr>
          </a:p>
          <a:p>
            <a:pPr rtl="0">
              <a:spcBef>
                <a:spcPts val="1600"/>
              </a:spcBef>
              <a:buClr>
                <a:schemeClr val="dk1"/>
              </a:buClr>
              <a:buSzPts val="1100"/>
            </a:pPr>
            <a:endParaRPr b="1">
              <a:latin typeface="Courier New"/>
              <a:ea typeface="Courier New"/>
              <a:cs typeface="Courier New"/>
              <a:sym typeface="Courier New"/>
            </a:endParaRPr>
          </a:p>
          <a:p>
            <a:pPr indent="1219215" rtl="0">
              <a:spcBef>
                <a:spcPts val="1600"/>
              </a:spcBef>
              <a:buClr>
                <a:schemeClr val="dk1"/>
              </a:buClr>
              <a:buSzPts val="1100"/>
            </a:pPr>
            <a:r>
              <a:rPr lang="en" b="1">
                <a:latin typeface="Courier New"/>
                <a:ea typeface="Courier New"/>
                <a:cs typeface="Courier New"/>
                <a:sym typeface="Courier New"/>
              </a:rPr>
              <a:t>height = 6 feet</a:t>
            </a:r>
            <a:endParaRPr b="1">
              <a:latin typeface="Courier New"/>
              <a:ea typeface="Courier New"/>
              <a:cs typeface="Courier New"/>
              <a:sym typeface="Courier New"/>
            </a:endParaRPr>
          </a:p>
          <a:p>
            <a:pPr rtl="0">
              <a:spcBef>
                <a:spcPts val="1600"/>
              </a:spcBef>
              <a:buClr>
                <a:schemeClr val="dk1"/>
              </a:buClr>
              <a:buSzPts val="1100"/>
            </a:pPr>
            <a:endParaRPr b="1">
              <a:latin typeface="Courier New"/>
              <a:ea typeface="Courier New"/>
              <a:cs typeface="Courier New"/>
              <a:sym typeface="Courier New"/>
            </a:endParaRPr>
          </a:p>
          <a:p>
            <a:pPr indent="1219215" rtl="0">
              <a:spcBef>
                <a:spcPts val="1600"/>
              </a:spcBef>
              <a:buClr>
                <a:schemeClr val="dk1"/>
              </a:buClr>
              <a:buSzPts val="1100"/>
            </a:pPr>
            <a:r>
              <a:rPr lang="en" b="1">
                <a:latin typeface="Courier New"/>
                <a:ea typeface="Courier New"/>
                <a:cs typeface="Courier New"/>
                <a:sym typeface="Courier New"/>
              </a:rPr>
              <a:t>Bob’s height = 6 feet</a:t>
            </a:r>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title"/>
          </p:nvPr>
        </p:nvSpPr>
        <p:spPr>
          <a:xfrm>
            <a:off x="831200" y="3422800"/>
            <a:ext cx="22721600" cy="5799200"/>
          </a:xfrm>
          <a:prstGeom prst="rect">
            <a:avLst/>
          </a:prstGeom>
        </p:spPr>
        <p:txBody>
          <a:bodyPr spcFirstLastPara="1" wrap="square" lIns="243800" tIns="243800" rIns="243800" bIns="243800" anchor="ctr" anchorCtr="0">
            <a:normAutofit/>
          </a:bodyPr>
          <a:lstStyle/>
          <a:p>
            <a:r>
              <a:rPr lang="en"/>
              <a:t>All are sometimes called "data"</a:t>
            </a:r>
            <a:endParaRPr/>
          </a:p>
          <a:p>
            <a:endParaRPr/>
          </a:p>
          <a:p>
            <a:r>
              <a:rPr lang="en"/>
              <a:t>But only the last item is genuine </a:t>
            </a:r>
            <a:r>
              <a:rPr lang="en" i="1"/>
              <a:t>datum</a:t>
            </a:r>
            <a:r>
              <a:rPr lang="en"/>
              <a:t> — </a:t>
            </a:r>
            <a:endParaRPr/>
          </a:p>
          <a:p>
            <a:endParaRPr/>
          </a:p>
          <a:p>
            <a:r>
              <a:rPr lang="en"/>
              <a:t>an elementary assertion of a fact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fontScale="90000"/>
          </a:bodyPr>
          <a:lstStyle/>
          <a:p>
            <a:r>
              <a:rPr lang="en"/>
              <a:t>The Elementary Structure of Data</a:t>
            </a:r>
            <a:endParaRPr/>
          </a:p>
        </p:txBody>
      </p:sp>
      <p:sp>
        <p:nvSpPr>
          <p:cNvPr id="64" name="Google Shape;64;p14"/>
          <p:cNvSpPr txBox="1">
            <a:spLocks noGrp="1"/>
          </p:cNvSpPr>
          <p:nvPr>
            <p:ph type="body" idx="1"/>
          </p:nvPr>
        </p:nvSpPr>
        <p:spPr>
          <a:xfrm>
            <a:off x="597333" y="2421267"/>
            <a:ext cx="22806400" cy="10431200"/>
          </a:xfrm>
          <a:prstGeom prst="rect">
            <a:avLst/>
          </a:prstGeom>
        </p:spPr>
        <p:txBody>
          <a:bodyPr spcFirstLastPara="1" wrap="square" lIns="243800" tIns="243800" rIns="243800" bIns="243800" anchor="t" anchorCtr="0">
            <a:normAutofit fontScale="85000" lnSpcReduction="10000"/>
          </a:bodyPr>
          <a:lstStyle/>
          <a:p>
            <a:pPr rtl="0">
              <a:spcBef>
                <a:spcPts val="1600"/>
              </a:spcBef>
              <a:buClr>
                <a:schemeClr val="dk1"/>
              </a:buClr>
              <a:buSzPts val="1100"/>
            </a:pPr>
            <a:r>
              <a:rPr lang="en"/>
              <a:t>A </a:t>
            </a:r>
            <a:r>
              <a:rPr lang="en" b="1"/>
              <a:t>datum</a:t>
            </a:r>
            <a:r>
              <a:rPr lang="en"/>
              <a:t> is always an assertion of </a:t>
            </a:r>
            <a:r>
              <a:rPr lang="en" b="1"/>
              <a:t>something about something</a:t>
            </a:r>
            <a:endParaRPr b="1"/>
          </a:p>
          <a:p>
            <a:pPr marL="1219215" rtl="0">
              <a:spcBef>
                <a:spcPts val="3200"/>
              </a:spcBef>
              <a:buClr>
                <a:schemeClr val="dk1"/>
              </a:buClr>
              <a:buSzPts val="1100"/>
            </a:pPr>
            <a:r>
              <a:rPr lang="en" b="1"/>
              <a:t>[Bob] [has height] [6 feet] → A, B, C</a:t>
            </a:r>
            <a:endParaRPr b="1"/>
          </a:p>
          <a:p>
            <a:pPr marL="2438430" rtl="0">
              <a:spcBef>
                <a:spcPts val="3200"/>
              </a:spcBef>
              <a:buClr>
                <a:schemeClr val="dk1"/>
              </a:buClr>
              <a:buSzPts val="1100"/>
            </a:pPr>
            <a:r>
              <a:rPr lang="en" b="1"/>
              <a:t>A</a:t>
            </a:r>
            <a:r>
              <a:rPr lang="en"/>
              <a:t> is some </a:t>
            </a:r>
            <a:r>
              <a:rPr lang="en" b="1"/>
              <a:t>unique thing</a:t>
            </a:r>
            <a:r>
              <a:rPr lang="en"/>
              <a:t> in the world defined by a name (ID)</a:t>
            </a:r>
            <a:endParaRPr/>
          </a:p>
          <a:p>
            <a:pPr marL="2438430" rtl="0">
              <a:spcBef>
                <a:spcPts val="3200"/>
              </a:spcBef>
              <a:buClr>
                <a:schemeClr val="dk1"/>
              </a:buClr>
              <a:buSzPts val="1100"/>
            </a:pPr>
            <a:r>
              <a:rPr lang="en" b="1"/>
              <a:t>B</a:t>
            </a:r>
            <a:r>
              <a:rPr lang="en"/>
              <a:t> is some property, defined by a </a:t>
            </a:r>
            <a:r>
              <a:rPr lang="en" b="1"/>
              <a:t>category</a:t>
            </a:r>
            <a:r>
              <a:rPr lang="en"/>
              <a:t>, connected to the thing</a:t>
            </a:r>
            <a:endParaRPr/>
          </a:p>
          <a:p>
            <a:pPr marL="2438430" rtl="0">
              <a:spcBef>
                <a:spcPts val="3200"/>
              </a:spcBef>
            </a:pPr>
            <a:r>
              <a:rPr lang="en" b="1"/>
              <a:t>C</a:t>
            </a:r>
            <a:r>
              <a:rPr lang="en"/>
              <a:t> is some </a:t>
            </a:r>
            <a:r>
              <a:rPr lang="en" b="1"/>
              <a:t>value</a:t>
            </a:r>
            <a:r>
              <a:rPr lang="en"/>
              <a:t> in the form of a data type (numeric or categorical) or a reference to another datum</a:t>
            </a:r>
            <a:endParaRPr/>
          </a:p>
          <a:p>
            <a:pPr rtl="0">
              <a:spcBef>
                <a:spcPts val="3200"/>
              </a:spcBef>
            </a:pPr>
            <a:r>
              <a:rPr lang="en"/>
              <a:t>Data always has this basic </a:t>
            </a:r>
            <a:r>
              <a:rPr lang="en" b="1"/>
              <a:t>triadic structure</a:t>
            </a:r>
            <a:endParaRPr b="1"/>
          </a:p>
          <a:p>
            <a:pPr indent="1219215" rtl="0">
              <a:spcBef>
                <a:spcPts val="3200"/>
              </a:spcBef>
            </a:pPr>
            <a:r>
              <a:rPr lang="en"/>
              <a:t>In other words, </a:t>
            </a:r>
            <a:r>
              <a:rPr lang="en" b="1"/>
              <a:t>a datum is a sentence</a:t>
            </a:r>
            <a:r>
              <a:rPr lang="en"/>
              <a:t> (proposition) </a:t>
            </a:r>
            <a:endParaRPr/>
          </a:p>
          <a:p>
            <a:pPr rtl="0">
              <a:spcBef>
                <a:spcPts val="3200"/>
              </a:spcBef>
              <a:spcAft>
                <a:spcPts val="3200"/>
              </a:spcAft>
            </a:pPr>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fontScale="90000"/>
          </a:bodyPr>
          <a:lstStyle/>
          <a:p>
            <a:pPr>
              <a:buClr>
                <a:schemeClr val="dk1"/>
              </a:buClr>
              <a:buSzPct val="39286"/>
            </a:pPr>
            <a:r>
              <a:rPr lang="en"/>
              <a:t>Semantic Triples</a:t>
            </a:r>
            <a:endParaRPr/>
          </a:p>
          <a:p>
            <a:endParaRPr/>
          </a:p>
        </p:txBody>
      </p:sp>
      <p:sp>
        <p:nvSpPr>
          <p:cNvPr id="70" name="Google Shape;70;p15"/>
          <p:cNvSpPr txBox="1">
            <a:spLocks noGrp="1"/>
          </p:cNvSpPr>
          <p:nvPr>
            <p:ph type="body" idx="1"/>
          </p:nvPr>
        </p:nvSpPr>
        <p:spPr>
          <a:xfrm>
            <a:off x="597333" y="2421267"/>
            <a:ext cx="22806400" cy="10431200"/>
          </a:xfrm>
          <a:prstGeom prst="rect">
            <a:avLst/>
          </a:prstGeom>
        </p:spPr>
        <p:txBody>
          <a:bodyPr spcFirstLastPara="1" wrap="square" lIns="243800" tIns="243800" rIns="243800" bIns="243800" anchor="t" anchorCtr="0">
            <a:noAutofit/>
          </a:bodyPr>
          <a:lstStyle/>
          <a:p>
            <a:pPr rtl="0">
              <a:lnSpc>
                <a:spcPct val="80000"/>
              </a:lnSpc>
              <a:spcBef>
                <a:spcPts val="1600"/>
              </a:spcBef>
              <a:buSzPts val="1018"/>
            </a:pPr>
            <a:r>
              <a:rPr lang="en" sz="5715" dirty="0"/>
              <a:t>This triadic structure is called a "</a:t>
            </a:r>
            <a:r>
              <a:rPr lang="en" sz="5715" b="1" dirty="0"/>
              <a:t>semantic triple</a:t>
            </a:r>
            <a:r>
              <a:rPr lang="en" sz="5715" dirty="0"/>
              <a:t>" </a:t>
            </a:r>
            <a:endParaRPr sz="5715" dirty="0"/>
          </a:p>
          <a:p>
            <a:pPr marL="1219215" rtl="0">
              <a:lnSpc>
                <a:spcPct val="80000"/>
              </a:lnSpc>
              <a:spcBef>
                <a:spcPts val="3200"/>
              </a:spcBef>
              <a:buSzPts val="1018"/>
            </a:pPr>
            <a:r>
              <a:rPr lang="en" sz="5715" dirty="0"/>
              <a:t>It represents the most basic kind of "</a:t>
            </a:r>
            <a:r>
              <a:rPr lang="en" sz="5715" b="1" dirty="0"/>
              <a:t>fact</a:t>
            </a:r>
            <a:r>
              <a:rPr lang="en" sz="5715" dirty="0"/>
              <a:t>"</a:t>
            </a:r>
            <a:endParaRPr sz="5715" dirty="0"/>
          </a:p>
          <a:p>
            <a:pPr marL="1219215" indent="1219215" rtl="0">
              <a:lnSpc>
                <a:spcPct val="80000"/>
              </a:lnSpc>
              <a:spcBef>
                <a:spcPts val="3200"/>
              </a:spcBef>
              <a:buSzPts val="1018"/>
            </a:pPr>
            <a:r>
              <a:rPr lang="en" sz="5715" dirty="0"/>
              <a:t>Asserting something about something</a:t>
            </a:r>
            <a:endParaRPr sz="5715" dirty="0"/>
          </a:p>
          <a:p>
            <a:pPr marL="1219215" indent="1219215" rtl="0">
              <a:lnSpc>
                <a:spcPct val="80000"/>
              </a:lnSpc>
              <a:spcBef>
                <a:spcPts val="3200"/>
              </a:spcBef>
              <a:buSzPts val="1018"/>
            </a:pPr>
            <a:r>
              <a:rPr lang="en" sz="5715" dirty="0"/>
              <a:t>In the form of a simple </a:t>
            </a:r>
            <a:r>
              <a:rPr lang="en" sz="5715" b="1" dirty="0"/>
              <a:t>sentence</a:t>
            </a:r>
            <a:endParaRPr sz="5715" b="1" dirty="0"/>
          </a:p>
          <a:p>
            <a:pPr rtl="0">
              <a:lnSpc>
                <a:spcPct val="80000"/>
              </a:lnSpc>
              <a:spcBef>
                <a:spcPts val="3200"/>
              </a:spcBef>
              <a:buClr>
                <a:schemeClr val="dk1"/>
              </a:buClr>
              <a:buSzPts val="1018"/>
            </a:pPr>
            <a:r>
              <a:rPr lang="en" sz="5715" dirty="0"/>
              <a:t>In the form of a </a:t>
            </a:r>
            <a:r>
              <a:rPr lang="en" sz="5715" b="1" dirty="0"/>
              <a:t>subject-predicate-object</a:t>
            </a:r>
            <a:r>
              <a:rPr lang="en" sz="5715" dirty="0"/>
              <a:t> (SPO) expression</a:t>
            </a:r>
            <a:endParaRPr sz="5715" dirty="0"/>
          </a:p>
          <a:p>
            <a:pPr marL="1219215" rtl="0">
              <a:lnSpc>
                <a:spcPct val="80000"/>
              </a:lnSpc>
              <a:spcBef>
                <a:spcPts val="3200"/>
              </a:spcBef>
              <a:buClr>
                <a:schemeClr val="dk1"/>
              </a:buClr>
              <a:buSzPts val="1018"/>
            </a:pPr>
            <a:r>
              <a:rPr lang="en" sz="5715" b="1" dirty="0">
                <a:solidFill>
                  <a:schemeClr val="accent6"/>
                </a:solidFill>
              </a:rPr>
              <a:t>Subject</a:t>
            </a:r>
            <a:r>
              <a:rPr lang="en" sz="5715" dirty="0"/>
              <a:t>: An entity or resource that the statement is </a:t>
            </a:r>
            <a:r>
              <a:rPr lang="en" sz="5715" b="1" dirty="0"/>
              <a:t>about</a:t>
            </a:r>
            <a:r>
              <a:rPr lang="en" sz="5715" dirty="0"/>
              <a:t> (e.g., "Bob").</a:t>
            </a:r>
            <a:endParaRPr sz="5715" dirty="0"/>
          </a:p>
          <a:p>
            <a:pPr marL="1219215" rtl="0">
              <a:lnSpc>
                <a:spcPct val="80000"/>
              </a:lnSpc>
              <a:spcBef>
                <a:spcPts val="3200"/>
              </a:spcBef>
              <a:buClr>
                <a:schemeClr val="dk1"/>
              </a:buClr>
              <a:buSzPts val="1018"/>
            </a:pPr>
            <a:r>
              <a:rPr lang="en" sz="5715" b="1" dirty="0">
                <a:solidFill>
                  <a:schemeClr val="accent3"/>
                </a:solidFill>
              </a:rPr>
              <a:t>Predicate</a:t>
            </a:r>
            <a:r>
              <a:rPr lang="en" sz="5715" dirty="0"/>
              <a:t>: The property or relationship </a:t>
            </a:r>
            <a:r>
              <a:rPr lang="en" sz="5715" b="1" dirty="0"/>
              <a:t>linking</a:t>
            </a:r>
            <a:r>
              <a:rPr lang="en" sz="5715" dirty="0"/>
              <a:t> the subject and object (e.g., "has a height of").</a:t>
            </a:r>
            <a:endParaRPr sz="5715" dirty="0"/>
          </a:p>
          <a:p>
            <a:pPr marL="1219215" rtl="0">
              <a:lnSpc>
                <a:spcPct val="80000"/>
              </a:lnSpc>
              <a:spcBef>
                <a:spcPts val="3200"/>
              </a:spcBef>
              <a:spcAft>
                <a:spcPts val="3200"/>
              </a:spcAft>
              <a:buSzPts val="1018"/>
            </a:pPr>
            <a:r>
              <a:rPr lang="en" sz="5715" b="1" dirty="0">
                <a:solidFill>
                  <a:schemeClr val="accent1"/>
                </a:solidFill>
              </a:rPr>
              <a:t>Object</a:t>
            </a:r>
            <a:r>
              <a:rPr lang="en" sz="5715" dirty="0"/>
              <a:t>: The </a:t>
            </a:r>
            <a:r>
              <a:rPr lang="en" sz="5715" b="1" dirty="0"/>
              <a:t>value</a:t>
            </a:r>
            <a:r>
              <a:rPr lang="en" sz="5715" dirty="0"/>
              <a:t> or related entity (e.g., "6ft"). </a:t>
            </a:r>
            <a:endParaRPr sz="5715"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E330-E7F1-FF83-BEAB-009EA2237B96}"/>
              </a:ext>
            </a:extLst>
          </p:cNvPr>
          <p:cNvSpPr>
            <a:spLocks noGrp="1"/>
          </p:cNvSpPr>
          <p:nvPr>
            <p:ph type="title"/>
          </p:nvPr>
        </p:nvSpPr>
        <p:spPr/>
        <p:txBody>
          <a:bodyPr/>
          <a:lstStyle/>
          <a:p>
            <a:r>
              <a:rPr lang="en-US" dirty="0"/>
              <a:t>Data Components</a:t>
            </a:r>
          </a:p>
        </p:txBody>
      </p:sp>
      <p:sp>
        <p:nvSpPr>
          <p:cNvPr id="3" name="Text Placeholder 2">
            <a:extLst>
              <a:ext uri="{FF2B5EF4-FFF2-40B4-BE49-F238E27FC236}">
                <a16:creationId xmlns:a16="http://schemas.microsoft.com/office/drawing/2014/main" id="{C6CDA176-61D0-2F59-375F-F63BB02C5A5A}"/>
              </a:ext>
            </a:extLst>
          </p:cNvPr>
          <p:cNvSpPr>
            <a:spLocks noGrp="1"/>
          </p:cNvSpPr>
          <p:nvPr>
            <p:ph type="body" sz="quarter" idx="21"/>
          </p:nvPr>
        </p:nvSpPr>
        <p:spPr/>
        <p:txBody>
          <a:bodyPr/>
          <a:lstStyle/>
          <a:p>
            <a:endParaRPr lang="en-US"/>
          </a:p>
        </p:txBody>
      </p:sp>
      <p:sp>
        <p:nvSpPr>
          <p:cNvPr id="4" name="Text Placeholder 3">
            <a:extLst>
              <a:ext uri="{FF2B5EF4-FFF2-40B4-BE49-F238E27FC236}">
                <a16:creationId xmlns:a16="http://schemas.microsoft.com/office/drawing/2014/main" id="{6090AE88-CA12-CAC8-BAF6-D3C88190AB63}"/>
              </a:ext>
            </a:extLst>
          </p:cNvPr>
          <p:cNvSpPr>
            <a:spLocks noGrp="1"/>
          </p:cNvSpPr>
          <p:nvPr>
            <p:ph type="body" idx="1"/>
          </p:nvPr>
        </p:nvSpPr>
        <p:spPr>
          <a:xfrm>
            <a:off x="1206500" y="4248504"/>
            <a:ext cx="15141864" cy="8256012"/>
          </a:xfrm>
        </p:spPr>
        <p:txBody>
          <a:bodyPr/>
          <a:lstStyle/>
          <a:p>
            <a:pPr marL="685800" lvl="0" indent="-685800" fontAlgn="base">
              <a:buFont typeface="Arial" panose="020B0604020202020204" pitchFamily="34" charset="0"/>
              <a:buChar char="•"/>
            </a:pPr>
            <a:r>
              <a:rPr lang="en-US" b="1" dirty="0">
                <a:solidFill>
                  <a:schemeClr val="accent6"/>
                </a:solidFill>
              </a:rPr>
              <a:t>Items</a:t>
            </a:r>
            <a:r>
              <a:rPr lang="en-US" b="1" dirty="0"/>
              <a:t> </a:t>
            </a:r>
            <a:r>
              <a:rPr lang="en-US" dirty="0"/>
              <a:t>aka data objects, data cases</a:t>
            </a:r>
          </a:p>
          <a:p>
            <a:pPr lvl="1"/>
            <a:r>
              <a:rPr lang="en-US" dirty="0"/>
              <a:t>(cars, employees, cities, countries, …)</a:t>
            </a:r>
          </a:p>
          <a:p>
            <a:pPr lvl="1"/>
            <a:endParaRPr lang="en-US" dirty="0"/>
          </a:p>
          <a:p>
            <a:pPr marL="685800" lvl="0" indent="-685800" fontAlgn="base">
              <a:buFont typeface="Arial" panose="020B0604020202020204" pitchFamily="34" charset="0"/>
              <a:buChar char="•"/>
            </a:pPr>
            <a:r>
              <a:rPr lang="en-US" b="1" dirty="0">
                <a:solidFill>
                  <a:schemeClr val="accent3"/>
                </a:solidFill>
              </a:rPr>
              <a:t>Relationships</a:t>
            </a:r>
            <a:r>
              <a:rPr lang="en-US" b="1" dirty="0"/>
              <a:t> </a:t>
            </a:r>
            <a:r>
              <a:rPr lang="en-US" dirty="0"/>
              <a:t>aka links</a:t>
            </a:r>
          </a:p>
          <a:p>
            <a:pPr lvl="1"/>
            <a:r>
              <a:rPr lang="en-US" dirty="0"/>
              <a:t>(parent of, owned by, have collaborated, …)</a:t>
            </a:r>
          </a:p>
          <a:p>
            <a:endParaRPr lang="en-US" dirty="0"/>
          </a:p>
          <a:p>
            <a:pPr marL="685800" lvl="0" indent="-685800" fontAlgn="base">
              <a:buFont typeface="Arial" panose="020B0604020202020204" pitchFamily="34" charset="0"/>
              <a:buChar char="•"/>
            </a:pPr>
            <a:r>
              <a:rPr lang="en-US" b="1" dirty="0">
                <a:solidFill>
                  <a:schemeClr val="accent1"/>
                </a:solidFill>
              </a:rPr>
              <a:t>Attributes</a:t>
            </a:r>
            <a:r>
              <a:rPr lang="en-US" b="1" dirty="0"/>
              <a:t> </a:t>
            </a:r>
            <a:r>
              <a:rPr lang="en-US" dirty="0"/>
              <a:t>aka data variables, fields </a:t>
            </a:r>
          </a:p>
          <a:p>
            <a:pPr lvl="1" fontAlgn="base"/>
            <a:r>
              <a:rPr lang="en-US" dirty="0"/>
              <a:t>(mpg, age, population, GDP, …)</a:t>
            </a:r>
          </a:p>
          <a:p>
            <a:pPr marL="685800" lvl="0" indent="-685800" fontAlgn="base">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65087601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923E-9378-FA6D-0205-7228A3FA7755}"/>
              </a:ext>
            </a:extLst>
          </p:cNvPr>
          <p:cNvSpPr>
            <a:spLocks noGrp="1"/>
          </p:cNvSpPr>
          <p:nvPr>
            <p:ph type="title"/>
          </p:nvPr>
        </p:nvSpPr>
        <p:spPr/>
        <p:txBody>
          <a:bodyPr/>
          <a:lstStyle/>
          <a:p>
            <a:r>
              <a:rPr lang="en-US" dirty="0"/>
              <a:t>Dataset Types</a:t>
            </a:r>
          </a:p>
        </p:txBody>
      </p:sp>
      <p:sp>
        <p:nvSpPr>
          <p:cNvPr id="3" name="Text Placeholder 2">
            <a:extLst>
              <a:ext uri="{FF2B5EF4-FFF2-40B4-BE49-F238E27FC236}">
                <a16:creationId xmlns:a16="http://schemas.microsoft.com/office/drawing/2014/main" id="{F55F936C-BE99-1DD5-07E5-5E2538BA13EB}"/>
              </a:ext>
            </a:extLst>
          </p:cNvPr>
          <p:cNvSpPr>
            <a:spLocks noGrp="1"/>
          </p:cNvSpPr>
          <p:nvPr>
            <p:ph type="body" sz="quarter" idx="21"/>
          </p:nvPr>
        </p:nvSpPr>
        <p:spPr/>
        <p:txBody>
          <a:bodyPr/>
          <a:lstStyle/>
          <a:p>
            <a:endParaRPr lang="en-US"/>
          </a:p>
        </p:txBody>
      </p:sp>
      <p:sp>
        <p:nvSpPr>
          <p:cNvPr id="4" name="Text Placeholder 3">
            <a:extLst>
              <a:ext uri="{FF2B5EF4-FFF2-40B4-BE49-F238E27FC236}">
                <a16:creationId xmlns:a16="http://schemas.microsoft.com/office/drawing/2014/main" id="{37AF4125-CDD7-44F4-121C-B7618CC261C1}"/>
              </a:ext>
            </a:extLst>
          </p:cNvPr>
          <p:cNvSpPr>
            <a:spLocks noGrp="1"/>
          </p:cNvSpPr>
          <p:nvPr>
            <p:ph type="body" idx="1"/>
          </p:nvPr>
        </p:nvSpPr>
        <p:spPr/>
        <p:txBody>
          <a:bodyPr/>
          <a:lstStyle/>
          <a:p>
            <a:pPr marL="685800" lvl="0" indent="-685800" fontAlgn="base">
              <a:buFont typeface="Arial" panose="020B0604020202020204" pitchFamily="34" charset="0"/>
              <a:buChar char="•"/>
            </a:pPr>
            <a:r>
              <a:rPr lang="en-US" b="1" dirty="0"/>
              <a:t>Multivariate Data: Items and Attributes</a:t>
            </a:r>
            <a:endParaRPr lang="en-US" dirty="0"/>
          </a:p>
          <a:p>
            <a:pPr marL="685800" indent="-685800">
              <a:buFont typeface="Arial" panose="020B0604020202020204" pitchFamily="34" charset="0"/>
              <a:buChar char="•"/>
            </a:pPr>
            <a:r>
              <a:rPr lang="en-US" dirty="0">
                <a:solidFill>
                  <a:schemeClr val="tx2">
                    <a:lumMod val="60000"/>
                    <a:lumOff val="40000"/>
                  </a:schemeClr>
                </a:solidFill>
              </a:rPr>
              <a:t>Networks &amp; Trees </a:t>
            </a:r>
          </a:p>
        </p:txBody>
      </p:sp>
    </p:spTree>
    <p:extLst>
      <p:ext uri="{BB962C8B-B14F-4D97-AF65-F5344CB8AC3E}">
        <p14:creationId xmlns:p14="http://schemas.microsoft.com/office/powerpoint/2010/main" val="148532628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8"/>
          <p:cNvGraphicFramePr/>
          <p:nvPr/>
        </p:nvGraphicFramePr>
        <p:xfrm>
          <a:off x="7681333" y="5955451"/>
          <a:ext cx="7373067" cy="2194508"/>
        </p:xfrm>
        <a:graphic>
          <a:graphicData uri="http://schemas.openxmlformats.org/drawingml/2006/table">
            <a:tbl>
              <a:tblPr>
                <a:noFill/>
              </a:tblPr>
              <a:tblGrid>
                <a:gridCol w="3956267">
                  <a:extLst>
                    <a:ext uri="{9D8B030D-6E8A-4147-A177-3AD203B41FA5}">
                      <a16:colId xmlns:a16="http://schemas.microsoft.com/office/drawing/2014/main" val="20000"/>
                    </a:ext>
                  </a:extLst>
                </a:gridCol>
                <a:gridCol w="3416800">
                  <a:extLst>
                    <a:ext uri="{9D8B030D-6E8A-4147-A177-3AD203B41FA5}">
                      <a16:colId xmlns:a16="http://schemas.microsoft.com/office/drawing/2014/main" val="20001"/>
                    </a:ext>
                  </a:extLst>
                </a:gridCol>
              </a:tblGrid>
              <a:tr h="1097253">
                <a:tc>
                  <a:txBody>
                    <a:bodyPr/>
                    <a:lstStyle/>
                    <a:p>
                      <a:pPr marL="0" lvl="0" indent="0" algn="r" rtl="0">
                        <a:spcBef>
                          <a:spcPts val="0"/>
                        </a:spcBef>
                        <a:spcAft>
                          <a:spcPts val="0"/>
                        </a:spcAft>
                        <a:buNone/>
                      </a:pPr>
                      <a:endParaRPr sz="4800">
                        <a:latin typeface="Roboto Condensed"/>
                        <a:ea typeface="Roboto Condensed"/>
                        <a:cs typeface="Roboto Condensed"/>
                        <a:sym typeface="Roboto Condensed"/>
                      </a:endParaRPr>
                    </a:p>
                  </a:txBody>
                  <a:tcPr marL="243800" marR="243800" marT="182867" marB="182867">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a:latin typeface="Lato"/>
                          <a:ea typeface="Lato"/>
                          <a:cs typeface="Lato"/>
                          <a:sym typeface="Lato"/>
                        </a:rPr>
                        <a:t>height</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97253">
                <a:tc>
                  <a:txBody>
                    <a:bodyPr/>
                    <a:lstStyle/>
                    <a:p>
                      <a:pPr marL="0" lvl="0" indent="0" algn="r" rtl="0">
                        <a:spcBef>
                          <a:spcPts val="0"/>
                        </a:spcBef>
                        <a:spcAft>
                          <a:spcPts val="0"/>
                        </a:spcAft>
                        <a:buNone/>
                      </a:pPr>
                      <a:r>
                        <a:rPr lang="en" sz="4800">
                          <a:latin typeface="Lato"/>
                          <a:ea typeface="Lato"/>
                          <a:cs typeface="Lato"/>
                          <a:sym typeface="Lato"/>
                        </a:rPr>
                        <a:t>Bob</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b="1">
                          <a:latin typeface="Courier New"/>
                          <a:ea typeface="Courier New"/>
                          <a:cs typeface="Courier New"/>
                          <a:sym typeface="Courier New"/>
                        </a:rPr>
                        <a:t>6</a:t>
                      </a:r>
                      <a:endParaRPr sz="4800" b="1">
                        <a:latin typeface="Courier New"/>
                        <a:ea typeface="Courier New"/>
                        <a:cs typeface="Courier New"/>
                        <a:sym typeface="Courier New"/>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9" name="Google Shape;89;p18"/>
          <p:cNvSpPr txBox="1"/>
          <p:nvPr/>
        </p:nvSpPr>
        <p:spPr>
          <a:xfrm>
            <a:off x="420130" y="10158200"/>
            <a:ext cx="12776886" cy="2516800"/>
          </a:xfrm>
          <a:prstGeom prst="rect">
            <a:avLst/>
          </a:prstGeom>
          <a:noFill/>
          <a:ln>
            <a:noFill/>
          </a:ln>
        </p:spPr>
        <p:txBody>
          <a:bodyPr spcFirstLastPara="1" wrap="square" lIns="243800" tIns="243800" rIns="243800" bIns="243800" anchor="ctr" anchorCtr="0">
            <a:noAutofit/>
          </a:bodyPr>
          <a:lstStyle/>
          <a:p>
            <a:pPr algn="r">
              <a:lnSpc>
                <a:spcPct val="115000"/>
              </a:lnSpc>
              <a:spcAft>
                <a:spcPts val="4267"/>
              </a:spcAft>
            </a:pPr>
            <a:r>
              <a:rPr lang="en" sz="4800" b="1" dirty="0">
                <a:solidFill>
                  <a:schemeClr val="dk1"/>
                </a:solidFill>
                <a:latin typeface="Lato"/>
                <a:ea typeface="Lato"/>
                <a:cs typeface="Lato"/>
                <a:sym typeface="Lato"/>
              </a:rPr>
              <a:t>S</a:t>
            </a:r>
            <a:r>
              <a:rPr lang="en" sz="4800" dirty="0">
                <a:solidFill>
                  <a:schemeClr val="dk1"/>
                </a:solidFill>
                <a:latin typeface="Lato"/>
                <a:ea typeface="Lato"/>
                <a:cs typeface="Lato"/>
                <a:sym typeface="Lato"/>
              </a:rPr>
              <a:t> is a </a:t>
            </a:r>
            <a:r>
              <a:rPr lang="en" sz="4800" b="1" dirty="0">
                <a:solidFill>
                  <a:schemeClr val="accent6"/>
                </a:solidFill>
                <a:latin typeface="Lato"/>
                <a:ea typeface="Lato"/>
                <a:cs typeface="Lato"/>
                <a:sym typeface="Lato"/>
              </a:rPr>
              <a:t>row/item</a:t>
            </a:r>
            <a:r>
              <a:rPr lang="en" sz="4800" dirty="0">
                <a:solidFill>
                  <a:schemeClr val="dk1"/>
                </a:solidFill>
                <a:latin typeface="Lato"/>
                <a:ea typeface="Lato"/>
                <a:cs typeface="Lato"/>
                <a:sym typeface="Lato"/>
              </a:rPr>
              <a:t> that stands for an observation, some unique thing or outcome in the world, defined by name (IDs)</a:t>
            </a:r>
            <a:endParaRPr sz="4800" dirty="0">
              <a:solidFill>
                <a:schemeClr val="dk1"/>
              </a:solidFill>
              <a:latin typeface="Lato"/>
              <a:ea typeface="Lato"/>
              <a:cs typeface="Lato"/>
              <a:sym typeface="Lato"/>
            </a:endParaRPr>
          </a:p>
        </p:txBody>
      </p:sp>
      <p:sp>
        <p:nvSpPr>
          <p:cNvPr id="90" name="Google Shape;90;p18"/>
          <p:cNvSpPr txBox="1"/>
          <p:nvPr/>
        </p:nvSpPr>
        <p:spPr>
          <a:xfrm>
            <a:off x="17564000" y="5379739"/>
            <a:ext cx="6001600" cy="6480800"/>
          </a:xfrm>
          <a:prstGeom prst="rect">
            <a:avLst/>
          </a:prstGeom>
          <a:noFill/>
          <a:ln>
            <a:noFill/>
          </a:ln>
        </p:spPr>
        <p:txBody>
          <a:bodyPr spcFirstLastPara="1" wrap="square" lIns="243800" tIns="243800" rIns="243800" bIns="243800" anchor="ctr" anchorCtr="0">
            <a:noAutofit/>
          </a:bodyPr>
          <a:lstStyle/>
          <a:p>
            <a:pPr algn="l">
              <a:lnSpc>
                <a:spcPct val="115000"/>
              </a:lnSpc>
              <a:spcAft>
                <a:spcPts val="4267"/>
              </a:spcAft>
            </a:pPr>
            <a:r>
              <a:rPr lang="en" sz="4800" b="1" dirty="0">
                <a:solidFill>
                  <a:schemeClr val="dk1"/>
                </a:solidFill>
                <a:latin typeface="Lato"/>
                <a:ea typeface="Lato"/>
                <a:cs typeface="Lato"/>
                <a:sym typeface="Lato"/>
              </a:rPr>
              <a:t>O</a:t>
            </a:r>
            <a:r>
              <a:rPr lang="en" sz="4800" dirty="0">
                <a:solidFill>
                  <a:schemeClr val="dk1"/>
                </a:solidFill>
                <a:latin typeface="Lato"/>
                <a:ea typeface="Lato"/>
                <a:cs typeface="Lato"/>
                <a:sym typeface="Lato"/>
              </a:rPr>
              <a:t> is a </a:t>
            </a:r>
            <a:r>
              <a:rPr lang="en" sz="4800" b="1" dirty="0">
                <a:solidFill>
                  <a:schemeClr val="accent1"/>
                </a:solidFill>
                <a:latin typeface="Lato"/>
                <a:ea typeface="Lato"/>
                <a:cs typeface="Lato"/>
                <a:sym typeface="Lato"/>
              </a:rPr>
              <a:t>cell</a:t>
            </a:r>
            <a:r>
              <a:rPr lang="en" sz="4800" dirty="0">
                <a:solidFill>
                  <a:schemeClr val="dk1"/>
                </a:solidFill>
                <a:latin typeface="Lato"/>
                <a:ea typeface="Lato"/>
                <a:cs typeface="Lato"/>
                <a:sym typeface="Lato"/>
              </a:rPr>
              <a:t> that contains some value in the form of a data type (numeric or categorical) or a reference to another datum</a:t>
            </a:r>
            <a:endParaRPr sz="4800" dirty="0">
              <a:solidFill>
                <a:schemeClr val="dk1"/>
              </a:solidFill>
              <a:latin typeface="Lato"/>
              <a:ea typeface="Lato"/>
              <a:cs typeface="Lato"/>
              <a:sym typeface="Lato"/>
            </a:endParaRPr>
          </a:p>
        </p:txBody>
      </p:sp>
      <p:sp>
        <p:nvSpPr>
          <p:cNvPr id="91" name="Google Shape;91;p18"/>
          <p:cNvSpPr txBox="1"/>
          <p:nvPr/>
        </p:nvSpPr>
        <p:spPr>
          <a:xfrm>
            <a:off x="7639364" y="3189344"/>
            <a:ext cx="9924635" cy="2321600"/>
          </a:xfrm>
          <a:prstGeom prst="rect">
            <a:avLst/>
          </a:prstGeom>
          <a:noFill/>
          <a:ln>
            <a:noFill/>
          </a:ln>
        </p:spPr>
        <p:txBody>
          <a:bodyPr spcFirstLastPara="1" wrap="square" lIns="243800" tIns="243800" rIns="243800" bIns="243800" anchor="ctr" anchorCtr="0">
            <a:noAutofit/>
          </a:bodyPr>
          <a:lstStyle/>
          <a:p>
            <a:pPr algn="l">
              <a:lnSpc>
                <a:spcPct val="115000"/>
              </a:lnSpc>
              <a:spcAft>
                <a:spcPts val="4267"/>
              </a:spcAft>
            </a:pPr>
            <a:r>
              <a:rPr lang="en" sz="4800" b="1" dirty="0">
                <a:solidFill>
                  <a:schemeClr val="dk1"/>
                </a:solidFill>
                <a:latin typeface="Lato"/>
                <a:ea typeface="Lato"/>
                <a:cs typeface="Lato"/>
                <a:sym typeface="Lato"/>
              </a:rPr>
              <a:t>P</a:t>
            </a:r>
            <a:r>
              <a:rPr lang="en" sz="4800" dirty="0">
                <a:solidFill>
                  <a:schemeClr val="dk1"/>
                </a:solidFill>
                <a:latin typeface="Lato"/>
                <a:ea typeface="Lato"/>
                <a:cs typeface="Lato"/>
                <a:sym typeface="Lato"/>
              </a:rPr>
              <a:t> is a </a:t>
            </a:r>
            <a:r>
              <a:rPr lang="en" sz="4800" b="1" dirty="0">
                <a:solidFill>
                  <a:schemeClr val="accent3"/>
                </a:solidFill>
                <a:latin typeface="Lato"/>
                <a:ea typeface="Lato"/>
                <a:cs typeface="Lato"/>
                <a:sym typeface="Lato"/>
              </a:rPr>
              <a:t>column/attribute</a:t>
            </a:r>
            <a:r>
              <a:rPr lang="en" sz="4800" dirty="0">
                <a:solidFill>
                  <a:schemeClr val="dk1"/>
                </a:solidFill>
                <a:latin typeface="Lato"/>
                <a:ea typeface="Lato"/>
                <a:cs typeface="Lato"/>
                <a:sym typeface="Lato"/>
              </a:rPr>
              <a:t> that stands for a feature of the the thing</a:t>
            </a:r>
            <a:endParaRPr sz="4800" dirty="0">
              <a:solidFill>
                <a:schemeClr val="dk1"/>
              </a:solidFill>
              <a:latin typeface="Lato"/>
              <a:ea typeface="Lato"/>
              <a:cs typeface="Lato"/>
              <a:sym typeface="Lato"/>
            </a:endParaRPr>
          </a:p>
        </p:txBody>
      </p:sp>
      <p:sp>
        <p:nvSpPr>
          <p:cNvPr id="92" name="Google Shape;92;p18"/>
          <p:cNvSpPr txBox="1"/>
          <p:nvPr/>
        </p:nvSpPr>
        <p:spPr>
          <a:xfrm>
            <a:off x="844200" y="699867"/>
            <a:ext cx="21029600" cy="2321600"/>
          </a:xfrm>
          <a:prstGeom prst="rect">
            <a:avLst/>
          </a:prstGeom>
          <a:noFill/>
          <a:ln>
            <a:noFill/>
          </a:ln>
        </p:spPr>
        <p:txBody>
          <a:bodyPr spcFirstLastPara="1" wrap="square" lIns="243800" tIns="243800" rIns="243800" bIns="243800" anchor="t" anchorCtr="0">
            <a:noAutofit/>
          </a:bodyPr>
          <a:lstStyle/>
          <a:p>
            <a:pPr algn="l"/>
            <a:r>
              <a:rPr lang="en" sz="5600">
                <a:latin typeface="Lato"/>
                <a:ea typeface="Lato"/>
                <a:cs typeface="Lato"/>
                <a:sym typeface="Lato"/>
              </a:rPr>
              <a:t>You are used to seeing a semantic triple in this form — </a:t>
            </a:r>
            <a:endParaRPr sz="5600">
              <a:latin typeface="Lato"/>
              <a:ea typeface="Lato"/>
              <a:cs typeface="Lato"/>
              <a:sym typeface="Lato"/>
            </a:endParaRPr>
          </a:p>
          <a:p>
            <a:pPr indent="1219215" algn="l"/>
            <a:r>
              <a:rPr lang="en" sz="5600">
                <a:latin typeface="Lato"/>
                <a:ea typeface="Lato"/>
                <a:cs typeface="Lato"/>
                <a:sym typeface="Lato"/>
              </a:rPr>
              <a:t>as the building block of a </a:t>
            </a:r>
            <a:r>
              <a:rPr lang="en" sz="5600" b="1">
                <a:latin typeface="Lato"/>
                <a:ea typeface="Lato"/>
                <a:cs typeface="Lato"/>
                <a:sym typeface="Lato"/>
              </a:rPr>
              <a:t>table</a:t>
            </a:r>
            <a:endParaRPr sz="5600" b="1">
              <a:latin typeface="Lato"/>
              <a:ea typeface="Lato"/>
              <a:cs typeface="Lato"/>
              <a:sym typeface="Lato"/>
            </a:endParaRPr>
          </a:p>
        </p:txBody>
      </p:sp>
      <p:cxnSp>
        <p:nvCxnSpPr>
          <p:cNvPr id="93" name="Google Shape;93;p18"/>
          <p:cNvCxnSpPr/>
          <p:nvPr/>
        </p:nvCxnSpPr>
        <p:spPr>
          <a:xfrm>
            <a:off x="12842533" y="5162200"/>
            <a:ext cx="1007200" cy="1049600"/>
          </a:xfrm>
          <a:prstGeom prst="straightConnector1">
            <a:avLst/>
          </a:prstGeom>
          <a:noFill/>
          <a:ln w="28575" cap="flat" cmpd="sng">
            <a:solidFill>
              <a:srgbClr val="FF0000"/>
            </a:solidFill>
            <a:prstDash val="solid"/>
            <a:round/>
            <a:headEnd type="none" w="med" len="med"/>
            <a:tailEnd type="triangle" w="med" len="med"/>
          </a:ln>
        </p:spPr>
      </p:cxnSp>
      <p:cxnSp>
        <p:nvCxnSpPr>
          <p:cNvPr id="94" name="Google Shape;94;p18"/>
          <p:cNvCxnSpPr/>
          <p:nvPr/>
        </p:nvCxnSpPr>
        <p:spPr>
          <a:xfrm rot="10800000" flipH="1">
            <a:off x="6568133" y="7680733"/>
            <a:ext cx="3588800" cy="2140000"/>
          </a:xfrm>
          <a:prstGeom prst="straightConnector1">
            <a:avLst/>
          </a:prstGeom>
          <a:noFill/>
          <a:ln w="28575" cap="flat" cmpd="sng">
            <a:solidFill>
              <a:srgbClr val="FF0000"/>
            </a:solidFill>
            <a:prstDash val="solid"/>
            <a:round/>
            <a:headEnd type="none" w="med" len="med"/>
            <a:tailEnd type="triangle" w="med" len="med"/>
          </a:ln>
        </p:spPr>
      </p:cxnSp>
      <p:cxnSp>
        <p:nvCxnSpPr>
          <p:cNvPr id="95" name="Google Shape;95;p18"/>
          <p:cNvCxnSpPr/>
          <p:nvPr/>
        </p:nvCxnSpPr>
        <p:spPr>
          <a:xfrm flipH="1">
            <a:off x="15045667" y="6421267"/>
            <a:ext cx="2518400" cy="10280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graphicFrame>
        <p:nvGraphicFramePr>
          <p:cNvPr id="100" name="Google Shape;100;p19"/>
          <p:cNvGraphicFramePr/>
          <p:nvPr/>
        </p:nvGraphicFramePr>
        <p:xfrm>
          <a:off x="4531016" y="3056056"/>
          <a:ext cx="12582666" cy="3291762"/>
        </p:xfrm>
        <a:graphic>
          <a:graphicData uri="http://schemas.openxmlformats.org/drawingml/2006/table">
            <a:tbl>
              <a:tblPr>
                <a:noFill/>
              </a:tblPr>
              <a:tblGrid>
                <a:gridCol w="4613600">
                  <a:extLst>
                    <a:ext uri="{9D8B030D-6E8A-4147-A177-3AD203B41FA5}">
                      <a16:colId xmlns:a16="http://schemas.microsoft.com/office/drawing/2014/main" val="20000"/>
                    </a:ext>
                  </a:extLst>
                </a:gridCol>
                <a:gridCol w="3984533">
                  <a:extLst>
                    <a:ext uri="{9D8B030D-6E8A-4147-A177-3AD203B41FA5}">
                      <a16:colId xmlns:a16="http://schemas.microsoft.com/office/drawing/2014/main" val="20001"/>
                    </a:ext>
                  </a:extLst>
                </a:gridCol>
                <a:gridCol w="3984533">
                  <a:extLst>
                    <a:ext uri="{9D8B030D-6E8A-4147-A177-3AD203B41FA5}">
                      <a16:colId xmlns:a16="http://schemas.microsoft.com/office/drawing/2014/main" val="20002"/>
                    </a:ext>
                  </a:extLst>
                </a:gridCol>
              </a:tblGrid>
              <a:tr h="1097253">
                <a:tc>
                  <a:txBody>
                    <a:bodyPr/>
                    <a:lstStyle/>
                    <a:p>
                      <a:pPr marL="0" lvl="0" indent="0" algn="ctr" rtl="0">
                        <a:spcBef>
                          <a:spcPts val="0"/>
                        </a:spcBef>
                        <a:spcAft>
                          <a:spcPts val="0"/>
                        </a:spcAft>
                        <a:buNone/>
                      </a:pPr>
                      <a:endParaRPr sz="4800">
                        <a:latin typeface="Lato"/>
                        <a:ea typeface="Lato"/>
                        <a:cs typeface="Lato"/>
                        <a:sym typeface="Lato"/>
                      </a:endParaRPr>
                    </a:p>
                  </a:txBody>
                  <a:tcPr marL="243800" marR="243800" marT="182867" marB="182867">
                    <a:lnL w="19050" cap="flat" cmpd="sng">
                      <a:solidFill>
                        <a:srgbClr val="999999">
                          <a:alpha val="0"/>
                        </a:srgb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999999">
                          <a:alpha val="0"/>
                        </a:srgb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a:latin typeface="Lato"/>
                          <a:ea typeface="Lato"/>
                          <a:cs typeface="Lato"/>
                          <a:sym typeface="Lato"/>
                        </a:rPr>
                        <a:t>height</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a:latin typeface="Lato"/>
                          <a:ea typeface="Lato"/>
                          <a:cs typeface="Lato"/>
                          <a:sym typeface="Lato"/>
                        </a:rPr>
                        <a:t>weight</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97253">
                <a:tc>
                  <a:txBody>
                    <a:bodyPr/>
                    <a:lstStyle/>
                    <a:p>
                      <a:pPr marL="0" lvl="0" indent="0" algn="r" rtl="0">
                        <a:spcBef>
                          <a:spcPts val="0"/>
                        </a:spcBef>
                        <a:spcAft>
                          <a:spcPts val="0"/>
                        </a:spcAft>
                        <a:buNone/>
                      </a:pPr>
                      <a:r>
                        <a:rPr lang="en" sz="4800">
                          <a:latin typeface="Lato"/>
                          <a:ea typeface="Lato"/>
                          <a:cs typeface="Lato"/>
                          <a:sym typeface="Lato"/>
                        </a:rPr>
                        <a:t>Bob</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b="1">
                          <a:latin typeface="Courier New"/>
                          <a:ea typeface="Courier New"/>
                          <a:cs typeface="Courier New"/>
                          <a:sym typeface="Courier New"/>
                        </a:rPr>
                        <a:t>6</a:t>
                      </a:r>
                      <a:endParaRPr sz="4800" b="1">
                        <a:latin typeface="Courier New"/>
                        <a:ea typeface="Courier New"/>
                        <a:cs typeface="Courier New"/>
                        <a:sym typeface="Courier New"/>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b="1">
                          <a:latin typeface="Courier New"/>
                          <a:ea typeface="Courier New"/>
                          <a:cs typeface="Courier New"/>
                          <a:sym typeface="Courier New"/>
                        </a:rPr>
                        <a:t>200</a:t>
                      </a:r>
                      <a:endParaRPr sz="4800" b="1">
                        <a:latin typeface="Courier New"/>
                        <a:ea typeface="Courier New"/>
                        <a:cs typeface="Courier New"/>
                        <a:sym typeface="Courier New"/>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97253">
                <a:tc>
                  <a:txBody>
                    <a:bodyPr/>
                    <a:lstStyle/>
                    <a:p>
                      <a:pPr marL="0" lvl="0" indent="0" algn="r" rtl="0">
                        <a:spcBef>
                          <a:spcPts val="0"/>
                        </a:spcBef>
                        <a:spcAft>
                          <a:spcPts val="0"/>
                        </a:spcAft>
                        <a:buNone/>
                      </a:pPr>
                      <a:r>
                        <a:rPr lang="en" sz="4800">
                          <a:latin typeface="Lato"/>
                          <a:ea typeface="Lato"/>
                          <a:cs typeface="Lato"/>
                          <a:sym typeface="Lato"/>
                        </a:rPr>
                        <a:t>Maria</a:t>
                      </a:r>
                      <a:endParaRPr sz="4800">
                        <a:latin typeface="Lato"/>
                        <a:ea typeface="Lato"/>
                        <a:cs typeface="Lato"/>
                        <a:sym typeface="Lato"/>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b="1">
                          <a:latin typeface="Courier New"/>
                          <a:ea typeface="Courier New"/>
                          <a:cs typeface="Courier New"/>
                          <a:sym typeface="Courier New"/>
                        </a:rPr>
                        <a:t>5.5</a:t>
                      </a:r>
                      <a:endParaRPr sz="4800" b="1">
                        <a:latin typeface="Courier New"/>
                        <a:ea typeface="Courier New"/>
                        <a:cs typeface="Courier New"/>
                        <a:sym typeface="Courier New"/>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r" rtl="0">
                        <a:spcBef>
                          <a:spcPts val="0"/>
                        </a:spcBef>
                        <a:spcAft>
                          <a:spcPts val="0"/>
                        </a:spcAft>
                        <a:buNone/>
                      </a:pPr>
                      <a:r>
                        <a:rPr lang="en" sz="4800" b="1">
                          <a:latin typeface="Courier New"/>
                          <a:ea typeface="Courier New"/>
                          <a:cs typeface="Courier New"/>
                          <a:sym typeface="Courier New"/>
                        </a:rPr>
                        <a:t>130</a:t>
                      </a:r>
                      <a:endParaRPr sz="4800" b="1">
                        <a:latin typeface="Courier New"/>
                        <a:ea typeface="Courier New"/>
                        <a:cs typeface="Courier New"/>
                        <a:sym typeface="Courier New"/>
                      </a:endParaRPr>
                    </a:p>
                  </a:txBody>
                  <a:tcPr marL="243800" marR="243800" marT="182867" marB="182867">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1" name="Google Shape;101;p19"/>
          <p:cNvSpPr txBox="1"/>
          <p:nvPr/>
        </p:nvSpPr>
        <p:spPr>
          <a:xfrm>
            <a:off x="894400" y="6462267"/>
            <a:ext cx="20384000" cy="6287200"/>
          </a:xfrm>
          <a:prstGeom prst="rect">
            <a:avLst/>
          </a:prstGeom>
          <a:noFill/>
          <a:ln>
            <a:noFill/>
          </a:ln>
        </p:spPr>
        <p:txBody>
          <a:bodyPr spcFirstLastPara="1" wrap="square" lIns="243800" tIns="243800" rIns="243800" bIns="243800" anchor="t" anchorCtr="0">
            <a:noAutofit/>
          </a:bodyPr>
          <a:lstStyle/>
          <a:p>
            <a:pPr algn="l">
              <a:spcBef>
                <a:spcPts val="1600"/>
              </a:spcBef>
            </a:pPr>
            <a:r>
              <a:rPr lang="en" sz="6400">
                <a:solidFill>
                  <a:schemeClr val="dk1"/>
                </a:solidFill>
                <a:latin typeface="Lato"/>
                <a:ea typeface="Lato"/>
                <a:cs typeface="Lato"/>
                <a:sym typeface="Lato"/>
              </a:rPr>
              <a:t>So a table is actually a bunch of sentences, represented a  certain way:</a:t>
            </a:r>
            <a:endParaRPr sz="6400">
              <a:solidFill>
                <a:schemeClr val="dk1"/>
              </a:solidFill>
              <a:latin typeface="Lato"/>
              <a:ea typeface="Lato"/>
              <a:cs typeface="Lato"/>
              <a:sym typeface="Lato"/>
            </a:endParaRPr>
          </a:p>
          <a:p>
            <a:pPr indent="1219215" algn="l">
              <a:spcBef>
                <a:spcPts val="3200"/>
              </a:spcBef>
            </a:pPr>
            <a:r>
              <a:rPr lang="en" sz="4800">
                <a:solidFill>
                  <a:schemeClr val="dk1"/>
                </a:solidFill>
                <a:latin typeface="Libre Baskerville"/>
                <a:ea typeface="Libre Baskerville"/>
                <a:cs typeface="Libre Baskerville"/>
                <a:sym typeface="Libre Baskerville"/>
              </a:rPr>
              <a:t>“Bob 		has height 		6 feet.”</a:t>
            </a:r>
            <a:endParaRPr sz="4800">
              <a:solidFill>
                <a:schemeClr val="dk1"/>
              </a:solidFill>
              <a:latin typeface="Libre Baskerville"/>
              <a:ea typeface="Libre Baskerville"/>
              <a:cs typeface="Libre Baskerville"/>
              <a:sym typeface="Libre Baskerville"/>
            </a:endParaRPr>
          </a:p>
          <a:p>
            <a:pPr indent="1219215" algn="l">
              <a:spcBef>
                <a:spcPts val="1600"/>
              </a:spcBef>
            </a:pPr>
            <a:r>
              <a:rPr lang="en" sz="4800">
                <a:solidFill>
                  <a:schemeClr val="dk1"/>
                </a:solidFill>
                <a:latin typeface="Libre Baskerville"/>
                <a:ea typeface="Libre Baskerville"/>
                <a:cs typeface="Libre Baskerville"/>
                <a:sym typeface="Libre Baskerville"/>
              </a:rPr>
              <a:t>“Bob 		has weight 		200 pounds.”</a:t>
            </a:r>
            <a:endParaRPr sz="4800">
              <a:solidFill>
                <a:schemeClr val="dk1"/>
              </a:solidFill>
              <a:latin typeface="Libre Baskerville"/>
              <a:ea typeface="Libre Baskerville"/>
              <a:cs typeface="Libre Baskerville"/>
              <a:sym typeface="Libre Baskerville"/>
            </a:endParaRPr>
          </a:p>
          <a:p>
            <a:pPr indent="1219215" algn="l">
              <a:spcBef>
                <a:spcPts val="1600"/>
              </a:spcBef>
            </a:pPr>
            <a:r>
              <a:rPr lang="en" sz="4800">
                <a:solidFill>
                  <a:schemeClr val="dk1"/>
                </a:solidFill>
                <a:latin typeface="Libre Baskerville"/>
                <a:ea typeface="Libre Baskerville"/>
                <a:cs typeface="Libre Baskerville"/>
                <a:sym typeface="Libre Baskerville"/>
              </a:rPr>
              <a:t>“Maria 		has height 		5.5 feet.”</a:t>
            </a:r>
            <a:endParaRPr sz="4800">
              <a:solidFill>
                <a:schemeClr val="dk1"/>
              </a:solidFill>
              <a:latin typeface="Libre Baskerville"/>
              <a:ea typeface="Libre Baskerville"/>
              <a:cs typeface="Libre Baskerville"/>
              <a:sym typeface="Libre Baskerville"/>
            </a:endParaRPr>
          </a:p>
          <a:p>
            <a:pPr indent="1219215" algn="l">
              <a:spcBef>
                <a:spcPts val="1600"/>
              </a:spcBef>
              <a:spcAft>
                <a:spcPts val="1600"/>
              </a:spcAft>
            </a:pPr>
            <a:r>
              <a:rPr lang="en" sz="4800">
                <a:solidFill>
                  <a:schemeClr val="dk1"/>
                </a:solidFill>
                <a:latin typeface="Libre Baskerville"/>
                <a:ea typeface="Libre Baskerville"/>
                <a:cs typeface="Libre Baskerville"/>
                <a:sym typeface="Libre Baskerville"/>
              </a:rPr>
              <a:t>“Maria 		has weight 		130 pounds.”</a:t>
            </a:r>
            <a:endParaRPr sz="4800">
              <a:solidFill>
                <a:schemeClr val="dk1"/>
              </a:solidFill>
              <a:latin typeface="Libre Baskerville"/>
              <a:ea typeface="Libre Baskerville"/>
              <a:cs typeface="Libre Baskerville"/>
              <a:sym typeface="Libre Baskerville"/>
            </a:endParaRPr>
          </a:p>
        </p:txBody>
      </p:sp>
      <p:sp>
        <p:nvSpPr>
          <p:cNvPr id="102" name="Google Shape;102;p19"/>
          <p:cNvSpPr txBox="1"/>
          <p:nvPr/>
        </p:nvSpPr>
        <p:spPr>
          <a:xfrm>
            <a:off x="770400" y="852252"/>
            <a:ext cx="20884000" cy="2016600"/>
          </a:xfrm>
          <a:prstGeom prst="rect">
            <a:avLst/>
          </a:prstGeom>
          <a:noFill/>
          <a:ln>
            <a:noFill/>
          </a:ln>
        </p:spPr>
        <p:txBody>
          <a:bodyPr spcFirstLastPara="1" wrap="square" lIns="243800" tIns="243800" rIns="243800" bIns="243800" anchor="ctr" anchorCtr="0">
            <a:noAutofit/>
          </a:bodyPr>
          <a:lstStyle/>
          <a:p>
            <a:pPr algn="l"/>
            <a:r>
              <a:rPr lang="en" sz="6400">
                <a:solidFill>
                  <a:schemeClr val="dk1"/>
                </a:solidFill>
                <a:latin typeface="Lato"/>
                <a:ea typeface="Lato"/>
                <a:cs typeface="Lato"/>
                <a:sym typeface="Lato"/>
              </a:rPr>
              <a:t>When we combine data units we get a table </a:t>
            </a:r>
            <a:endParaRPr sz="6400">
              <a:solidFill>
                <a:schemeClr val="dk1"/>
              </a:solidFill>
              <a:latin typeface="Lato"/>
              <a:ea typeface="Lato"/>
              <a:cs typeface="Lato"/>
              <a:sym typeface="Lato"/>
            </a:endParaRPr>
          </a:p>
        </p:txBody>
      </p:sp>
      <p:sp>
        <p:nvSpPr>
          <p:cNvPr id="2" name="TextBox 1">
            <a:extLst>
              <a:ext uri="{FF2B5EF4-FFF2-40B4-BE49-F238E27FC236}">
                <a16:creationId xmlns:a16="http://schemas.microsoft.com/office/drawing/2014/main" id="{F411F9CE-6A51-E8F0-1E26-E0085D6575DA}"/>
              </a:ext>
            </a:extLst>
          </p:cNvPr>
          <p:cNvSpPr txBox="1"/>
          <p:nvPr/>
        </p:nvSpPr>
        <p:spPr>
          <a:xfrm>
            <a:off x="2002764" y="12885959"/>
            <a:ext cx="261770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chemeClr val="accent6"/>
                </a:solidFill>
                <a:effectLst/>
                <a:uFillTx/>
                <a:latin typeface="+mn-lt"/>
                <a:ea typeface="+mn-ea"/>
                <a:cs typeface="+mn-cs"/>
                <a:sym typeface="Helvetica Neue"/>
              </a:rPr>
              <a:t>Subject/Item</a:t>
            </a:r>
          </a:p>
        </p:txBody>
      </p:sp>
      <p:sp>
        <p:nvSpPr>
          <p:cNvPr id="3" name="TextBox 2">
            <a:extLst>
              <a:ext uri="{FF2B5EF4-FFF2-40B4-BE49-F238E27FC236}">
                <a16:creationId xmlns:a16="http://schemas.microsoft.com/office/drawing/2014/main" id="{B60EA892-98EB-5AAD-1782-61C9DB61BA47}"/>
              </a:ext>
            </a:extLst>
          </p:cNvPr>
          <p:cNvSpPr txBox="1"/>
          <p:nvPr/>
        </p:nvSpPr>
        <p:spPr>
          <a:xfrm>
            <a:off x="7823553" y="12885959"/>
            <a:ext cx="456855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chemeClr val="accent3"/>
                </a:solidFill>
                <a:effectLst/>
                <a:uFillTx/>
                <a:latin typeface="+mn-lt"/>
                <a:ea typeface="+mn-ea"/>
                <a:cs typeface="+mn-cs"/>
                <a:sym typeface="Helvetica Neue"/>
              </a:rPr>
              <a:t>Predicate/Relationship</a:t>
            </a:r>
          </a:p>
        </p:txBody>
      </p:sp>
      <p:sp>
        <p:nvSpPr>
          <p:cNvPr id="4" name="TextBox 3">
            <a:extLst>
              <a:ext uri="{FF2B5EF4-FFF2-40B4-BE49-F238E27FC236}">
                <a16:creationId xmlns:a16="http://schemas.microsoft.com/office/drawing/2014/main" id="{760B77CF-EE35-B2A4-68E1-60E1F7ABEA9E}"/>
              </a:ext>
            </a:extLst>
          </p:cNvPr>
          <p:cNvSpPr txBox="1"/>
          <p:nvPr/>
        </p:nvSpPr>
        <p:spPr>
          <a:xfrm>
            <a:off x="16063824" y="12885959"/>
            <a:ext cx="3262111"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chemeClr val="accent1"/>
                </a:solidFill>
                <a:effectLst/>
                <a:uFillTx/>
                <a:latin typeface="+mn-lt"/>
                <a:ea typeface="+mn-ea"/>
                <a:cs typeface="+mn-cs"/>
                <a:sym typeface="Helvetica Neue"/>
              </a:rPr>
              <a:t>Object/Attribute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831200" y="5123333"/>
            <a:ext cx="22721600" cy="1527200"/>
          </a:xfrm>
          <a:prstGeom prst="rect">
            <a:avLst/>
          </a:prstGeom>
        </p:spPr>
        <p:txBody>
          <a:bodyPr spcFirstLastPara="1" wrap="square" lIns="243800" tIns="243800" rIns="243800" bIns="243800" anchor="ctr" anchorCtr="0">
            <a:normAutofit fontScale="90000"/>
          </a:bodyPr>
          <a:lstStyle/>
          <a:p>
            <a:r>
              <a:rPr lang="en"/>
              <a:t>We can think of this as a basic form of visualization</a:t>
            </a:r>
            <a:endParaRPr/>
          </a:p>
          <a:p>
            <a:endParaRPr/>
          </a:p>
          <a:p>
            <a:r>
              <a:rPr lang="en"/>
              <a:t>Sentences → Table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3FED94-45FA-4FE4-E5B0-6CA280DAF62A}"/>
              </a:ext>
            </a:extLst>
          </p:cNvPr>
          <p:cNvPicPr>
            <a:picLocks noChangeAspect="1"/>
          </p:cNvPicPr>
          <p:nvPr/>
        </p:nvPicPr>
        <p:blipFill>
          <a:blip r:embed="rId3"/>
          <a:stretch>
            <a:fillRect/>
          </a:stretch>
        </p:blipFill>
        <p:spPr>
          <a:xfrm>
            <a:off x="246839" y="982888"/>
            <a:ext cx="23890321" cy="11750223"/>
          </a:xfrm>
          <a:prstGeom prst="rect">
            <a:avLst/>
          </a:prstGeom>
        </p:spPr>
      </p:pic>
    </p:spTree>
    <p:extLst>
      <p:ext uri="{BB962C8B-B14F-4D97-AF65-F5344CB8AC3E}">
        <p14:creationId xmlns:p14="http://schemas.microsoft.com/office/powerpoint/2010/main" val="344975926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190EC-FB9C-6877-8631-B33C8F097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F57C1-C9A2-E45B-AD08-8F31C01D399E}"/>
              </a:ext>
            </a:extLst>
          </p:cNvPr>
          <p:cNvSpPr>
            <a:spLocks noGrp="1"/>
          </p:cNvSpPr>
          <p:nvPr>
            <p:ph type="title"/>
          </p:nvPr>
        </p:nvSpPr>
        <p:spPr/>
        <p:txBody>
          <a:bodyPr/>
          <a:lstStyle/>
          <a:p>
            <a:r>
              <a:rPr lang="en-US" dirty="0"/>
              <a:t>Dataset Types</a:t>
            </a:r>
          </a:p>
        </p:txBody>
      </p:sp>
      <p:sp>
        <p:nvSpPr>
          <p:cNvPr id="3" name="Text Placeholder 2">
            <a:extLst>
              <a:ext uri="{FF2B5EF4-FFF2-40B4-BE49-F238E27FC236}">
                <a16:creationId xmlns:a16="http://schemas.microsoft.com/office/drawing/2014/main" id="{51C43829-9965-197C-8A2F-39455011AE75}"/>
              </a:ext>
            </a:extLst>
          </p:cNvPr>
          <p:cNvSpPr>
            <a:spLocks noGrp="1"/>
          </p:cNvSpPr>
          <p:nvPr>
            <p:ph type="body" sz="quarter" idx="21"/>
          </p:nvPr>
        </p:nvSpPr>
        <p:spPr/>
        <p:txBody>
          <a:bodyPr/>
          <a:lstStyle/>
          <a:p>
            <a:endParaRPr lang="en-US"/>
          </a:p>
        </p:txBody>
      </p:sp>
      <p:sp>
        <p:nvSpPr>
          <p:cNvPr id="4" name="Text Placeholder 3">
            <a:extLst>
              <a:ext uri="{FF2B5EF4-FFF2-40B4-BE49-F238E27FC236}">
                <a16:creationId xmlns:a16="http://schemas.microsoft.com/office/drawing/2014/main" id="{171454BC-67CF-3F84-6BD5-9F3DEE94230C}"/>
              </a:ext>
            </a:extLst>
          </p:cNvPr>
          <p:cNvSpPr>
            <a:spLocks noGrp="1"/>
          </p:cNvSpPr>
          <p:nvPr>
            <p:ph type="body" idx="1"/>
          </p:nvPr>
        </p:nvSpPr>
        <p:spPr/>
        <p:txBody>
          <a:bodyPr/>
          <a:lstStyle/>
          <a:p>
            <a:pPr marL="685800" lvl="0" indent="-685800" fontAlgn="base">
              <a:buFont typeface="Arial" panose="020B0604020202020204" pitchFamily="34" charset="0"/>
              <a:buChar char="•"/>
            </a:pPr>
            <a:r>
              <a:rPr lang="en-US" dirty="0">
                <a:solidFill>
                  <a:schemeClr val="tx2">
                    <a:lumMod val="60000"/>
                    <a:lumOff val="40000"/>
                  </a:schemeClr>
                </a:solidFill>
              </a:rPr>
              <a:t>Multivariate Data: Items and Attributes</a:t>
            </a:r>
          </a:p>
          <a:p>
            <a:pPr marL="685800" indent="-685800">
              <a:buFont typeface="Arial" panose="020B0604020202020204" pitchFamily="34" charset="0"/>
              <a:buChar char="•"/>
            </a:pPr>
            <a:r>
              <a:rPr lang="en-US" b="1" dirty="0">
                <a:solidFill>
                  <a:schemeClr val="bg2">
                    <a:lumMod val="10000"/>
                  </a:schemeClr>
                </a:solidFill>
              </a:rPr>
              <a:t>Networks &amp; Trees: Items, Attributes, and Relationships </a:t>
            </a:r>
          </a:p>
        </p:txBody>
      </p:sp>
    </p:spTree>
    <p:extLst>
      <p:ext uri="{BB962C8B-B14F-4D97-AF65-F5344CB8AC3E}">
        <p14:creationId xmlns:p14="http://schemas.microsoft.com/office/powerpoint/2010/main" val="90274293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A90882BC-F712-7A8B-2EAF-2B5F7C7737FD}"/>
            </a:ext>
          </a:extLst>
        </p:cNvPr>
        <p:cNvGrpSpPr/>
        <p:nvPr/>
      </p:nvGrpSpPr>
      <p:grpSpPr>
        <a:xfrm>
          <a:off x="0" y="0"/>
          <a:ext cx="0" cy="0"/>
          <a:chOff x="0" y="0"/>
          <a:chExt cx="0" cy="0"/>
        </a:xfrm>
      </p:grpSpPr>
      <p:sp>
        <p:nvSpPr>
          <p:cNvPr id="69" name="Google Shape;69;p15">
            <a:extLst>
              <a:ext uri="{FF2B5EF4-FFF2-40B4-BE49-F238E27FC236}">
                <a16:creationId xmlns:a16="http://schemas.microsoft.com/office/drawing/2014/main" id="{FC0E7BAB-D9BB-BF99-3FB2-EE12FB9532EE}"/>
              </a:ext>
            </a:extLst>
          </p:cNvPr>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Autofit/>
          </a:bodyPr>
          <a:lstStyle/>
          <a:p>
            <a:pPr>
              <a:buClr>
                <a:schemeClr val="dk1"/>
              </a:buClr>
              <a:buSzPct val="39286"/>
            </a:pPr>
            <a:r>
              <a:rPr lang="en" sz="6600" dirty="0"/>
              <a:t>Semantic Triples for relationships: networks and trees</a:t>
            </a:r>
            <a:endParaRPr sz="6600" dirty="0"/>
          </a:p>
          <a:p>
            <a:endParaRPr sz="9600" dirty="0"/>
          </a:p>
        </p:txBody>
      </p:sp>
      <p:sp>
        <p:nvSpPr>
          <p:cNvPr id="70" name="Google Shape;70;p15">
            <a:extLst>
              <a:ext uri="{FF2B5EF4-FFF2-40B4-BE49-F238E27FC236}">
                <a16:creationId xmlns:a16="http://schemas.microsoft.com/office/drawing/2014/main" id="{74B493E4-4537-4F03-8D38-842CF18DA49B}"/>
              </a:ext>
            </a:extLst>
          </p:cNvPr>
          <p:cNvSpPr txBox="1">
            <a:spLocks noGrp="1"/>
          </p:cNvSpPr>
          <p:nvPr>
            <p:ph type="body" idx="1"/>
          </p:nvPr>
        </p:nvSpPr>
        <p:spPr>
          <a:xfrm>
            <a:off x="597333" y="2421267"/>
            <a:ext cx="22806400" cy="10431200"/>
          </a:xfrm>
          <a:prstGeom prst="rect">
            <a:avLst/>
          </a:prstGeom>
        </p:spPr>
        <p:txBody>
          <a:bodyPr spcFirstLastPara="1" wrap="square" lIns="243800" tIns="243800" rIns="243800" bIns="243800" anchor="t" anchorCtr="0">
            <a:noAutofit/>
          </a:bodyPr>
          <a:lstStyle/>
          <a:p>
            <a:pPr rtl="0">
              <a:lnSpc>
                <a:spcPct val="80000"/>
              </a:lnSpc>
              <a:spcBef>
                <a:spcPts val="3200"/>
              </a:spcBef>
              <a:buClr>
                <a:schemeClr val="dk1"/>
              </a:buClr>
              <a:buSzPts val="1018"/>
            </a:pPr>
            <a:r>
              <a:rPr lang="en" sz="5715" dirty="0"/>
              <a:t>In the form of a </a:t>
            </a:r>
            <a:r>
              <a:rPr lang="en" sz="5715" b="1" dirty="0"/>
              <a:t>subject-predicate-object</a:t>
            </a:r>
            <a:r>
              <a:rPr lang="en" sz="5715" dirty="0"/>
              <a:t> (SPO) expression</a:t>
            </a:r>
            <a:endParaRPr sz="5715" dirty="0"/>
          </a:p>
          <a:p>
            <a:pPr marL="1219215" rtl="0">
              <a:lnSpc>
                <a:spcPct val="80000"/>
              </a:lnSpc>
              <a:spcBef>
                <a:spcPts val="3200"/>
              </a:spcBef>
              <a:buClr>
                <a:schemeClr val="dk1"/>
              </a:buClr>
              <a:buSzPts val="1018"/>
            </a:pPr>
            <a:r>
              <a:rPr lang="en" sz="5715" b="1" dirty="0">
                <a:solidFill>
                  <a:schemeClr val="accent6"/>
                </a:solidFill>
              </a:rPr>
              <a:t>Subject</a:t>
            </a:r>
            <a:r>
              <a:rPr lang="en" sz="5715" dirty="0"/>
              <a:t>: An entity or resource that the statement is </a:t>
            </a:r>
            <a:r>
              <a:rPr lang="en" sz="5715" b="1" dirty="0"/>
              <a:t>about</a:t>
            </a:r>
            <a:r>
              <a:rPr lang="en" sz="5715" dirty="0"/>
              <a:t> (e.g., "Bob").</a:t>
            </a:r>
            <a:endParaRPr sz="5715" dirty="0"/>
          </a:p>
          <a:p>
            <a:pPr marL="1219215" rtl="0">
              <a:lnSpc>
                <a:spcPct val="80000"/>
              </a:lnSpc>
              <a:spcBef>
                <a:spcPts val="3200"/>
              </a:spcBef>
              <a:buClr>
                <a:schemeClr val="dk1"/>
              </a:buClr>
              <a:buSzPts val="1018"/>
            </a:pPr>
            <a:r>
              <a:rPr lang="en" sz="5715" b="1" dirty="0">
                <a:solidFill>
                  <a:schemeClr val="accent3"/>
                </a:solidFill>
              </a:rPr>
              <a:t>Predicate</a:t>
            </a:r>
            <a:r>
              <a:rPr lang="en" sz="5715" dirty="0"/>
              <a:t>: The property or relationship </a:t>
            </a:r>
            <a:r>
              <a:rPr lang="en" sz="5715" b="1" dirty="0">
                <a:solidFill>
                  <a:schemeClr val="accent3"/>
                </a:solidFill>
              </a:rPr>
              <a:t>linking</a:t>
            </a:r>
            <a:r>
              <a:rPr lang="en" sz="5715" dirty="0"/>
              <a:t> the subject and object (e.g., “is the parent of").</a:t>
            </a:r>
            <a:endParaRPr sz="5715" dirty="0"/>
          </a:p>
          <a:p>
            <a:pPr marL="1219215" rtl="0">
              <a:lnSpc>
                <a:spcPct val="80000"/>
              </a:lnSpc>
              <a:spcBef>
                <a:spcPts val="3200"/>
              </a:spcBef>
              <a:spcAft>
                <a:spcPts val="3200"/>
              </a:spcAft>
              <a:buSzPts val="1018"/>
            </a:pPr>
            <a:r>
              <a:rPr lang="en" sz="5715" b="1" dirty="0">
                <a:solidFill>
                  <a:schemeClr val="accent1"/>
                </a:solidFill>
              </a:rPr>
              <a:t>Object</a:t>
            </a:r>
            <a:r>
              <a:rPr lang="en" sz="5715" dirty="0"/>
              <a:t>: The </a:t>
            </a:r>
            <a:r>
              <a:rPr lang="en" sz="5715" b="1" dirty="0"/>
              <a:t>related entity </a:t>
            </a:r>
            <a:r>
              <a:rPr lang="en" sz="5715" dirty="0"/>
              <a:t>(e.g., “Charlie"). </a:t>
            </a:r>
          </a:p>
          <a:p>
            <a:pPr marL="1219215" rtl="0">
              <a:lnSpc>
                <a:spcPct val="80000"/>
              </a:lnSpc>
              <a:spcBef>
                <a:spcPts val="3200"/>
              </a:spcBef>
              <a:spcAft>
                <a:spcPts val="3200"/>
              </a:spcAft>
              <a:buSzPts val="1018"/>
            </a:pPr>
            <a:r>
              <a:rPr lang="en" sz="5715" dirty="0"/>
              <a:t>For network or tree data, the link is usually a </a:t>
            </a:r>
            <a:r>
              <a:rPr lang="en" sz="5715" i="1" dirty="0"/>
              <a:t>relationship</a:t>
            </a:r>
          </a:p>
        </p:txBody>
      </p:sp>
    </p:spTree>
    <p:extLst>
      <p:ext uri="{BB962C8B-B14F-4D97-AF65-F5344CB8AC3E}">
        <p14:creationId xmlns:p14="http://schemas.microsoft.com/office/powerpoint/2010/main" val="8155659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9FFD-060B-C390-F49C-05AB86B6FDA9}"/>
            </a:ext>
          </a:extLst>
        </p:cNvPr>
        <p:cNvGrpSpPr/>
        <p:nvPr/>
      </p:nvGrpSpPr>
      <p:grpSpPr>
        <a:xfrm>
          <a:off x="0" y="0"/>
          <a:ext cx="0" cy="0"/>
          <a:chOff x="0" y="0"/>
          <a:chExt cx="0" cy="0"/>
        </a:xfrm>
      </p:grpSpPr>
      <p:pic>
        <p:nvPicPr>
          <p:cNvPr id="64" name="Picture 63" descr="Think Bubble Svg, Thought Bubble Cut File, Thinking Cloud Png">
            <a:extLst>
              <a:ext uri="{FF2B5EF4-FFF2-40B4-BE49-F238E27FC236}">
                <a16:creationId xmlns:a16="http://schemas.microsoft.com/office/drawing/2014/main" id="{25B6ADD2-7547-F887-69A7-9910A46E61BB}"/>
              </a:ext>
            </a:extLst>
          </p:cNvPr>
          <p:cNvPicPr>
            <a:picLocks noChangeAspect="1"/>
          </p:cNvPicPr>
          <p:nvPr/>
        </p:nvPicPr>
        <p:blipFill>
          <a:blip r:embed="rId3"/>
          <a:stretch>
            <a:fillRect/>
          </a:stretch>
        </p:blipFill>
        <p:spPr>
          <a:xfrm>
            <a:off x="16581183" y="89822"/>
            <a:ext cx="7772400" cy="6238646"/>
          </a:xfrm>
          <a:prstGeom prst="rect">
            <a:avLst/>
          </a:prstGeom>
        </p:spPr>
      </p:pic>
      <p:grpSp>
        <p:nvGrpSpPr>
          <p:cNvPr id="2" name="Group 1">
            <a:extLst>
              <a:ext uri="{FF2B5EF4-FFF2-40B4-BE49-F238E27FC236}">
                <a16:creationId xmlns:a16="http://schemas.microsoft.com/office/drawing/2014/main" id="{6FFF8576-602E-E6F1-39B6-F29938C306EA}"/>
              </a:ext>
            </a:extLst>
          </p:cNvPr>
          <p:cNvGrpSpPr>
            <a:grpSpLocks noChangeAspect="1"/>
          </p:cNvGrpSpPr>
          <p:nvPr/>
        </p:nvGrpSpPr>
        <p:grpSpPr>
          <a:xfrm>
            <a:off x="2404149" y="4518544"/>
            <a:ext cx="18202497" cy="4678911"/>
            <a:chOff x="0" y="0"/>
            <a:chExt cx="9347941" cy="2403359"/>
          </a:xfrm>
        </p:grpSpPr>
        <p:sp>
          <p:nvSpPr>
            <p:cNvPr id="3" name="Shape 32666">
              <a:extLst>
                <a:ext uri="{FF2B5EF4-FFF2-40B4-BE49-F238E27FC236}">
                  <a16:creationId xmlns:a16="http://schemas.microsoft.com/office/drawing/2014/main" id="{DCB2E071-A45D-FDE3-6EF4-FD4FD432593F}"/>
                </a:ext>
              </a:extLst>
            </p:cNvPr>
            <p:cNvSpPr/>
            <p:nvPr/>
          </p:nvSpPr>
          <p:spPr>
            <a:xfrm>
              <a:off x="928136" y="464887"/>
              <a:ext cx="1327130" cy="370840"/>
            </a:xfrm>
            <a:custGeom>
              <a:avLst/>
              <a:gdLst/>
              <a:ahLst/>
              <a:cxnLst/>
              <a:rect l="0" t="0" r="0" b="0"/>
              <a:pathLst>
                <a:path w="1327130" h="370840">
                  <a:moveTo>
                    <a:pt x="0" y="0"/>
                  </a:moveTo>
                  <a:lnTo>
                    <a:pt x="1327130" y="0"/>
                  </a:lnTo>
                  <a:lnTo>
                    <a:pt x="1327130"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4" name="Shape 32667">
              <a:extLst>
                <a:ext uri="{FF2B5EF4-FFF2-40B4-BE49-F238E27FC236}">
                  <a16:creationId xmlns:a16="http://schemas.microsoft.com/office/drawing/2014/main" id="{FBEEB729-BA30-2A7B-5AC9-EF77E0D9ED8B}"/>
                </a:ext>
              </a:extLst>
            </p:cNvPr>
            <p:cNvSpPr/>
            <p:nvPr/>
          </p:nvSpPr>
          <p:spPr>
            <a:xfrm>
              <a:off x="2255266" y="464887"/>
              <a:ext cx="1836648" cy="370840"/>
            </a:xfrm>
            <a:custGeom>
              <a:avLst/>
              <a:gdLst/>
              <a:ahLst/>
              <a:cxnLst/>
              <a:rect l="0" t="0" r="0" b="0"/>
              <a:pathLst>
                <a:path w="1836648" h="370840">
                  <a:moveTo>
                    <a:pt x="0" y="0"/>
                  </a:moveTo>
                  <a:lnTo>
                    <a:pt x="1836648" y="0"/>
                  </a:lnTo>
                  <a:lnTo>
                    <a:pt x="1836648"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6" name="Shape 32668">
              <a:extLst>
                <a:ext uri="{FF2B5EF4-FFF2-40B4-BE49-F238E27FC236}">
                  <a16:creationId xmlns:a16="http://schemas.microsoft.com/office/drawing/2014/main" id="{8CA877BA-5381-3B30-6E89-ED3F3F6EEDA8}"/>
                </a:ext>
              </a:extLst>
            </p:cNvPr>
            <p:cNvSpPr/>
            <p:nvPr/>
          </p:nvSpPr>
          <p:spPr>
            <a:xfrm>
              <a:off x="4091913" y="464887"/>
              <a:ext cx="2491563" cy="370840"/>
            </a:xfrm>
            <a:custGeom>
              <a:avLst/>
              <a:gdLst/>
              <a:ahLst/>
              <a:cxnLst/>
              <a:rect l="0" t="0" r="0" b="0"/>
              <a:pathLst>
                <a:path w="2491563" h="370840">
                  <a:moveTo>
                    <a:pt x="0" y="0"/>
                  </a:moveTo>
                  <a:lnTo>
                    <a:pt x="2491563" y="0"/>
                  </a:lnTo>
                  <a:lnTo>
                    <a:pt x="2491563"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7" name="Shape 32669">
              <a:extLst>
                <a:ext uri="{FF2B5EF4-FFF2-40B4-BE49-F238E27FC236}">
                  <a16:creationId xmlns:a16="http://schemas.microsoft.com/office/drawing/2014/main" id="{56C35F12-D520-1B81-FE53-B25BF2C9FB72}"/>
                </a:ext>
              </a:extLst>
            </p:cNvPr>
            <p:cNvSpPr/>
            <p:nvPr/>
          </p:nvSpPr>
          <p:spPr>
            <a:xfrm>
              <a:off x="6583477" y="464887"/>
              <a:ext cx="1395558" cy="370840"/>
            </a:xfrm>
            <a:custGeom>
              <a:avLst/>
              <a:gdLst/>
              <a:ahLst/>
              <a:cxnLst/>
              <a:rect l="0" t="0" r="0" b="0"/>
              <a:pathLst>
                <a:path w="1395558" h="370840">
                  <a:moveTo>
                    <a:pt x="0" y="0"/>
                  </a:moveTo>
                  <a:lnTo>
                    <a:pt x="1395558" y="0"/>
                  </a:lnTo>
                  <a:lnTo>
                    <a:pt x="1395558"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8" name="Shape 32670">
              <a:extLst>
                <a:ext uri="{FF2B5EF4-FFF2-40B4-BE49-F238E27FC236}">
                  <a16:creationId xmlns:a16="http://schemas.microsoft.com/office/drawing/2014/main" id="{3FA71AF4-988F-66A5-1B78-202D7BA656C7}"/>
                </a:ext>
              </a:extLst>
            </p:cNvPr>
            <p:cNvSpPr/>
            <p:nvPr/>
          </p:nvSpPr>
          <p:spPr>
            <a:xfrm>
              <a:off x="7979034" y="464887"/>
              <a:ext cx="1188153" cy="370840"/>
            </a:xfrm>
            <a:custGeom>
              <a:avLst/>
              <a:gdLst/>
              <a:ahLst/>
              <a:cxnLst/>
              <a:rect l="0" t="0" r="0" b="0"/>
              <a:pathLst>
                <a:path w="1188153" h="370840">
                  <a:moveTo>
                    <a:pt x="0" y="0"/>
                  </a:moveTo>
                  <a:lnTo>
                    <a:pt x="1188153" y="0"/>
                  </a:lnTo>
                  <a:lnTo>
                    <a:pt x="1188153"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9" name="Shape 180">
              <a:extLst>
                <a:ext uri="{FF2B5EF4-FFF2-40B4-BE49-F238E27FC236}">
                  <a16:creationId xmlns:a16="http://schemas.microsoft.com/office/drawing/2014/main" id="{D032E13D-2E3B-EF38-ED2F-E312A2D9ADA0}"/>
                </a:ext>
              </a:extLst>
            </p:cNvPr>
            <p:cNvSpPr/>
            <p:nvPr/>
          </p:nvSpPr>
          <p:spPr>
            <a:xfrm>
              <a:off x="2255266"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0" name="Shape 181">
              <a:extLst>
                <a:ext uri="{FF2B5EF4-FFF2-40B4-BE49-F238E27FC236}">
                  <a16:creationId xmlns:a16="http://schemas.microsoft.com/office/drawing/2014/main" id="{A8C7FD69-96E4-579B-747D-364FF1C69CA8}"/>
                </a:ext>
              </a:extLst>
            </p:cNvPr>
            <p:cNvSpPr/>
            <p:nvPr/>
          </p:nvSpPr>
          <p:spPr>
            <a:xfrm>
              <a:off x="4091913"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1" name="Shape 182">
              <a:extLst>
                <a:ext uri="{FF2B5EF4-FFF2-40B4-BE49-F238E27FC236}">
                  <a16:creationId xmlns:a16="http://schemas.microsoft.com/office/drawing/2014/main" id="{E3CFED6F-BCB5-E8DC-FBD5-F16626F91094}"/>
                </a:ext>
              </a:extLst>
            </p:cNvPr>
            <p:cNvSpPr/>
            <p:nvPr/>
          </p:nvSpPr>
          <p:spPr>
            <a:xfrm>
              <a:off x="6583477"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2" name="Shape 183">
              <a:extLst>
                <a:ext uri="{FF2B5EF4-FFF2-40B4-BE49-F238E27FC236}">
                  <a16:creationId xmlns:a16="http://schemas.microsoft.com/office/drawing/2014/main" id="{55158EC6-3FDA-535F-A4E2-7F46CF066B0C}"/>
                </a:ext>
              </a:extLst>
            </p:cNvPr>
            <p:cNvSpPr/>
            <p:nvPr/>
          </p:nvSpPr>
          <p:spPr>
            <a:xfrm>
              <a:off x="7979035"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3" name="Shape 184">
              <a:extLst>
                <a:ext uri="{FF2B5EF4-FFF2-40B4-BE49-F238E27FC236}">
                  <a16:creationId xmlns:a16="http://schemas.microsoft.com/office/drawing/2014/main" id="{8975B012-4AC2-3F26-B6F3-51DC428CC949}"/>
                </a:ext>
              </a:extLst>
            </p:cNvPr>
            <p:cNvSpPr/>
            <p:nvPr/>
          </p:nvSpPr>
          <p:spPr>
            <a:xfrm>
              <a:off x="921786" y="83572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4" name="Shape 185">
              <a:extLst>
                <a:ext uri="{FF2B5EF4-FFF2-40B4-BE49-F238E27FC236}">
                  <a16:creationId xmlns:a16="http://schemas.microsoft.com/office/drawing/2014/main" id="{F6516F22-3F01-CE3F-08C7-ECF3D73D1F66}"/>
                </a:ext>
              </a:extLst>
            </p:cNvPr>
            <p:cNvSpPr/>
            <p:nvPr/>
          </p:nvSpPr>
          <p:spPr>
            <a:xfrm>
              <a:off x="921786" y="120656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5" name="Shape 186">
              <a:extLst>
                <a:ext uri="{FF2B5EF4-FFF2-40B4-BE49-F238E27FC236}">
                  <a16:creationId xmlns:a16="http://schemas.microsoft.com/office/drawing/2014/main" id="{B8FC8669-B15F-8E95-DC78-7DA05308DE3B}"/>
                </a:ext>
              </a:extLst>
            </p:cNvPr>
            <p:cNvSpPr/>
            <p:nvPr/>
          </p:nvSpPr>
          <p:spPr>
            <a:xfrm>
              <a:off x="921786" y="157740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6" name="Shape 187">
              <a:extLst>
                <a:ext uri="{FF2B5EF4-FFF2-40B4-BE49-F238E27FC236}">
                  <a16:creationId xmlns:a16="http://schemas.microsoft.com/office/drawing/2014/main" id="{F4C33BA3-25C6-1C76-182D-7BEDE8A2B318}"/>
                </a:ext>
              </a:extLst>
            </p:cNvPr>
            <p:cNvSpPr/>
            <p:nvPr/>
          </p:nvSpPr>
          <p:spPr>
            <a:xfrm>
              <a:off x="921786" y="194824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7" name="Shape 188">
              <a:extLst>
                <a:ext uri="{FF2B5EF4-FFF2-40B4-BE49-F238E27FC236}">
                  <a16:creationId xmlns:a16="http://schemas.microsoft.com/office/drawing/2014/main" id="{FB5C7809-6043-E11C-051B-9B7DA0358A9F}"/>
                </a:ext>
              </a:extLst>
            </p:cNvPr>
            <p:cNvSpPr/>
            <p:nvPr/>
          </p:nvSpPr>
          <p:spPr>
            <a:xfrm>
              <a:off x="928136"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8" name="Shape 189">
              <a:extLst>
                <a:ext uri="{FF2B5EF4-FFF2-40B4-BE49-F238E27FC236}">
                  <a16:creationId xmlns:a16="http://schemas.microsoft.com/office/drawing/2014/main" id="{6A1B7D23-E0A8-43C6-176D-155EC672DD36}"/>
                </a:ext>
              </a:extLst>
            </p:cNvPr>
            <p:cNvSpPr/>
            <p:nvPr/>
          </p:nvSpPr>
          <p:spPr>
            <a:xfrm>
              <a:off x="9167188"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9" name="Shape 190">
              <a:extLst>
                <a:ext uri="{FF2B5EF4-FFF2-40B4-BE49-F238E27FC236}">
                  <a16:creationId xmlns:a16="http://schemas.microsoft.com/office/drawing/2014/main" id="{51DC9A51-6E4D-DCF9-7022-43B9DD086F36}"/>
                </a:ext>
              </a:extLst>
            </p:cNvPr>
            <p:cNvSpPr/>
            <p:nvPr/>
          </p:nvSpPr>
          <p:spPr>
            <a:xfrm>
              <a:off x="921786" y="46488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20" name="Shape 191">
              <a:extLst>
                <a:ext uri="{FF2B5EF4-FFF2-40B4-BE49-F238E27FC236}">
                  <a16:creationId xmlns:a16="http://schemas.microsoft.com/office/drawing/2014/main" id="{42039D98-CD97-4A5D-C046-2F772D267C23}"/>
                </a:ext>
              </a:extLst>
            </p:cNvPr>
            <p:cNvSpPr/>
            <p:nvPr/>
          </p:nvSpPr>
          <p:spPr>
            <a:xfrm>
              <a:off x="921786" y="231908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21" name="Rectangle 20">
              <a:extLst>
                <a:ext uri="{FF2B5EF4-FFF2-40B4-BE49-F238E27FC236}">
                  <a16:creationId xmlns:a16="http://schemas.microsoft.com/office/drawing/2014/main" id="{862C6218-D42D-DB6F-E428-C344F239B5AC}"/>
                </a:ext>
              </a:extLst>
            </p:cNvPr>
            <p:cNvSpPr/>
            <p:nvPr/>
          </p:nvSpPr>
          <p:spPr>
            <a:xfrm>
              <a:off x="1019576" y="531923"/>
              <a:ext cx="89037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Ticker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2" name="Rectangle 21">
              <a:extLst>
                <a:ext uri="{FF2B5EF4-FFF2-40B4-BE49-F238E27FC236}">
                  <a16:creationId xmlns:a16="http://schemas.microsoft.com/office/drawing/2014/main" id="{77401D58-737A-D0AE-E39B-CBCC0EABB10B}"/>
                </a:ext>
              </a:extLst>
            </p:cNvPr>
            <p:cNvSpPr/>
            <p:nvPr/>
          </p:nvSpPr>
          <p:spPr>
            <a:xfrm>
              <a:off x="2346706" y="531923"/>
              <a:ext cx="94601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Sector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3" name="Rectangle 22">
              <a:extLst>
                <a:ext uri="{FF2B5EF4-FFF2-40B4-BE49-F238E27FC236}">
                  <a16:creationId xmlns:a16="http://schemas.microsoft.com/office/drawing/2014/main" id="{485A6F2B-E695-D3FA-6627-B00DEF44FBAB}"/>
                </a:ext>
              </a:extLst>
            </p:cNvPr>
            <p:cNvSpPr/>
            <p:nvPr/>
          </p:nvSpPr>
          <p:spPr>
            <a:xfrm>
              <a:off x="4183353" y="531923"/>
              <a:ext cx="119930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Industry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8C58371B-0864-AF83-1556-4E1FE04450E3}"/>
                </a:ext>
              </a:extLst>
            </p:cNvPr>
            <p:cNvSpPr/>
            <p:nvPr/>
          </p:nvSpPr>
          <p:spPr>
            <a:xfrm>
              <a:off x="6674917" y="531923"/>
              <a:ext cx="111490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Change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5" name="Rectangle 24">
              <a:extLst>
                <a:ext uri="{FF2B5EF4-FFF2-40B4-BE49-F238E27FC236}">
                  <a16:creationId xmlns:a16="http://schemas.microsoft.com/office/drawing/2014/main" id="{0C5773AB-DD2D-20A1-5A40-4F94158C9A5A}"/>
                </a:ext>
              </a:extLst>
            </p:cNvPr>
            <p:cNvSpPr/>
            <p:nvPr/>
          </p:nvSpPr>
          <p:spPr>
            <a:xfrm>
              <a:off x="8070474" y="531923"/>
              <a:ext cx="79402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Value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6" name="Rectangle 25">
              <a:extLst>
                <a:ext uri="{FF2B5EF4-FFF2-40B4-BE49-F238E27FC236}">
                  <a16:creationId xmlns:a16="http://schemas.microsoft.com/office/drawing/2014/main" id="{64CA472B-953D-D45B-6BCC-15DA5795140B}"/>
                </a:ext>
              </a:extLst>
            </p:cNvPr>
            <p:cNvSpPr/>
            <p:nvPr/>
          </p:nvSpPr>
          <p:spPr>
            <a:xfrm>
              <a:off x="1019576" y="903780"/>
              <a:ext cx="827561"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MSFT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7" name="Rectangle 26">
              <a:extLst>
                <a:ext uri="{FF2B5EF4-FFF2-40B4-BE49-F238E27FC236}">
                  <a16:creationId xmlns:a16="http://schemas.microsoft.com/office/drawing/2014/main" id="{1762493D-21B4-7967-547D-38819C109B3F}"/>
                </a:ext>
              </a:extLst>
            </p:cNvPr>
            <p:cNvSpPr/>
            <p:nvPr/>
          </p:nvSpPr>
          <p:spPr>
            <a:xfrm>
              <a:off x="2346706" y="903780"/>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Technology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8" name="Rectangle 27">
              <a:extLst>
                <a:ext uri="{FF2B5EF4-FFF2-40B4-BE49-F238E27FC236}">
                  <a16:creationId xmlns:a16="http://schemas.microsoft.com/office/drawing/2014/main" id="{F87637E4-AD2E-7E17-7C5D-774AB6ACFC20}"/>
                </a:ext>
              </a:extLst>
            </p:cNvPr>
            <p:cNvSpPr/>
            <p:nvPr/>
          </p:nvSpPr>
          <p:spPr>
            <a:xfrm>
              <a:off x="4183353" y="903780"/>
              <a:ext cx="119970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Software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9" name="Rectangle 28">
              <a:extLst>
                <a:ext uri="{FF2B5EF4-FFF2-40B4-BE49-F238E27FC236}">
                  <a16:creationId xmlns:a16="http://schemas.microsoft.com/office/drawing/2014/main" id="{FA74CB0D-6150-3A4F-B5EC-AB98E16BF8D8}"/>
                </a:ext>
              </a:extLst>
            </p:cNvPr>
            <p:cNvSpPr/>
            <p:nvPr/>
          </p:nvSpPr>
          <p:spPr>
            <a:xfrm>
              <a:off x="6674917" y="903780"/>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2B31DDC5-4DA6-6A17-06B7-E28FBF1B6324}"/>
                </a:ext>
              </a:extLst>
            </p:cNvPr>
            <p:cNvSpPr/>
            <p:nvPr/>
          </p:nvSpPr>
          <p:spPr>
            <a:xfrm>
              <a:off x="7195607" y="903779"/>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1" name="Rectangle 30">
              <a:extLst>
                <a:ext uri="{FF2B5EF4-FFF2-40B4-BE49-F238E27FC236}">
                  <a16:creationId xmlns:a16="http://schemas.microsoft.com/office/drawing/2014/main" id="{265C2D5F-EF1C-A0E9-4B6B-3253C64B738B}"/>
                </a:ext>
              </a:extLst>
            </p:cNvPr>
            <p:cNvSpPr/>
            <p:nvPr/>
          </p:nvSpPr>
          <p:spPr>
            <a:xfrm>
              <a:off x="6751117" y="903779"/>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1.40</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2" name="Rectangle 31">
              <a:extLst>
                <a:ext uri="{FF2B5EF4-FFF2-40B4-BE49-F238E27FC236}">
                  <a16:creationId xmlns:a16="http://schemas.microsoft.com/office/drawing/2014/main" id="{1B92E1E9-DE2F-BD2C-3B5F-3FA369F6330A}"/>
                </a:ext>
              </a:extLst>
            </p:cNvPr>
            <p:cNvSpPr/>
            <p:nvPr/>
          </p:nvSpPr>
          <p:spPr>
            <a:xfrm>
              <a:off x="8070474" y="903780"/>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214.25</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3" name="Rectangle 32">
              <a:extLst>
                <a:ext uri="{FF2B5EF4-FFF2-40B4-BE49-F238E27FC236}">
                  <a16:creationId xmlns:a16="http://schemas.microsoft.com/office/drawing/2014/main" id="{E4FEE38F-3D53-D792-B427-42B4D2BF509F}"/>
                </a:ext>
              </a:extLst>
            </p:cNvPr>
            <p:cNvSpPr/>
            <p:nvPr/>
          </p:nvSpPr>
          <p:spPr>
            <a:xfrm>
              <a:off x="1019576" y="1272588"/>
              <a:ext cx="827926"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ADBE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4" name="Rectangle 33">
              <a:extLst>
                <a:ext uri="{FF2B5EF4-FFF2-40B4-BE49-F238E27FC236}">
                  <a16:creationId xmlns:a16="http://schemas.microsoft.com/office/drawing/2014/main" id="{353F5B7E-4227-8E7D-4B8D-43051C9CCE65}"/>
                </a:ext>
              </a:extLst>
            </p:cNvPr>
            <p:cNvSpPr/>
            <p:nvPr/>
          </p:nvSpPr>
          <p:spPr>
            <a:xfrm>
              <a:off x="2346706" y="1272588"/>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Technology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5" name="Rectangle 34">
              <a:extLst>
                <a:ext uri="{FF2B5EF4-FFF2-40B4-BE49-F238E27FC236}">
                  <a16:creationId xmlns:a16="http://schemas.microsoft.com/office/drawing/2014/main" id="{62D13E95-1B5B-B2F0-840C-62CC0311C472}"/>
                </a:ext>
              </a:extLst>
            </p:cNvPr>
            <p:cNvSpPr/>
            <p:nvPr/>
          </p:nvSpPr>
          <p:spPr>
            <a:xfrm>
              <a:off x="4183353" y="1272588"/>
              <a:ext cx="119970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Software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6" name="Rectangle 35">
              <a:extLst>
                <a:ext uri="{FF2B5EF4-FFF2-40B4-BE49-F238E27FC236}">
                  <a16:creationId xmlns:a16="http://schemas.microsoft.com/office/drawing/2014/main" id="{8F7B8EAC-9665-2F33-099D-FD579CA25C27}"/>
                </a:ext>
              </a:extLst>
            </p:cNvPr>
            <p:cNvSpPr/>
            <p:nvPr/>
          </p:nvSpPr>
          <p:spPr>
            <a:xfrm>
              <a:off x="6674917" y="1272588"/>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7" name="Rectangle 36">
              <a:extLst>
                <a:ext uri="{FF2B5EF4-FFF2-40B4-BE49-F238E27FC236}">
                  <a16:creationId xmlns:a16="http://schemas.microsoft.com/office/drawing/2014/main" id="{2EEEE4DF-1114-E865-105E-0CA67EBCB785}"/>
                </a:ext>
              </a:extLst>
            </p:cNvPr>
            <p:cNvSpPr/>
            <p:nvPr/>
          </p:nvSpPr>
          <p:spPr>
            <a:xfrm>
              <a:off x="7195607" y="1272588"/>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8" name="Rectangle 37">
              <a:extLst>
                <a:ext uri="{FF2B5EF4-FFF2-40B4-BE49-F238E27FC236}">
                  <a16:creationId xmlns:a16="http://schemas.microsoft.com/office/drawing/2014/main" id="{1A2F09E8-C491-F7AA-96A5-0E4258A590A3}"/>
                </a:ext>
              </a:extLst>
            </p:cNvPr>
            <p:cNvSpPr/>
            <p:nvPr/>
          </p:nvSpPr>
          <p:spPr>
            <a:xfrm>
              <a:off x="6751117" y="1272588"/>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3.12</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9" name="Rectangle 38">
              <a:extLst>
                <a:ext uri="{FF2B5EF4-FFF2-40B4-BE49-F238E27FC236}">
                  <a16:creationId xmlns:a16="http://schemas.microsoft.com/office/drawing/2014/main" id="{FCC445A9-0B09-97DB-907F-9D0F31B56E2C}"/>
                </a:ext>
              </a:extLst>
            </p:cNvPr>
            <p:cNvSpPr/>
            <p:nvPr/>
          </p:nvSpPr>
          <p:spPr>
            <a:xfrm>
              <a:off x="8070474" y="1272588"/>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491.94</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0" name="Rectangle 39">
              <a:extLst>
                <a:ext uri="{FF2B5EF4-FFF2-40B4-BE49-F238E27FC236}">
                  <a16:creationId xmlns:a16="http://schemas.microsoft.com/office/drawing/2014/main" id="{CEF1864F-FC81-8F05-A98D-93E40109BDD1}"/>
                </a:ext>
              </a:extLst>
            </p:cNvPr>
            <p:cNvSpPr/>
            <p:nvPr/>
          </p:nvSpPr>
          <p:spPr>
            <a:xfrm>
              <a:off x="1019576" y="1644443"/>
              <a:ext cx="77715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AAPL</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1" name="Rectangle 40">
              <a:extLst>
                <a:ext uri="{FF2B5EF4-FFF2-40B4-BE49-F238E27FC236}">
                  <a16:creationId xmlns:a16="http://schemas.microsoft.com/office/drawing/2014/main" id="{CCFE4506-C739-C004-B631-1822E5ED7F9F}"/>
                </a:ext>
              </a:extLst>
            </p:cNvPr>
            <p:cNvSpPr/>
            <p:nvPr/>
          </p:nvSpPr>
          <p:spPr>
            <a:xfrm>
              <a:off x="2346706" y="1644443"/>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dirty="0">
                  <a:solidFill>
                    <a:srgbClr val="000000"/>
                  </a:solidFill>
                  <a:effectLst/>
                  <a:latin typeface="Arial" panose="020B0604020202020204" pitchFamily="34" charset="0"/>
                  <a:ea typeface="Arial" panose="020B0604020202020204" pitchFamily="34" charset="0"/>
                </a:rPr>
                <a:t>Technology</a:t>
              </a:r>
              <a:endParaRPr lang="en-US" sz="1800" kern="100" dirty="0">
                <a:solidFill>
                  <a:srgbClr val="000000"/>
                </a:solidFill>
                <a:effectLst/>
                <a:latin typeface="Calibri" panose="020F0502020204030204" pitchFamily="34" charset="0"/>
                <a:ea typeface="Calibri" panose="020F0502020204030204" pitchFamily="34" charset="0"/>
              </a:endParaRPr>
            </a:p>
          </p:txBody>
        </p:sp>
        <p:sp>
          <p:nvSpPr>
            <p:cNvPr id="42" name="Rectangle 41">
              <a:extLst>
                <a:ext uri="{FF2B5EF4-FFF2-40B4-BE49-F238E27FC236}">
                  <a16:creationId xmlns:a16="http://schemas.microsoft.com/office/drawing/2014/main" id="{29C85DFC-5B09-EB63-E010-0F5A47FDED64}"/>
                </a:ext>
              </a:extLst>
            </p:cNvPr>
            <p:cNvSpPr/>
            <p:nvPr/>
          </p:nvSpPr>
          <p:spPr>
            <a:xfrm>
              <a:off x="4183353" y="1644443"/>
              <a:ext cx="140188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Consumer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3" name="Rectangle 42">
              <a:extLst>
                <a:ext uri="{FF2B5EF4-FFF2-40B4-BE49-F238E27FC236}">
                  <a16:creationId xmlns:a16="http://schemas.microsoft.com/office/drawing/2014/main" id="{10643767-96D8-D98B-41C6-FF401FA0DDDF}"/>
                </a:ext>
              </a:extLst>
            </p:cNvPr>
            <p:cNvSpPr/>
            <p:nvPr/>
          </p:nvSpPr>
          <p:spPr>
            <a:xfrm>
              <a:off x="5300953" y="1644443"/>
              <a:ext cx="148644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Electronics</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4" name="Rectangle 43">
              <a:extLst>
                <a:ext uri="{FF2B5EF4-FFF2-40B4-BE49-F238E27FC236}">
                  <a16:creationId xmlns:a16="http://schemas.microsoft.com/office/drawing/2014/main" id="{DF8452B6-89EA-510D-F791-13B9FAB6CEC4}"/>
                </a:ext>
              </a:extLst>
            </p:cNvPr>
            <p:cNvSpPr/>
            <p:nvPr/>
          </p:nvSpPr>
          <p:spPr>
            <a:xfrm>
              <a:off x="7252475" y="1644443"/>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5" name="Rectangle 44">
              <a:extLst>
                <a:ext uri="{FF2B5EF4-FFF2-40B4-BE49-F238E27FC236}">
                  <a16:creationId xmlns:a16="http://schemas.microsoft.com/office/drawing/2014/main" id="{BFAD66B3-606B-4057-5EC2-762B00FE55A1}"/>
                </a:ext>
              </a:extLst>
            </p:cNvPr>
            <p:cNvSpPr/>
            <p:nvPr/>
          </p:nvSpPr>
          <p:spPr>
            <a:xfrm>
              <a:off x="6674917" y="1644443"/>
              <a:ext cx="76836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+0.07</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6" name="Rectangle 45">
              <a:extLst>
                <a:ext uri="{FF2B5EF4-FFF2-40B4-BE49-F238E27FC236}">
                  <a16:creationId xmlns:a16="http://schemas.microsoft.com/office/drawing/2014/main" id="{A843CB7B-B1DE-8B83-869A-A71F1B3ED4FE}"/>
                </a:ext>
              </a:extLst>
            </p:cNvPr>
            <p:cNvSpPr/>
            <p:nvPr/>
          </p:nvSpPr>
          <p:spPr>
            <a:xfrm>
              <a:off x="8070474" y="1644443"/>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120.96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7" name="Rectangle 46">
              <a:extLst>
                <a:ext uri="{FF2B5EF4-FFF2-40B4-BE49-F238E27FC236}">
                  <a16:creationId xmlns:a16="http://schemas.microsoft.com/office/drawing/2014/main" id="{3F0A3CE7-0348-60C1-11C2-A94DF0384493}"/>
                </a:ext>
              </a:extLst>
            </p:cNvPr>
            <p:cNvSpPr/>
            <p:nvPr/>
          </p:nvSpPr>
          <p:spPr>
            <a:xfrm>
              <a:off x="1019576" y="2016299"/>
              <a:ext cx="2027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V</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8" name="Rectangle 47">
              <a:extLst>
                <a:ext uri="{FF2B5EF4-FFF2-40B4-BE49-F238E27FC236}">
                  <a16:creationId xmlns:a16="http://schemas.microsoft.com/office/drawing/2014/main" id="{E563C4DD-FC79-269C-8813-8121C92E9B69}"/>
                </a:ext>
              </a:extLst>
            </p:cNvPr>
            <p:cNvSpPr/>
            <p:nvPr/>
          </p:nvSpPr>
          <p:spPr>
            <a:xfrm>
              <a:off x="2346706" y="2016299"/>
              <a:ext cx="121612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Financial</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9" name="Rectangle 48">
              <a:extLst>
                <a:ext uri="{FF2B5EF4-FFF2-40B4-BE49-F238E27FC236}">
                  <a16:creationId xmlns:a16="http://schemas.microsoft.com/office/drawing/2014/main" id="{0369CF87-DFCF-FCF8-08A5-00D49E12909D}"/>
                </a:ext>
              </a:extLst>
            </p:cNvPr>
            <p:cNvSpPr/>
            <p:nvPr/>
          </p:nvSpPr>
          <p:spPr>
            <a:xfrm>
              <a:off x="4183353" y="2016299"/>
              <a:ext cx="81056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Credit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0" name="Rectangle 49">
              <a:extLst>
                <a:ext uri="{FF2B5EF4-FFF2-40B4-BE49-F238E27FC236}">
                  <a16:creationId xmlns:a16="http://schemas.microsoft.com/office/drawing/2014/main" id="{FED7C314-74FD-765D-324F-7E72B0C3BEDA}"/>
                </a:ext>
              </a:extLst>
            </p:cNvPr>
            <p:cNvSpPr/>
            <p:nvPr/>
          </p:nvSpPr>
          <p:spPr>
            <a:xfrm>
              <a:off x="4856453" y="2016299"/>
              <a:ext cx="116549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Services</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1" name="Rectangle 50">
              <a:extLst>
                <a:ext uri="{FF2B5EF4-FFF2-40B4-BE49-F238E27FC236}">
                  <a16:creationId xmlns:a16="http://schemas.microsoft.com/office/drawing/2014/main" id="{D93AB37C-7BE4-9CED-3FB7-BC613DD51D10}"/>
                </a:ext>
              </a:extLst>
            </p:cNvPr>
            <p:cNvSpPr/>
            <p:nvPr/>
          </p:nvSpPr>
          <p:spPr>
            <a:xfrm>
              <a:off x="6674917" y="2016299"/>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2" name="Rectangle 51">
              <a:extLst>
                <a:ext uri="{FF2B5EF4-FFF2-40B4-BE49-F238E27FC236}">
                  <a16:creationId xmlns:a16="http://schemas.microsoft.com/office/drawing/2014/main" id="{6F29339C-8C13-7FF8-4CF1-8837D87908AF}"/>
                </a:ext>
              </a:extLst>
            </p:cNvPr>
            <p:cNvSpPr/>
            <p:nvPr/>
          </p:nvSpPr>
          <p:spPr>
            <a:xfrm>
              <a:off x="6751117" y="2016299"/>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2.06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3" name="Rectangle 52">
              <a:extLst>
                <a:ext uri="{FF2B5EF4-FFF2-40B4-BE49-F238E27FC236}">
                  <a16:creationId xmlns:a16="http://schemas.microsoft.com/office/drawing/2014/main" id="{B78228DB-9BC0-B045-A588-3E31B3DED307}"/>
                </a:ext>
              </a:extLst>
            </p:cNvPr>
            <p:cNvSpPr/>
            <p:nvPr/>
          </p:nvSpPr>
          <p:spPr>
            <a:xfrm>
              <a:off x="7195607" y="2016299"/>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4" name="Rectangle 53">
              <a:extLst>
                <a:ext uri="{FF2B5EF4-FFF2-40B4-BE49-F238E27FC236}">
                  <a16:creationId xmlns:a16="http://schemas.microsoft.com/office/drawing/2014/main" id="{882FAE32-CC97-745C-58AE-EC5CBAFF8E9C}"/>
                </a:ext>
              </a:extLst>
            </p:cNvPr>
            <p:cNvSpPr/>
            <p:nvPr/>
          </p:nvSpPr>
          <p:spPr>
            <a:xfrm>
              <a:off x="8070474" y="2016299"/>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204.66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5" name="Shape 222">
              <a:extLst>
                <a:ext uri="{FF2B5EF4-FFF2-40B4-BE49-F238E27FC236}">
                  <a16:creationId xmlns:a16="http://schemas.microsoft.com/office/drawing/2014/main" id="{74EEE6E4-9DEE-63F8-EFFF-C94550131BAA}"/>
                </a:ext>
              </a:extLst>
            </p:cNvPr>
            <p:cNvSpPr/>
            <p:nvPr/>
          </p:nvSpPr>
          <p:spPr>
            <a:xfrm>
              <a:off x="597346" y="1184652"/>
              <a:ext cx="8750595" cy="414670"/>
            </a:xfrm>
            <a:custGeom>
              <a:avLst/>
              <a:gdLst/>
              <a:ahLst/>
              <a:cxnLst/>
              <a:rect l="0" t="0" r="0" b="0"/>
              <a:pathLst>
                <a:path w="8750595" h="414670">
                  <a:moveTo>
                    <a:pt x="0" y="0"/>
                  </a:moveTo>
                  <a:lnTo>
                    <a:pt x="8750595" y="0"/>
                  </a:lnTo>
                  <a:lnTo>
                    <a:pt x="8750595" y="414670"/>
                  </a:lnTo>
                  <a:lnTo>
                    <a:pt x="0" y="414670"/>
                  </a:lnTo>
                  <a:close/>
                </a:path>
              </a:pathLst>
            </a:custGeom>
            <a:ln w="57150" cap="flat">
              <a:miter lim="101600"/>
            </a:ln>
          </p:spPr>
          <p:style>
            <a:lnRef idx="1">
              <a:srgbClr val="E03A3E"/>
            </a:lnRef>
            <a:fillRef idx="0">
              <a:srgbClr val="000000">
                <a:alpha val="0"/>
              </a:srgbClr>
            </a:fillRef>
            <a:effectRef idx="0">
              <a:scrgbClr r="0" g="0" b="0"/>
            </a:effectRef>
            <a:fontRef idx="none"/>
          </p:style>
          <p:txBody>
            <a:bodyPr/>
            <a:lstStyle/>
            <a:p>
              <a:endParaRPr lang="en-US" sz="4000"/>
            </a:p>
          </p:txBody>
        </p:sp>
        <p:sp>
          <p:nvSpPr>
            <p:cNvPr id="56" name="Rectangle 55">
              <a:extLst>
                <a:ext uri="{FF2B5EF4-FFF2-40B4-BE49-F238E27FC236}">
                  <a16:creationId xmlns:a16="http://schemas.microsoft.com/office/drawing/2014/main" id="{8A0428F8-E954-7FFA-D087-167D0C145B8B}"/>
                </a:ext>
              </a:extLst>
            </p:cNvPr>
            <p:cNvSpPr/>
            <p:nvPr/>
          </p:nvSpPr>
          <p:spPr>
            <a:xfrm>
              <a:off x="0" y="1252727"/>
              <a:ext cx="581229" cy="371140"/>
            </a:xfrm>
            <a:prstGeom prst="rect">
              <a:avLst/>
            </a:prstGeom>
            <a:ln>
              <a:noFill/>
            </a:ln>
          </p:spPr>
          <p:txBody>
            <a:bodyPr vert="horz" lIns="0" tIns="0" rIns="0" bIns="0" rtlCol="0">
              <a:noAutofit/>
            </a:bodyPr>
            <a:lstStyle/>
            <a:p>
              <a:pPr marL="0" marR="0">
                <a:lnSpc>
                  <a:spcPct val="107000"/>
                </a:lnSpc>
                <a:spcAft>
                  <a:spcPts val="800"/>
                </a:spcAft>
                <a:buNone/>
              </a:pPr>
              <a:r>
                <a:rPr lang="en-US" sz="4000" b="1" kern="100">
                  <a:solidFill>
                    <a:srgbClr val="E03A3E"/>
                  </a:solidFill>
                  <a:effectLst/>
                  <a:latin typeface="Calibri" panose="020F0502020204030204" pitchFamily="34" charset="0"/>
                  <a:ea typeface="Calibri" panose="020F0502020204030204" pitchFamily="34" charset="0"/>
                </a:rPr>
                <a:t>Item</a:t>
              </a:r>
              <a:endParaRPr lang="en-US" kern="100">
                <a:solidFill>
                  <a:srgbClr val="000000"/>
                </a:solidFill>
                <a:effectLst/>
                <a:latin typeface="Calibri" panose="020F0502020204030204" pitchFamily="34" charset="0"/>
                <a:ea typeface="Calibri" panose="020F0502020204030204" pitchFamily="34" charset="0"/>
              </a:endParaRPr>
            </a:p>
          </p:txBody>
        </p:sp>
        <p:sp>
          <p:nvSpPr>
            <p:cNvPr id="57" name="Shape 224">
              <a:extLst>
                <a:ext uri="{FF2B5EF4-FFF2-40B4-BE49-F238E27FC236}">
                  <a16:creationId xmlns:a16="http://schemas.microsoft.com/office/drawing/2014/main" id="{C09B673F-4010-D2DC-3512-F9BD77E82707}"/>
                </a:ext>
              </a:extLst>
            </p:cNvPr>
            <p:cNvSpPr/>
            <p:nvPr/>
          </p:nvSpPr>
          <p:spPr>
            <a:xfrm>
              <a:off x="6580941" y="324300"/>
              <a:ext cx="1374135" cy="2079059"/>
            </a:xfrm>
            <a:custGeom>
              <a:avLst/>
              <a:gdLst/>
              <a:ahLst/>
              <a:cxnLst/>
              <a:rect l="0" t="0" r="0" b="0"/>
              <a:pathLst>
                <a:path w="1374135" h="2079059">
                  <a:moveTo>
                    <a:pt x="0" y="0"/>
                  </a:moveTo>
                  <a:lnTo>
                    <a:pt x="1374135" y="0"/>
                  </a:lnTo>
                  <a:lnTo>
                    <a:pt x="1374135" y="2079059"/>
                  </a:lnTo>
                  <a:lnTo>
                    <a:pt x="0" y="2079059"/>
                  </a:lnTo>
                  <a:close/>
                </a:path>
              </a:pathLst>
            </a:custGeom>
            <a:ln w="57150" cap="flat">
              <a:miter lim="101600"/>
            </a:ln>
          </p:spPr>
          <p:style>
            <a:lnRef idx="1">
              <a:srgbClr val="E03A3E"/>
            </a:lnRef>
            <a:fillRef idx="0">
              <a:srgbClr val="000000">
                <a:alpha val="0"/>
              </a:srgbClr>
            </a:fillRef>
            <a:effectRef idx="0">
              <a:scrgbClr r="0" g="0" b="0"/>
            </a:effectRef>
            <a:fontRef idx="none"/>
          </p:style>
          <p:txBody>
            <a:bodyPr/>
            <a:lstStyle/>
            <a:p>
              <a:endParaRPr lang="en-US" sz="4000"/>
            </a:p>
          </p:txBody>
        </p:sp>
        <p:sp>
          <p:nvSpPr>
            <p:cNvPr id="58" name="Rectangle 57">
              <a:extLst>
                <a:ext uri="{FF2B5EF4-FFF2-40B4-BE49-F238E27FC236}">
                  <a16:creationId xmlns:a16="http://schemas.microsoft.com/office/drawing/2014/main" id="{BC3B4838-37BB-07B4-40E1-FBA741FEA3D5}"/>
                </a:ext>
              </a:extLst>
            </p:cNvPr>
            <p:cNvSpPr/>
            <p:nvPr/>
          </p:nvSpPr>
          <p:spPr>
            <a:xfrm>
              <a:off x="6546094" y="0"/>
              <a:ext cx="1143305" cy="371140"/>
            </a:xfrm>
            <a:prstGeom prst="rect">
              <a:avLst/>
            </a:prstGeom>
            <a:ln>
              <a:noFill/>
            </a:ln>
          </p:spPr>
          <p:txBody>
            <a:bodyPr vert="horz" lIns="0" tIns="0" rIns="0" bIns="0" rtlCol="0">
              <a:noAutofit/>
            </a:bodyPr>
            <a:lstStyle/>
            <a:p>
              <a:pPr marL="0" marR="0">
                <a:lnSpc>
                  <a:spcPct val="107000"/>
                </a:lnSpc>
                <a:spcAft>
                  <a:spcPts val="800"/>
                </a:spcAft>
                <a:buNone/>
              </a:pPr>
              <a:r>
                <a:rPr lang="en-US" sz="4000" b="1" kern="100" dirty="0">
                  <a:solidFill>
                    <a:srgbClr val="E03A3E"/>
                  </a:solidFill>
                  <a:effectLst/>
                  <a:latin typeface="Calibri" panose="020F0502020204030204" pitchFamily="34" charset="0"/>
                  <a:ea typeface="Calibri" panose="020F0502020204030204" pitchFamily="34" charset="0"/>
                </a:rPr>
                <a:t>Attribute</a:t>
              </a:r>
              <a:endParaRPr lang="en-US" kern="100" dirty="0">
                <a:solidFill>
                  <a:srgbClr val="000000"/>
                </a:solidFill>
                <a:effectLst/>
                <a:latin typeface="Calibri" panose="020F0502020204030204" pitchFamily="34" charset="0"/>
                <a:ea typeface="Calibri" panose="020F0502020204030204" pitchFamily="34" charset="0"/>
              </a:endParaRPr>
            </a:p>
          </p:txBody>
        </p:sp>
      </p:grpSp>
      <p:sp>
        <p:nvSpPr>
          <p:cNvPr id="5" name="TextBox 4">
            <a:extLst>
              <a:ext uri="{FF2B5EF4-FFF2-40B4-BE49-F238E27FC236}">
                <a16:creationId xmlns:a16="http://schemas.microsoft.com/office/drawing/2014/main" id="{658A82EB-A0EE-065A-4F48-42D7AB3560B0}"/>
              </a:ext>
            </a:extLst>
          </p:cNvPr>
          <p:cNvSpPr txBox="1"/>
          <p:nvPr/>
        </p:nvSpPr>
        <p:spPr>
          <a:xfrm>
            <a:off x="5425109" y="9484955"/>
            <a:ext cx="11951991"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C00000"/>
                </a:solidFill>
                <a:effectLst/>
                <a:uFillTx/>
                <a:latin typeface="+mn-lt"/>
                <a:ea typeface="+mn-ea"/>
                <a:cs typeface="+mn-cs"/>
                <a:sym typeface="Helvetica Neue"/>
              </a:rPr>
              <a:t>What relationships exist in this table?</a:t>
            </a:r>
          </a:p>
        </p:txBody>
      </p:sp>
      <p:sp>
        <p:nvSpPr>
          <p:cNvPr id="59" name="TextBox 58">
            <a:extLst>
              <a:ext uri="{FF2B5EF4-FFF2-40B4-BE49-F238E27FC236}">
                <a16:creationId xmlns:a16="http://schemas.microsoft.com/office/drawing/2014/main" id="{E8BFE2F2-E67A-C1F8-6670-99AE129D9278}"/>
              </a:ext>
            </a:extLst>
          </p:cNvPr>
          <p:cNvSpPr txBox="1"/>
          <p:nvPr/>
        </p:nvSpPr>
        <p:spPr>
          <a:xfrm>
            <a:off x="7673964" y="10682581"/>
            <a:ext cx="7330533"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accent6"/>
                </a:solidFill>
                <a:effectLst/>
                <a:uFillTx/>
                <a:latin typeface="+mn-lt"/>
                <a:ea typeface="+mn-ea"/>
                <a:cs typeface="+mn-cs"/>
                <a:sym typeface="Helvetica Neue"/>
              </a:rPr>
              <a:t>ADBE</a:t>
            </a:r>
            <a:r>
              <a:rPr kumimoji="0" lang="en-US" sz="3600" b="1" i="0" u="none" strike="noStrike" cap="none" spc="0" normalizeH="0" baseline="0" dirty="0">
                <a:ln>
                  <a:noFill/>
                </a:ln>
                <a:solidFill>
                  <a:srgbClr val="5E5E5E"/>
                </a:solidFill>
                <a:effectLst/>
                <a:uFillTx/>
                <a:latin typeface="+mn-lt"/>
                <a:ea typeface="+mn-ea"/>
                <a:cs typeface="+mn-cs"/>
                <a:sym typeface="Helvetica Neue"/>
              </a:rPr>
              <a:t> is in the </a:t>
            </a:r>
            <a:r>
              <a:rPr kumimoji="0" lang="en-US" sz="3600" b="1" i="0" u="none" strike="noStrike" cap="none" spc="0" normalizeH="0" baseline="0" dirty="0">
                <a:ln>
                  <a:noFill/>
                </a:ln>
                <a:solidFill>
                  <a:schemeClr val="accent1"/>
                </a:solidFill>
                <a:effectLst/>
                <a:uFillTx/>
                <a:latin typeface="+mn-lt"/>
                <a:ea typeface="+mn-ea"/>
                <a:cs typeface="+mn-cs"/>
                <a:sym typeface="Helvetica Neue"/>
              </a:rPr>
              <a:t>technology</a:t>
            </a:r>
            <a:r>
              <a:rPr kumimoji="0" lang="en-US" sz="3600" b="1" i="0" u="none" strike="noStrike" cap="none" spc="0" normalizeH="0" baseline="0" dirty="0">
                <a:ln>
                  <a:noFill/>
                </a:ln>
                <a:solidFill>
                  <a:srgbClr val="5E5E5E"/>
                </a:solidFill>
                <a:effectLst/>
                <a:uFillTx/>
                <a:latin typeface="+mn-lt"/>
                <a:ea typeface="+mn-ea"/>
                <a:cs typeface="+mn-cs"/>
                <a:sym typeface="Helvetica Neue"/>
              </a:rPr>
              <a:t> </a:t>
            </a:r>
            <a:r>
              <a:rPr kumimoji="0" lang="en-US" sz="3600" b="1" i="0" u="none" strike="noStrike" cap="none" spc="0" normalizeH="0" baseline="0" dirty="0">
                <a:ln>
                  <a:noFill/>
                </a:ln>
                <a:solidFill>
                  <a:schemeClr val="accent3"/>
                </a:solidFill>
                <a:effectLst/>
                <a:uFillTx/>
                <a:latin typeface="+mn-lt"/>
                <a:ea typeface="+mn-ea"/>
                <a:cs typeface="+mn-cs"/>
                <a:sym typeface="Helvetica Neue"/>
              </a:rPr>
              <a:t>sector</a:t>
            </a:r>
          </a:p>
        </p:txBody>
      </p:sp>
      <p:sp>
        <p:nvSpPr>
          <p:cNvPr id="60" name="TextBox 59">
            <a:extLst>
              <a:ext uri="{FF2B5EF4-FFF2-40B4-BE49-F238E27FC236}">
                <a16:creationId xmlns:a16="http://schemas.microsoft.com/office/drawing/2014/main" id="{B68590C6-8454-B5A9-03E4-4FAA089B9A25}"/>
              </a:ext>
            </a:extLst>
          </p:cNvPr>
          <p:cNvSpPr txBox="1"/>
          <p:nvPr/>
        </p:nvSpPr>
        <p:spPr>
          <a:xfrm>
            <a:off x="6315418" y="11339171"/>
            <a:ext cx="10047623"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accent6"/>
                </a:solidFill>
                <a:effectLst/>
                <a:uFillTx/>
                <a:latin typeface="+mn-lt"/>
                <a:ea typeface="+mn-ea"/>
                <a:cs typeface="+mn-cs"/>
                <a:sym typeface="Helvetica Neue"/>
              </a:rPr>
              <a:t>AAPL</a:t>
            </a:r>
            <a:r>
              <a:rPr kumimoji="0" lang="en-US" sz="3600" b="1" i="0" u="none" strike="noStrike" cap="none" spc="0" normalizeH="0" baseline="0" dirty="0">
                <a:ln>
                  <a:noFill/>
                </a:ln>
                <a:solidFill>
                  <a:srgbClr val="5E5E5E"/>
                </a:solidFill>
                <a:effectLst/>
                <a:uFillTx/>
                <a:latin typeface="+mn-lt"/>
                <a:ea typeface="+mn-ea"/>
                <a:cs typeface="+mn-cs"/>
                <a:sym typeface="Helvetica Neue"/>
              </a:rPr>
              <a:t> is in the </a:t>
            </a:r>
            <a:r>
              <a:rPr kumimoji="0" lang="en-US" sz="3600" b="1" i="0" u="none" strike="noStrike" cap="none" spc="0" normalizeH="0" baseline="0" dirty="0">
                <a:ln>
                  <a:noFill/>
                </a:ln>
                <a:solidFill>
                  <a:schemeClr val="accent1"/>
                </a:solidFill>
                <a:effectLst/>
                <a:uFillTx/>
                <a:latin typeface="+mn-lt"/>
                <a:ea typeface="+mn-ea"/>
                <a:cs typeface="+mn-cs"/>
                <a:sym typeface="Helvetica Neue"/>
              </a:rPr>
              <a:t>Consumer electronics </a:t>
            </a:r>
            <a:r>
              <a:rPr kumimoji="0" lang="en-US" sz="3600" b="1" i="0" u="none" strike="noStrike" cap="none" spc="0" normalizeH="0" baseline="0" dirty="0">
                <a:ln>
                  <a:noFill/>
                </a:ln>
                <a:solidFill>
                  <a:schemeClr val="accent3"/>
                </a:solidFill>
                <a:effectLst/>
                <a:uFillTx/>
                <a:latin typeface="+mn-lt"/>
                <a:ea typeface="+mn-ea"/>
                <a:cs typeface="+mn-cs"/>
                <a:sym typeface="Helvetica Neue"/>
              </a:rPr>
              <a:t>industry</a:t>
            </a:r>
          </a:p>
        </p:txBody>
      </p:sp>
      <p:sp>
        <p:nvSpPr>
          <p:cNvPr id="61" name="TextBox 60">
            <a:extLst>
              <a:ext uri="{FF2B5EF4-FFF2-40B4-BE49-F238E27FC236}">
                <a16:creationId xmlns:a16="http://schemas.microsoft.com/office/drawing/2014/main" id="{A57C0F6D-5372-FD31-EF7E-CE8038B91AA4}"/>
              </a:ext>
            </a:extLst>
          </p:cNvPr>
          <p:cNvSpPr txBox="1"/>
          <p:nvPr/>
        </p:nvSpPr>
        <p:spPr>
          <a:xfrm>
            <a:off x="7791141" y="11995761"/>
            <a:ext cx="7219926"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accent6"/>
                </a:solidFill>
                <a:effectLst/>
                <a:uFillTx/>
                <a:latin typeface="+mn-lt"/>
                <a:ea typeface="+mn-ea"/>
                <a:cs typeface="+mn-cs"/>
                <a:sym typeface="Helvetica Neue"/>
              </a:rPr>
              <a:t>V </a:t>
            </a:r>
            <a:r>
              <a:rPr kumimoji="0" lang="en-US" sz="3600" b="1" i="0" u="none" strike="noStrike" cap="none" spc="0" normalizeH="0" baseline="0" dirty="0">
                <a:ln>
                  <a:noFill/>
                </a:ln>
                <a:solidFill>
                  <a:schemeClr val="bg1">
                    <a:lumMod val="50000"/>
                  </a:schemeClr>
                </a:solidFill>
                <a:effectLst/>
                <a:uFillTx/>
                <a:latin typeface="+mn-lt"/>
                <a:ea typeface="+mn-ea"/>
                <a:cs typeface="+mn-cs"/>
                <a:sym typeface="Helvetica Neue"/>
              </a:rPr>
              <a:t>experienced </a:t>
            </a:r>
            <a:r>
              <a:rPr kumimoji="0" lang="en-US" sz="3600" b="1" i="0" u="none" strike="noStrike" cap="none" spc="0" normalizeH="0" baseline="0" dirty="0">
                <a:ln>
                  <a:noFill/>
                </a:ln>
                <a:solidFill>
                  <a:schemeClr val="accent3"/>
                </a:solidFill>
                <a:effectLst/>
                <a:uFillTx/>
                <a:latin typeface="+mn-lt"/>
                <a:ea typeface="+mn-ea"/>
                <a:cs typeface="+mn-cs"/>
                <a:sym typeface="Helvetica Neue"/>
              </a:rPr>
              <a:t>change</a:t>
            </a:r>
            <a:r>
              <a:rPr kumimoji="0" lang="en-US" sz="3600" b="1" i="0" u="none" strike="noStrike" cap="none" spc="0" normalizeH="0" baseline="0" dirty="0">
                <a:ln>
                  <a:noFill/>
                </a:ln>
                <a:solidFill>
                  <a:schemeClr val="bg2">
                    <a:lumMod val="10000"/>
                  </a:schemeClr>
                </a:solidFill>
                <a:effectLst/>
                <a:uFillTx/>
                <a:latin typeface="+mn-lt"/>
                <a:ea typeface="+mn-ea"/>
                <a:cs typeface="+mn-cs"/>
                <a:sym typeface="Helvetica Neue"/>
              </a:rPr>
              <a:t> </a:t>
            </a:r>
            <a:r>
              <a:rPr kumimoji="0" lang="en-US" sz="3600" b="1" i="0" u="none" strike="noStrike" cap="none" spc="0" normalizeH="0" baseline="0" dirty="0">
                <a:ln>
                  <a:noFill/>
                </a:ln>
                <a:solidFill>
                  <a:schemeClr val="bg1">
                    <a:lumMod val="50000"/>
                  </a:schemeClr>
                </a:solidFill>
                <a:effectLst/>
                <a:uFillTx/>
                <a:latin typeface="+mn-lt"/>
                <a:ea typeface="+mn-ea"/>
                <a:cs typeface="+mn-cs"/>
                <a:sym typeface="Helvetica Neue"/>
              </a:rPr>
              <a:t>of</a:t>
            </a:r>
            <a:r>
              <a:rPr kumimoji="0" lang="en-US" sz="3600" b="1" i="0" u="none" strike="noStrike" cap="none" spc="0" normalizeH="0" baseline="0" dirty="0">
                <a:ln>
                  <a:noFill/>
                </a:ln>
                <a:solidFill>
                  <a:schemeClr val="bg2">
                    <a:lumMod val="10000"/>
                  </a:schemeClr>
                </a:solidFill>
                <a:effectLst/>
                <a:uFillTx/>
                <a:latin typeface="+mn-lt"/>
                <a:ea typeface="+mn-ea"/>
                <a:cs typeface="+mn-cs"/>
                <a:sym typeface="Helvetica Neue"/>
              </a:rPr>
              <a:t> </a:t>
            </a:r>
            <a:r>
              <a:rPr kumimoji="0" lang="en-US" sz="3600" b="1" i="0" u="none" strike="noStrike" cap="none" spc="0" normalizeH="0" baseline="0" dirty="0">
                <a:ln>
                  <a:noFill/>
                </a:ln>
                <a:solidFill>
                  <a:schemeClr val="accent1"/>
                </a:solidFill>
                <a:effectLst/>
                <a:uFillTx/>
                <a:latin typeface="+mn-lt"/>
                <a:ea typeface="+mn-ea"/>
                <a:cs typeface="+mn-cs"/>
                <a:sym typeface="Helvetica Neue"/>
              </a:rPr>
              <a:t>-2.06%</a:t>
            </a:r>
          </a:p>
        </p:txBody>
      </p:sp>
      <p:sp>
        <p:nvSpPr>
          <p:cNvPr id="62" name="TextBox 61">
            <a:extLst>
              <a:ext uri="{FF2B5EF4-FFF2-40B4-BE49-F238E27FC236}">
                <a16:creationId xmlns:a16="http://schemas.microsoft.com/office/drawing/2014/main" id="{24290E83-7FCC-3E54-367A-322B4560A4C4}"/>
              </a:ext>
            </a:extLst>
          </p:cNvPr>
          <p:cNvSpPr txBox="1"/>
          <p:nvPr/>
        </p:nvSpPr>
        <p:spPr>
          <a:xfrm>
            <a:off x="6762655" y="12652351"/>
            <a:ext cx="915314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chemeClr val="accent6"/>
                </a:solidFill>
                <a:effectLst/>
                <a:uFillTx/>
                <a:latin typeface="+mn-lt"/>
                <a:ea typeface="+mn-ea"/>
                <a:cs typeface="+mn-cs"/>
                <a:sym typeface="Helvetica Neue"/>
              </a:rPr>
              <a:t>MSFT</a:t>
            </a:r>
            <a:r>
              <a:rPr kumimoji="0" lang="en-US" sz="3600" b="1" i="0" u="none" strike="noStrike" cap="none" spc="0" normalizeH="0" baseline="0" dirty="0">
                <a:ln>
                  <a:noFill/>
                </a:ln>
                <a:solidFill>
                  <a:srgbClr val="5E5E5E"/>
                </a:solidFill>
                <a:effectLst/>
                <a:uFillTx/>
                <a:latin typeface="+mn-lt"/>
                <a:ea typeface="+mn-ea"/>
                <a:cs typeface="+mn-cs"/>
                <a:sym typeface="Helvetica Neue"/>
              </a:rPr>
              <a:t> and </a:t>
            </a:r>
            <a:r>
              <a:rPr kumimoji="0" lang="en-US" sz="3600" b="1" i="0" u="none" strike="noStrike" cap="none" spc="0" normalizeH="0" baseline="0" dirty="0">
                <a:ln>
                  <a:noFill/>
                </a:ln>
                <a:solidFill>
                  <a:schemeClr val="accent6"/>
                </a:solidFill>
                <a:effectLst/>
                <a:uFillTx/>
                <a:latin typeface="+mn-lt"/>
                <a:ea typeface="+mn-ea"/>
                <a:cs typeface="+mn-cs"/>
                <a:sym typeface="Helvetica Neue"/>
              </a:rPr>
              <a:t>ADBE</a:t>
            </a:r>
            <a:r>
              <a:rPr kumimoji="0" lang="en-US" sz="3600" b="1" i="0" u="none" strike="noStrike" cap="none" spc="0" normalizeH="0" baseline="0" dirty="0">
                <a:ln>
                  <a:noFill/>
                </a:ln>
                <a:solidFill>
                  <a:srgbClr val="5E5E5E"/>
                </a:solidFill>
                <a:effectLst/>
                <a:uFillTx/>
                <a:latin typeface="+mn-lt"/>
                <a:ea typeface="+mn-ea"/>
                <a:cs typeface="+mn-cs"/>
                <a:sym typeface="Helvetica Neue"/>
              </a:rPr>
              <a:t> are in the same </a:t>
            </a:r>
            <a:r>
              <a:rPr kumimoji="0" lang="en-US" sz="3600" b="1" i="0" u="none" strike="noStrike" cap="none" spc="0" normalizeH="0" baseline="0" dirty="0">
                <a:ln>
                  <a:noFill/>
                </a:ln>
                <a:solidFill>
                  <a:schemeClr val="accent3"/>
                </a:solidFill>
                <a:effectLst/>
                <a:uFillTx/>
                <a:latin typeface="+mn-lt"/>
                <a:ea typeface="+mn-ea"/>
                <a:cs typeface="+mn-cs"/>
                <a:sym typeface="Helvetica Neue"/>
              </a:rPr>
              <a:t>industry</a:t>
            </a:r>
          </a:p>
        </p:txBody>
      </p:sp>
      <p:sp>
        <p:nvSpPr>
          <p:cNvPr id="65" name="TextBox 64">
            <a:extLst>
              <a:ext uri="{FF2B5EF4-FFF2-40B4-BE49-F238E27FC236}">
                <a16:creationId xmlns:a16="http://schemas.microsoft.com/office/drawing/2014/main" id="{4533DFA9-97FB-0821-8C99-2DEF267D572A}"/>
              </a:ext>
            </a:extLst>
          </p:cNvPr>
          <p:cNvSpPr txBox="1"/>
          <p:nvPr/>
        </p:nvSpPr>
        <p:spPr>
          <a:xfrm>
            <a:off x="19156975" y="1964094"/>
            <a:ext cx="2899342"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Which sentences would you care to emphasize in a visualization?</a:t>
            </a:r>
          </a:p>
        </p:txBody>
      </p:sp>
    </p:spTree>
    <p:extLst>
      <p:ext uri="{BB962C8B-B14F-4D97-AF65-F5344CB8AC3E}">
        <p14:creationId xmlns:p14="http://schemas.microsoft.com/office/powerpoint/2010/main" val="20603655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9" grpId="0"/>
      <p:bldP spid="60" grpId="0"/>
      <p:bldP spid="61" grpId="0"/>
      <p:bldP spid="62" grpId="0"/>
      <p:bldP spid="6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201B7FE-F13D-B070-8920-691954E8C141}"/>
              </a:ext>
            </a:extLst>
          </p:cNvPr>
          <p:cNvGrpSpPr>
            <a:grpSpLocks noChangeAspect="1"/>
          </p:cNvGrpSpPr>
          <p:nvPr/>
        </p:nvGrpSpPr>
        <p:grpSpPr>
          <a:xfrm>
            <a:off x="3512513" y="1054908"/>
            <a:ext cx="17862896" cy="4586645"/>
            <a:chOff x="0" y="0"/>
            <a:chExt cx="9173538" cy="2355966"/>
          </a:xfrm>
        </p:grpSpPr>
        <p:sp>
          <p:nvSpPr>
            <p:cNvPr id="4" name="Shape 32666">
              <a:extLst>
                <a:ext uri="{FF2B5EF4-FFF2-40B4-BE49-F238E27FC236}">
                  <a16:creationId xmlns:a16="http://schemas.microsoft.com/office/drawing/2014/main" id="{BBEB131D-AD07-480E-1673-5F6F3569C024}"/>
                </a:ext>
              </a:extLst>
            </p:cNvPr>
            <p:cNvSpPr/>
            <p:nvPr/>
          </p:nvSpPr>
          <p:spPr>
            <a:xfrm>
              <a:off x="928136" y="464887"/>
              <a:ext cx="1327130" cy="370840"/>
            </a:xfrm>
            <a:custGeom>
              <a:avLst/>
              <a:gdLst/>
              <a:ahLst/>
              <a:cxnLst/>
              <a:rect l="0" t="0" r="0" b="0"/>
              <a:pathLst>
                <a:path w="1327130" h="370840">
                  <a:moveTo>
                    <a:pt x="0" y="0"/>
                  </a:moveTo>
                  <a:lnTo>
                    <a:pt x="1327130" y="0"/>
                  </a:lnTo>
                  <a:lnTo>
                    <a:pt x="1327130"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5" name="Shape 32667">
              <a:extLst>
                <a:ext uri="{FF2B5EF4-FFF2-40B4-BE49-F238E27FC236}">
                  <a16:creationId xmlns:a16="http://schemas.microsoft.com/office/drawing/2014/main" id="{C84AE90D-6C25-F6C7-34E1-DDCA3802290F}"/>
                </a:ext>
              </a:extLst>
            </p:cNvPr>
            <p:cNvSpPr/>
            <p:nvPr/>
          </p:nvSpPr>
          <p:spPr>
            <a:xfrm>
              <a:off x="2255266" y="464887"/>
              <a:ext cx="1836648" cy="370840"/>
            </a:xfrm>
            <a:custGeom>
              <a:avLst/>
              <a:gdLst/>
              <a:ahLst/>
              <a:cxnLst/>
              <a:rect l="0" t="0" r="0" b="0"/>
              <a:pathLst>
                <a:path w="1836648" h="370840">
                  <a:moveTo>
                    <a:pt x="0" y="0"/>
                  </a:moveTo>
                  <a:lnTo>
                    <a:pt x="1836648" y="0"/>
                  </a:lnTo>
                  <a:lnTo>
                    <a:pt x="1836648"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6" name="Shape 32668">
              <a:extLst>
                <a:ext uri="{FF2B5EF4-FFF2-40B4-BE49-F238E27FC236}">
                  <a16:creationId xmlns:a16="http://schemas.microsoft.com/office/drawing/2014/main" id="{6E5F70EB-471A-101D-1086-18DB6A03C284}"/>
                </a:ext>
              </a:extLst>
            </p:cNvPr>
            <p:cNvSpPr/>
            <p:nvPr/>
          </p:nvSpPr>
          <p:spPr>
            <a:xfrm>
              <a:off x="4091913" y="464887"/>
              <a:ext cx="2491563" cy="370840"/>
            </a:xfrm>
            <a:custGeom>
              <a:avLst/>
              <a:gdLst/>
              <a:ahLst/>
              <a:cxnLst/>
              <a:rect l="0" t="0" r="0" b="0"/>
              <a:pathLst>
                <a:path w="2491563" h="370840">
                  <a:moveTo>
                    <a:pt x="0" y="0"/>
                  </a:moveTo>
                  <a:lnTo>
                    <a:pt x="2491563" y="0"/>
                  </a:lnTo>
                  <a:lnTo>
                    <a:pt x="2491563"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7" name="Shape 32669">
              <a:extLst>
                <a:ext uri="{FF2B5EF4-FFF2-40B4-BE49-F238E27FC236}">
                  <a16:creationId xmlns:a16="http://schemas.microsoft.com/office/drawing/2014/main" id="{7C72AE45-DF9B-B48A-F0CE-CDB3628CBDE5}"/>
                </a:ext>
              </a:extLst>
            </p:cNvPr>
            <p:cNvSpPr/>
            <p:nvPr/>
          </p:nvSpPr>
          <p:spPr>
            <a:xfrm>
              <a:off x="6583477" y="464887"/>
              <a:ext cx="1395558" cy="370840"/>
            </a:xfrm>
            <a:custGeom>
              <a:avLst/>
              <a:gdLst/>
              <a:ahLst/>
              <a:cxnLst/>
              <a:rect l="0" t="0" r="0" b="0"/>
              <a:pathLst>
                <a:path w="1395558" h="370840">
                  <a:moveTo>
                    <a:pt x="0" y="0"/>
                  </a:moveTo>
                  <a:lnTo>
                    <a:pt x="1395558" y="0"/>
                  </a:lnTo>
                  <a:lnTo>
                    <a:pt x="1395558"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8" name="Shape 32670">
              <a:extLst>
                <a:ext uri="{FF2B5EF4-FFF2-40B4-BE49-F238E27FC236}">
                  <a16:creationId xmlns:a16="http://schemas.microsoft.com/office/drawing/2014/main" id="{CF904227-FECF-C409-4631-6B15C02D2DA0}"/>
                </a:ext>
              </a:extLst>
            </p:cNvPr>
            <p:cNvSpPr/>
            <p:nvPr/>
          </p:nvSpPr>
          <p:spPr>
            <a:xfrm>
              <a:off x="7979034" y="464887"/>
              <a:ext cx="1188153" cy="370840"/>
            </a:xfrm>
            <a:custGeom>
              <a:avLst/>
              <a:gdLst/>
              <a:ahLst/>
              <a:cxnLst/>
              <a:rect l="0" t="0" r="0" b="0"/>
              <a:pathLst>
                <a:path w="1188153" h="370840">
                  <a:moveTo>
                    <a:pt x="0" y="0"/>
                  </a:moveTo>
                  <a:lnTo>
                    <a:pt x="1188153" y="0"/>
                  </a:lnTo>
                  <a:lnTo>
                    <a:pt x="1188153" y="370840"/>
                  </a:lnTo>
                  <a:lnTo>
                    <a:pt x="0" y="37084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4000"/>
            </a:p>
          </p:txBody>
        </p:sp>
        <p:sp>
          <p:nvSpPr>
            <p:cNvPr id="9" name="Shape 180">
              <a:extLst>
                <a:ext uri="{FF2B5EF4-FFF2-40B4-BE49-F238E27FC236}">
                  <a16:creationId xmlns:a16="http://schemas.microsoft.com/office/drawing/2014/main" id="{2217A204-1359-0EFF-E9B3-B885FF293C78}"/>
                </a:ext>
              </a:extLst>
            </p:cNvPr>
            <p:cNvSpPr/>
            <p:nvPr/>
          </p:nvSpPr>
          <p:spPr>
            <a:xfrm>
              <a:off x="2255266"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0" name="Shape 181">
              <a:extLst>
                <a:ext uri="{FF2B5EF4-FFF2-40B4-BE49-F238E27FC236}">
                  <a16:creationId xmlns:a16="http://schemas.microsoft.com/office/drawing/2014/main" id="{F2F3C99B-4BA2-A869-82BE-672740FDA5E6}"/>
                </a:ext>
              </a:extLst>
            </p:cNvPr>
            <p:cNvSpPr/>
            <p:nvPr/>
          </p:nvSpPr>
          <p:spPr>
            <a:xfrm>
              <a:off x="4091913"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1" name="Shape 182">
              <a:extLst>
                <a:ext uri="{FF2B5EF4-FFF2-40B4-BE49-F238E27FC236}">
                  <a16:creationId xmlns:a16="http://schemas.microsoft.com/office/drawing/2014/main" id="{D1152B12-4FC6-D74A-EC66-A99B9E00C4EB}"/>
                </a:ext>
              </a:extLst>
            </p:cNvPr>
            <p:cNvSpPr/>
            <p:nvPr/>
          </p:nvSpPr>
          <p:spPr>
            <a:xfrm>
              <a:off x="6583477"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2" name="Shape 183">
              <a:extLst>
                <a:ext uri="{FF2B5EF4-FFF2-40B4-BE49-F238E27FC236}">
                  <a16:creationId xmlns:a16="http://schemas.microsoft.com/office/drawing/2014/main" id="{6CE418EA-CAF7-FA3E-7A12-27D74004E199}"/>
                </a:ext>
              </a:extLst>
            </p:cNvPr>
            <p:cNvSpPr/>
            <p:nvPr/>
          </p:nvSpPr>
          <p:spPr>
            <a:xfrm>
              <a:off x="7979035"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3" name="Shape 184">
              <a:extLst>
                <a:ext uri="{FF2B5EF4-FFF2-40B4-BE49-F238E27FC236}">
                  <a16:creationId xmlns:a16="http://schemas.microsoft.com/office/drawing/2014/main" id="{110F823B-971F-9B66-32C9-356F6DFFD6D1}"/>
                </a:ext>
              </a:extLst>
            </p:cNvPr>
            <p:cNvSpPr/>
            <p:nvPr/>
          </p:nvSpPr>
          <p:spPr>
            <a:xfrm>
              <a:off x="921786" y="83572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4" name="Shape 185">
              <a:extLst>
                <a:ext uri="{FF2B5EF4-FFF2-40B4-BE49-F238E27FC236}">
                  <a16:creationId xmlns:a16="http://schemas.microsoft.com/office/drawing/2014/main" id="{65F663D8-162B-5E76-E082-CA9B4B6646FF}"/>
                </a:ext>
              </a:extLst>
            </p:cNvPr>
            <p:cNvSpPr/>
            <p:nvPr/>
          </p:nvSpPr>
          <p:spPr>
            <a:xfrm>
              <a:off x="921786" y="120656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5" name="Shape 186">
              <a:extLst>
                <a:ext uri="{FF2B5EF4-FFF2-40B4-BE49-F238E27FC236}">
                  <a16:creationId xmlns:a16="http://schemas.microsoft.com/office/drawing/2014/main" id="{1A5372C3-59DF-DC6D-36AE-CF39BAF35060}"/>
                </a:ext>
              </a:extLst>
            </p:cNvPr>
            <p:cNvSpPr/>
            <p:nvPr/>
          </p:nvSpPr>
          <p:spPr>
            <a:xfrm>
              <a:off x="921786" y="157740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6" name="Shape 187">
              <a:extLst>
                <a:ext uri="{FF2B5EF4-FFF2-40B4-BE49-F238E27FC236}">
                  <a16:creationId xmlns:a16="http://schemas.microsoft.com/office/drawing/2014/main" id="{4D791179-6F2F-7B7E-E2AE-D6515737E33C}"/>
                </a:ext>
              </a:extLst>
            </p:cNvPr>
            <p:cNvSpPr/>
            <p:nvPr/>
          </p:nvSpPr>
          <p:spPr>
            <a:xfrm>
              <a:off x="921786" y="194824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7" name="Shape 188">
              <a:extLst>
                <a:ext uri="{FF2B5EF4-FFF2-40B4-BE49-F238E27FC236}">
                  <a16:creationId xmlns:a16="http://schemas.microsoft.com/office/drawing/2014/main" id="{3EB593D7-7C13-DCB1-EF5B-C46AFB836832}"/>
                </a:ext>
              </a:extLst>
            </p:cNvPr>
            <p:cNvSpPr/>
            <p:nvPr/>
          </p:nvSpPr>
          <p:spPr>
            <a:xfrm>
              <a:off x="928136"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8" name="Shape 189">
              <a:extLst>
                <a:ext uri="{FF2B5EF4-FFF2-40B4-BE49-F238E27FC236}">
                  <a16:creationId xmlns:a16="http://schemas.microsoft.com/office/drawing/2014/main" id="{7C2951CB-3A0D-90A8-12EF-1F3E84E89FEA}"/>
                </a:ext>
              </a:extLst>
            </p:cNvPr>
            <p:cNvSpPr/>
            <p:nvPr/>
          </p:nvSpPr>
          <p:spPr>
            <a:xfrm>
              <a:off x="9167188" y="458537"/>
              <a:ext cx="0" cy="1866900"/>
            </a:xfrm>
            <a:custGeom>
              <a:avLst/>
              <a:gdLst/>
              <a:ahLst/>
              <a:cxnLst/>
              <a:rect l="0" t="0" r="0" b="0"/>
              <a:pathLst>
                <a:path h="1866900">
                  <a:moveTo>
                    <a:pt x="0" y="0"/>
                  </a:moveTo>
                  <a:lnTo>
                    <a:pt x="0" y="186690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19" name="Shape 190">
              <a:extLst>
                <a:ext uri="{FF2B5EF4-FFF2-40B4-BE49-F238E27FC236}">
                  <a16:creationId xmlns:a16="http://schemas.microsoft.com/office/drawing/2014/main" id="{E506F991-5291-08EA-87F0-45BD32ADBCB0}"/>
                </a:ext>
              </a:extLst>
            </p:cNvPr>
            <p:cNvSpPr/>
            <p:nvPr/>
          </p:nvSpPr>
          <p:spPr>
            <a:xfrm>
              <a:off x="921786" y="46488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20" name="Shape 191">
              <a:extLst>
                <a:ext uri="{FF2B5EF4-FFF2-40B4-BE49-F238E27FC236}">
                  <a16:creationId xmlns:a16="http://schemas.microsoft.com/office/drawing/2014/main" id="{B1937883-5B12-AE9D-CCDF-7457AD4FF718}"/>
                </a:ext>
              </a:extLst>
            </p:cNvPr>
            <p:cNvSpPr/>
            <p:nvPr/>
          </p:nvSpPr>
          <p:spPr>
            <a:xfrm>
              <a:off x="921786" y="2319087"/>
              <a:ext cx="8251752" cy="0"/>
            </a:xfrm>
            <a:custGeom>
              <a:avLst/>
              <a:gdLst/>
              <a:ahLst/>
              <a:cxnLst/>
              <a:rect l="0" t="0" r="0" b="0"/>
              <a:pathLst>
                <a:path w="8251752">
                  <a:moveTo>
                    <a:pt x="0" y="0"/>
                  </a:moveTo>
                  <a:lnTo>
                    <a:pt x="8251752" y="0"/>
                  </a:lnTo>
                </a:path>
              </a:pathLst>
            </a:custGeom>
            <a:ln w="12700" cap="flat">
              <a:round/>
            </a:ln>
          </p:spPr>
          <p:style>
            <a:lnRef idx="1">
              <a:srgbClr val="BFBFBF"/>
            </a:lnRef>
            <a:fillRef idx="0">
              <a:srgbClr val="000000">
                <a:alpha val="0"/>
              </a:srgbClr>
            </a:fillRef>
            <a:effectRef idx="0">
              <a:scrgbClr r="0" g="0" b="0"/>
            </a:effectRef>
            <a:fontRef idx="none"/>
          </p:style>
          <p:txBody>
            <a:bodyPr/>
            <a:lstStyle/>
            <a:p>
              <a:endParaRPr lang="en-US" sz="4000"/>
            </a:p>
          </p:txBody>
        </p:sp>
        <p:sp>
          <p:nvSpPr>
            <p:cNvPr id="21" name="Rectangle 20">
              <a:extLst>
                <a:ext uri="{FF2B5EF4-FFF2-40B4-BE49-F238E27FC236}">
                  <a16:creationId xmlns:a16="http://schemas.microsoft.com/office/drawing/2014/main" id="{6F3E92A5-68C3-3202-5B2E-7F870CFCEC74}"/>
                </a:ext>
              </a:extLst>
            </p:cNvPr>
            <p:cNvSpPr/>
            <p:nvPr/>
          </p:nvSpPr>
          <p:spPr>
            <a:xfrm>
              <a:off x="1019576" y="531923"/>
              <a:ext cx="89037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Ticker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2" name="Rectangle 21">
              <a:extLst>
                <a:ext uri="{FF2B5EF4-FFF2-40B4-BE49-F238E27FC236}">
                  <a16:creationId xmlns:a16="http://schemas.microsoft.com/office/drawing/2014/main" id="{CE5F652C-12FC-4B7C-9A93-46BD91A1A5CE}"/>
                </a:ext>
              </a:extLst>
            </p:cNvPr>
            <p:cNvSpPr/>
            <p:nvPr/>
          </p:nvSpPr>
          <p:spPr>
            <a:xfrm>
              <a:off x="2346706" y="531923"/>
              <a:ext cx="94601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Sector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3" name="Rectangle 22">
              <a:extLst>
                <a:ext uri="{FF2B5EF4-FFF2-40B4-BE49-F238E27FC236}">
                  <a16:creationId xmlns:a16="http://schemas.microsoft.com/office/drawing/2014/main" id="{CC5AD7B6-58D9-AF80-7C26-5EE7B908CA86}"/>
                </a:ext>
              </a:extLst>
            </p:cNvPr>
            <p:cNvSpPr/>
            <p:nvPr/>
          </p:nvSpPr>
          <p:spPr>
            <a:xfrm>
              <a:off x="4183353" y="531923"/>
              <a:ext cx="119930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Industry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B89F93F0-1F42-A12F-562A-23A117254B6A}"/>
                </a:ext>
              </a:extLst>
            </p:cNvPr>
            <p:cNvSpPr/>
            <p:nvPr/>
          </p:nvSpPr>
          <p:spPr>
            <a:xfrm>
              <a:off x="6674917" y="531923"/>
              <a:ext cx="111490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Change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5" name="Rectangle 24">
              <a:extLst>
                <a:ext uri="{FF2B5EF4-FFF2-40B4-BE49-F238E27FC236}">
                  <a16:creationId xmlns:a16="http://schemas.microsoft.com/office/drawing/2014/main" id="{792B41E2-CD62-072D-F3BF-2C1F11C30BB2}"/>
                </a:ext>
              </a:extLst>
            </p:cNvPr>
            <p:cNvSpPr/>
            <p:nvPr/>
          </p:nvSpPr>
          <p:spPr>
            <a:xfrm>
              <a:off x="8070474" y="531923"/>
              <a:ext cx="79402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b="1" kern="100">
                  <a:solidFill>
                    <a:srgbClr val="FFFFFF"/>
                  </a:solidFill>
                  <a:effectLst/>
                  <a:latin typeface="Arial" panose="020B0604020202020204" pitchFamily="34" charset="0"/>
                  <a:ea typeface="Arial" panose="020B0604020202020204" pitchFamily="34" charset="0"/>
                </a:rPr>
                <a:t>Value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6" name="Rectangle 25">
              <a:extLst>
                <a:ext uri="{FF2B5EF4-FFF2-40B4-BE49-F238E27FC236}">
                  <a16:creationId xmlns:a16="http://schemas.microsoft.com/office/drawing/2014/main" id="{C7BCA4AB-B753-66C3-C503-9D5ECE250830}"/>
                </a:ext>
              </a:extLst>
            </p:cNvPr>
            <p:cNvSpPr/>
            <p:nvPr/>
          </p:nvSpPr>
          <p:spPr>
            <a:xfrm>
              <a:off x="1019576" y="903780"/>
              <a:ext cx="827561"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MSFT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7" name="Rectangle 26">
              <a:extLst>
                <a:ext uri="{FF2B5EF4-FFF2-40B4-BE49-F238E27FC236}">
                  <a16:creationId xmlns:a16="http://schemas.microsoft.com/office/drawing/2014/main" id="{02352B78-83EA-0D45-48B8-855C4994F5AD}"/>
                </a:ext>
              </a:extLst>
            </p:cNvPr>
            <p:cNvSpPr/>
            <p:nvPr/>
          </p:nvSpPr>
          <p:spPr>
            <a:xfrm>
              <a:off x="2346706" y="903780"/>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Technology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8" name="Rectangle 27">
              <a:extLst>
                <a:ext uri="{FF2B5EF4-FFF2-40B4-BE49-F238E27FC236}">
                  <a16:creationId xmlns:a16="http://schemas.microsoft.com/office/drawing/2014/main" id="{5FB5DE0B-50A8-8616-484B-4FDA512BAA18}"/>
                </a:ext>
              </a:extLst>
            </p:cNvPr>
            <p:cNvSpPr/>
            <p:nvPr/>
          </p:nvSpPr>
          <p:spPr>
            <a:xfrm>
              <a:off x="4183353" y="903780"/>
              <a:ext cx="119970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Software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29" name="Rectangle 28">
              <a:extLst>
                <a:ext uri="{FF2B5EF4-FFF2-40B4-BE49-F238E27FC236}">
                  <a16:creationId xmlns:a16="http://schemas.microsoft.com/office/drawing/2014/main" id="{D0734ACD-5052-444C-D102-BF48FB49E59F}"/>
                </a:ext>
              </a:extLst>
            </p:cNvPr>
            <p:cNvSpPr/>
            <p:nvPr/>
          </p:nvSpPr>
          <p:spPr>
            <a:xfrm>
              <a:off x="6674917" y="903780"/>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AE6BC595-00D1-8FFF-BA73-23117E11EF0E}"/>
                </a:ext>
              </a:extLst>
            </p:cNvPr>
            <p:cNvSpPr/>
            <p:nvPr/>
          </p:nvSpPr>
          <p:spPr>
            <a:xfrm>
              <a:off x="7195607" y="903779"/>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1" name="Rectangle 30">
              <a:extLst>
                <a:ext uri="{FF2B5EF4-FFF2-40B4-BE49-F238E27FC236}">
                  <a16:creationId xmlns:a16="http://schemas.microsoft.com/office/drawing/2014/main" id="{9839C870-91C9-E27B-14D1-BA34567368FD}"/>
                </a:ext>
              </a:extLst>
            </p:cNvPr>
            <p:cNvSpPr/>
            <p:nvPr/>
          </p:nvSpPr>
          <p:spPr>
            <a:xfrm>
              <a:off x="6751117" y="903779"/>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1.40</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2" name="Rectangle 31">
              <a:extLst>
                <a:ext uri="{FF2B5EF4-FFF2-40B4-BE49-F238E27FC236}">
                  <a16:creationId xmlns:a16="http://schemas.microsoft.com/office/drawing/2014/main" id="{DC8CFEFE-0614-8A0D-896B-05B8E16E30C5}"/>
                </a:ext>
              </a:extLst>
            </p:cNvPr>
            <p:cNvSpPr/>
            <p:nvPr/>
          </p:nvSpPr>
          <p:spPr>
            <a:xfrm>
              <a:off x="8070474" y="903780"/>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214.25</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3" name="Rectangle 32">
              <a:extLst>
                <a:ext uri="{FF2B5EF4-FFF2-40B4-BE49-F238E27FC236}">
                  <a16:creationId xmlns:a16="http://schemas.microsoft.com/office/drawing/2014/main" id="{5CC32B96-7537-6D01-E6CB-BBDDABC05626}"/>
                </a:ext>
              </a:extLst>
            </p:cNvPr>
            <p:cNvSpPr/>
            <p:nvPr/>
          </p:nvSpPr>
          <p:spPr>
            <a:xfrm>
              <a:off x="1019576" y="1272588"/>
              <a:ext cx="827926"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ADBE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4" name="Rectangle 33">
              <a:extLst>
                <a:ext uri="{FF2B5EF4-FFF2-40B4-BE49-F238E27FC236}">
                  <a16:creationId xmlns:a16="http://schemas.microsoft.com/office/drawing/2014/main" id="{35F6CAF3-EAA8-8E1D-316B-82995114AE1C}"/>
                </a:ext>
              </a:extLst>
            </p:cNvPr>
            <p:cNvSpPr/>
            <p:nvPr/>
          </p:nvSpPr>
          <p:spPr>
            <a:xfrm>
              <a:off x="2346706" y="1272588"/>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Technology</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5" name="Rectangle 34">
              <a:extLst>
                <a:ext uri="{FF2B5EF4-FFF2-40B4-BE49-F238E27FC236}">
                  <a16:creationId xmlns:a16="http://schemas.microsoft.com/office/drawing/2014/main" id="{047F180F-450A-3685-C99C-F1270F5F6B63}"/>
                </a:ext>
              </a:extLst>
            </p:cNvPr>
            <p:cNvSpPr/>
            <p:nvPr/>
          </p:nvSpPr>
          <p:spPr>
            <a:xfrm>
              <a:off x="4183353" y="1272588"/>
              <a:ext cx="1199704"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Software</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6" name="Rectangle 35">
              <a:extLst>
                <a:ext uri="{FF2B5EF4-FFF2-40B4-BE49-F238E27FC236}">
                  <a16:creationId xmlns:a16="http://schemas.microsoft.com/office/drawing/2014/main" id="{12F0F89B-3D3E-6F8E-C765-C493099653A2}"/>
                </a:ext>
              </a:extLst>
            </p:cNvPr>
            <p:cNvSpPr/>
            <p:nvPr/>
          </p:nvSpPr>
          <p:spPr>
            <a:xfrm>
              <a:off x="6674917" y="1272588"/>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7" name="Rectangle 36">
              <a:extLst>
                <a:ext uri="{FF2B5EF4-FFF2-40B4-BE49-F238E27FC236}">
                  <a16:creationId xmlns:a16="http://schemas.microsoft.com/office/drawing/2014/main" id="{D2AC46FF-0E19-FD1A-0621-D2D248FF341D}"/>
                </a:ext>
              </a:extLst>
            </p:cNvPr>
            <p:cNvSpPr/>
            <p:nvPr/>
          </p:nvSpPr>
          <p:spPr>
            <a:xfrm>
              <a:off x="7195607" y="1272588"/>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8" name="Rectangle 37">
              <a:extLst>
                <a:ext uri="{FF2B5EF4-FFF2-40B4-BE49-F238E27FC236}">
                  <a16:creationId xmlns:a16="http://schemas.microsoft.com/office/drawing/2014/main" id="{207E493B-C5A4-70F0-564D-3198127C53BD}"/>
                </a:ext>
              </a:extLst>
            </p:cNvPr>
            <p:cNvSpPr/>
            <p:nvPr/>
          </p:nvSpPr>
          <p:spPr>
            <a:xfrm>
              <a:off x="6751117" y="1272588"/>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3.12</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39" name="Rectangle 38">
              <a:extLst>
                <a:ext uri="{FF2B5EF4-FFF2-40B4-BE49-F238E27FC236}">
                  <a16:creationId xmlns:a16="http://schemas.microsoft.com/office/drawing/2014/main" id="{3DCA05FC-16CA-9D60-1CBA-86430FACDC67}"/>
                </a:ext>
              </a:extLst>
            </p:cNvPr>
            <p:cNvSpPr/>
            <p:nvPr/>
          </p:nvSpPr>
          <p:spPr>
            <a:xfrm>
              <a:off x="8070474" y="1272588"/>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491.94</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0" name="Rectangle 39">
              <a:extLst>
                <a:ext uri="{FF2B5EF4-FFF2-40B4-BE49-F238E27FC236}">
                  <a16:creationId xmlns:a16="http://schemas.microsoft.com/office/drawing/2014/main" id="{5BD8C92A-923D-B905-6B45-B9D221BD1CF0}"/>
                </a:ext>
              </a:extLst>
            </p:cNvPr>
            <p:cNvSpPr/>
            <p:nvPr/>
          </p:nvSpPr>
          <p:spPr>
            <a:xfrm>
              <a:off x="1019576" y="1644443"/>
              <a:ext cx="77715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AAPL</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1" name="Rectangle 40">
              <a:extLst>
                <a:ext uri="{FF2B5EF4-FFF2-40B4-BE49-F238E27FC236}">
                  <a16:creationId xmlns:a16="http://schemas.microsoft.com/office/drawing/2014/main" id="{FCF8873F-6E49-54DA-73C4-6632EB7B0A58}"/>
                </a:ext>
              </a:extLst>
            </p:cNvPr>
            <p:cNvSpPr/>
            <p:nvPr/>
          </p:nvSpPr>
          <p:spPr>
            <a:xfrm>
              <a:off x="2346706" y="1644443"/>
              <a:ext cx="1537247"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dirty="0">
                  <a:solidFill>
                    <a:srgbClr val="000000"/>
                  </a:solidFill>
                  <a:effectLst/>
                  <a:latin typeface="Arial" panose="020B0604020202020204" pitchFamily="34" charset="0"/>
                  <a:ea typeface="Arial" panose="020B0604020202020204" pitchFamily="34" charset="0"/>
                </a:rPr>
                <a:t>Technology</a:t>
              </a:r>
              <a:endParaRPr lang="en-US" sz="1800" kern="100" dirty="0">
                <a:solidFill>
                  <a:srgbClr val="000000"/>
                </a:solidFill>
                <a:effectLst/>
                <a:latin typeface="Calibri" panose="020F0502020204030204" pitchFamily="34" charset="0"/>
                <a:ea typeface="Calibri" panose="020F0502020204030204" pitchFamily="34" charset="0"/>
              </a:endParaRPr>
            </a:p>
          </p:txBody>
        </p:sp>
        <p:sp>
          <p:nvSpPr>
            <p:cNvPr id="42" name="Rectangle 41">
              <a:extLst>
                <a:ext uri="{FF2B5EF4-FFF2-40B4-BE49-F238E27FC236}">
                  <a16:creationId xmlns:a16="http://schemas.microsoft.com/office/drawing/2014/main" id="{C619B356-7944-7DC4-D93C-79A868447C78}"/>
                </a:ext>
              </a:extLst>
            </p:cNvPr>
            <p:cNvSpPr/>
            <p:nvPr/>
          </p:nvSpPr>
          <p:spPr>
            <a:xfrm>
              <a:off x="4183353" y="1644443"/>
              <a:ext cx="140188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Consumer</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3" name="Rectangle 42">
              <a:extLst>
                <a:ext uri="{FF2B5EF4-FFF2-40B4-BE49-F238E27FC236}">
                  <a16:creationId xmlns:a16="http://schemas.microsoft.com/office/drawing/2014/main" id="{A071AA61-75B8-9601-32C7-ED352C4D3901}"/>
                </a:ext>
              </a:extLst>
            </p:cNvPr>
            <p:cNvSpPr/>
            <p:nvPr/>
          </p:nvSpPr>
          <p:spPr>
            <a:xfrm>
              <a:off x="5300953" y="1644443"/>
              <a:ext cx="148644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Electronics</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4" name="Rectangle 43">
              <a:extLst>
                <a:ext uri="{FF2B5EF4-FFF2-40B4-BE49-F238E27FC236}">
                  <a16:creationId xmlns:a16="http://schemas.microsoft.com/office/drawing/2014/main" id="{E27C2B32-5D96-CCEB-1917-72AA3E799363}"/>
                </a:ext>
              </a:extLst>
            </p:cNvPr>
            <p:cNvSpPr/>
            <p:nvPr/>
          </p:nvSpPr>
          <p:spPr>
            <a:xfrm>
              <a:off x="7252475" y="1644443"/>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5" name="Rectangle 44">
              <a:extLst>
                <a:ext uri="{FF2B5EF4-FFF2-40B4-BE49-F238E27FC236}">
                  <a16:creationId xmlns:a16="http://schemas.microsoft.com/office/drawing/2014/main" id="{182EC89E-2507-42EA-F3A0-406CF2CA734F}"/>
                </a:ext>
              </a:extLst>
            </p:cNvPr>
            <p:cNvSpPr/>
            <p:nvPr/>
          </p:nvSpPr>
          <p:spPr>
            <a:xfrm>
              <a:off x="6674917" y="1644443"/>
              <a:ext cx="76836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+0.07</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6" name="Rectangle 45">
              <a:extLst>
                <a:ext uri="{FF2B5EF4-FFF2-40B4-BE49-F238E27FC236}">
                  <a16:creationId xmlns:a16="http://schemas.microsoft.com/office/drawing/2014/main" id="{CB628EFC-2F62-853B-CB2C-222F1D6E0710}"/>
                </a:ext>
              </a:extLst>
            </p:cNvPr>
            <p:cNvSpPr/>
            <p:nvPr/>
          </p:nvSpPr>
          <p:spPr>
            <a:xfrm>
              <a:off x="8070474" y="1644443"/>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120.96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7" name="Rectangle 46">
              <a:extLst>
                <a:ext uri="{FF2B5EF4-FFF2-40B4-BE49-F238E27FC236}">
                  <a16:creationId xmlns:a16="http://schemas.microsoft.com/office/drawing/2014/main" id="{44555773-5E55-C182-6581-60D434C44027}"/>
                </a:ext>
              </a:extLst>
            </p:cNvPr>
            <p:cNvSpPr/>
            <p:nvPr/>
          </p:nvSpPr>
          <p:spPr>
            <a:xfrm>
              <a:off x="1019576" y="2016299"/>
              <a:ext cx="2027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V</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8" name="Rectangle 47">
              <a:extLst>
                <a:ext uri="{FF2B5EF4-FFF2-40B4-BE49-F238E27FC236}">
                  <a16:creationId xmlns:a16="http://schemas.microsoft.com/office/drawing/2014/main" id="{9EDD1358-16FD-900C-CFC5-8DE2DDDE906D}"/>
                </a:ext>
              </a:extLst>
            </p:cNvPr>
            <p:cNvSpPr/>
            <p:nvPr/>
          </p:nvSpPr>
          <p:spPr>
            <a:xfrm>
              <a:off x="2346706" y="2016299"/>
              <a:ext cx="1216122"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Financial</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49" name="Rectangle 48">
              <a:extLst>
                <a:ext uri="{FF2B5EF4-FFF2-40B4-BE49-F238E27FC236}">
                  <a16:creationId xmlns:a16="http://schemas.microsoft.com/office/drawing/2014/main" id="{B24865BE-D9AB-4CA6-C067-FD8714CF1B19}"/>
                </a:ext>
              </a:extLst>
            </p:cNvPr>
            <p:cNvSpPr/>
            <p:nvPr/>
          </p:nvSpPr>
          <p:spPr>
            <a:xfrm>
              <a:off x="4183353" y="2016299"/>
              <a:ext cx="81056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Credit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0" name="Rectangle 49">
              <a:extLst>
                <a:ext uri="{FF2B5EF4-FFF2-40B4-BE49-F238E27FC236}">
                  <a16:creationId xmlns:a16="http://schemas.microsoft.com/office/drawing/2014/main" id="{89CE442C-D697-13BE-A8F7-8A3F44F905E2}"/>
                </a:ext>
              </a:extLst>
            </p:cNvPr>
            <p:cNvSpPr/>
            <p:nvPr/>
          </p:nvSpPr>
          <p:spPr>
            <a:xfrm>
              <a:off x="4856453" y="2016299"/>
              <a:ext cx="1165499"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Services</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1" name="Rectangle 50">
              <a:extLst>
                <a:ext uri="{FF2B5EF4-FFF2-40B4-BE49-F238E27FC236}">
                  <a16:creationId xmlns:a16="http://schemas.microsoft.com/office/drawing/2014/main" id="{B64826DD-1C32-29EC-8AFF-779F00565AC0}"/>
                </a:ext>
              </a:extLst>
            </p:cNvPr>
            <p:cNvSpPr/>
            <p:nvPr/>
          </p:nvSpPr>
          <p:spPr>
            <a:xfrm>
              <a:off x="6674917" y="2016299"/>
              <a:ext cx="101245"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2" name="Rectangle 51">
              <a:extLst>
                <a:ext uri="{FF2B5EF4-FFF2-40B4-BE49-F238E27FC236}">
                  <a16:creationId xmlns:a16="http://schemas.microsoft.com/office/drawing/2014/main" id="{B90ED058-653B-FBE7-998A-EEA0EDDAB14B}"/>
                </a:ext>
              </a:extLst>
            </p:cNvPr>
            <p:cNvSpPr/>
            <p:nvPr/>
          </p:nvSpPr>
          <p:spPr>
            <a:xfrm>
              <a:off x="6751117" y="2016299"/>
              <a:ext cx="591293"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2.06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3" name="Rectangle 52">
              <a:extLst>
                <a:ext uri="{FF2B5EF4-FFF2-40B4-BE49-F238E27FC236}">
                  <a16:creationId xmlns:a16="http://schemas.microsoft.com/office/drawing/2014/main" id="{9A8E3FE3-54D3-B306-2952-E6AC1834586D}"/>
                </a:ext>
              </a:extLst>
            </p:cNvPr>
            <p:cNvSpPr/>
            <p:nvPr/>
          </p:nvSpPr>
          <p:spPr>
            <a:xfrm>
              <a:off x="7195607" y="2016299"/>
              <a:ext cx="27029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4" name="Rectangle 53">
              <a:extLst>
                <a:ext uri="{FF2B5EF4-FFF2-40B4-BE49-F238E27FC236}">
                  <a16:creationId xmlns:a16="http://schemas.microsoft.com/office/drawing/2014/main" id="{8E7F3CB6-C694-FD78-E42F-07435FB473B6}"/>
                </a:ext>
              </a:extLst>
            </p:cNvPr>
            <p:cNvSpPr/>
            <p:nvPr/>
          </p:nvSpPr>
          <p:spPr>
            <a:xfrm>
              <a:off x="8070474" y="2016299"/>
              <a:ext cx="929140" cy="339667"/>
            </a:xfrm>
            <a:prstGeom prst="rect">
              <a:avLst/>
            </a:prstGeom>
            <a:ln>
              <a:noFill/>
            </a:ln>
          </p:spPr>
          <p:txBody>
            <a:bodyPr vert="horz" lIns="0" tIns="0" rIns="0" bIns="0" rtlCol="0">
              <a:noAutofit/>
            </a:bodyPr>
            <a:lstStyle/>
            <a:p>
              <a:pPr marL="0" marR="0">
                <a:lnSpc>
                  <a:spcPct val="107000"/>
                </a:lnSpc>
                <a:spcAft>
                  <a:spcPts val="800"/>
                </a:spcAft>
                <a:buNone/>
              </a:pPr>
              <a:r>
                <a:rPr lang="en-US" sz="3200" kern="100">
                  <a:solidFill>
                    <a:srgbClr val="000000"/>
                  </a:solidFill>
                  <a:effectLst/>
                  <a:latin typeface="Arial" panose="020B0604020202020204" pitchFamily="34" charset="0"/>
                  <a:ea typeface="Arial" panose="020B0604020202020204" pitchFamily="34" charset="0"/>
                </a:rPr>
                <a:t>204.66</a:t>
              </a:r>
              <a:endParaRPr lang="en-US" sz="1800" kern="100">
                <a:solidFill>
                  <a:srgbClr val="000000"/>
                </a:solidFill>
                <a:effectLst/>
                <a:latin typeface="Calibri" panose="020F0502020204030204" pitchFamily="34" charset="0"/>
                <a:ea typeface="Calibri" panose="020F0502020204030204" pitchFamily="34" charset="0"/>
              </a:endParaRPr>
            </a:p>
          </p:txBody>
        </p:sp>
        <p:sp>
          <p:nvSpPr>
            <p:cNvPr id="56" name="Rectangle 55">
              <a:extLst>
                <a:ext uri="{FF2B5EF4-FFF2-40B4-BE49-F238E27FC236}">
                  <a16:creationId xmlns:a16="http://schemas.microsoft.com/office/drawing/2014/main" id="{1810E340-A045-54F9-F981-37DACB1EA1AE}"/>
                </a:ext>
              </a:extLst>
            </p:cNvPr>
            <p:cNvSpPr/>
            <p:nvPr/>
          </p:nvSpPr>
          <p:spPr>
            <a:xfrm>
              <a:off x="0" y="1252727"/>
              <a:ext cx="581229" cy="371140"/>
            </a:xfrm>
            <a:prstGeom prst="rect">
              <a:avLst/>
            </a:prstGeom>
            <a:ln>
              <a:noFill/>
            </a:ln>
          </p:spPr>
          <p:txBody>
            <a:bodyPr vert="horz" lIns="0" tIns="0" rIns="0" bIns="0" rtlCol="0">
              <a:noAutofit/>
            </a:bodyPr>
            <a:lstStyle/>
            <a:p>
              <a:pPr marL="0" marR="0">
                <a:lnSpc>
                  <a:spcPct val="107000"/>
                </a:lnSpc>
                <a:spcAft>
                  <a:spcPts val="800"/>
                </a:spcAft>
                <a:buNone/>
              </a:pPr>
              <a:r>
                <a:rPr lang="en-US" sz="4000" b="1" kern="100">
                  <a:solidFill>
                    <a:srgbClr val="E03A3E"/>
                  </a:solidFill>
                  <a:effectLst/>
                  <a:latin typeface="Calibri" panose="020F0502020204030204" pitchFamily="34" charset="0"/>
                  <a:ea typeface="Calibri" panose="020F0502020204030204" pitchFamily="34" charset="0"/>
                </a:rPr>
                <a:t>Item</a:t>
              </a:r>
              <a:endParaRPr lang="en-US" kern="100">
                <a:solidFill>
                  <a:srgbClr val="000000"/>
                </a:solidFill>
                <a:effectLst/>
                <a:latin typeface="Calibri" panose="020F0502020204030204" pitchFamily="34" charset="0"/>
                <a:ea typeface="Calibri" panose="020F0502020204030204" pitchFamily="34" charset="0"/>
              </a:endParaRPr>
            </a:p>
          </p:txBody>
        </p:sp>
        <p:sp>
          <p:nvSpPr>
            <p:cNvPr id="58" name="Rectangle 57">
              <a:extLst>
                <a:ext uri="{FF2B5EF4-FFF2-40B4-BE49-F238E27FC236}">
                  <a16:creationId xmlns:a16="http://schemas.microsoft.com/office/drawing/2014/main" id="{344DEC07-5999-07E6-7459-95BAE82C0A61}"/>
                </a:ext>
              </a:extLst>
            </p:cNvPr>
            <p:cNvSpPr/>
            <p:nvPr/>
          </p:nvSpPr>
          <p:spPr>
            <a:xfrm>
              <a:off x="6546094" y="0"/>
              <a:ext cx="1143305" cy="371140"/>
            </a:xfrm>
            <a:prstGeom prst="rect">
              <a:avLst/>
            </a:prstGeom>
            <a:ln>
              <a:noFill/>
            </a:ln>
          </p:spPr>
          <p:txBody>
            <a:bodyPr vert="horz" lIns="0" tIns="0" rIns="0" bIns="0" rtlCol="0">
              <a:noAutofit/>
            </a:bodyPr>
            <a:lstStyle/>
            <a:p>
              <a:pPr marL="0" marR="0">
                <a:lnSpc>
                  <a:spcPct val="107000"/>
                </a:lnSpc>
                <a:spcAft>
                  <a:spcPts val="800"/>
                </a:spcAft>
                <a:buNone/>
              </a:pPr>
              <a:r>
                <a:rPr lang="en-US" sz="4000" b="1" kern="100" dirty="0">
                  <a:solidFill>
                    <a:srgbClr val="E03A3E"/>
                  </a:solidFill>
                  <a:effectLst/>
                  <a:latin typeface="Calibri" panose="020F0502020204030204" pitchFamily="34" charset="0"/>
                  <a:ea typeface="Calibri" panose="020F0502020204030204" pitchFamily="34" charset="0"/>
                </a:rPr>
                <a:t>Attribute</a:t>
              </a:r>
              <a:endParaRPr lang="en-US" kern="100" dirty="0">
                <a:solidFill>
                  <a:srgbClr val="000000"/>
                </a:solidFill>
                <a:effectLst/>
                <a:latin typeface="Calibri" panose="020F0502020204030204" pitchFamily="34" charset="0"/>
                <a:ea typeface="Calibri" panose="020F0502020204030204" pitchFamily="34" charset="0"/>
              </a:endParaRPr>
            </a:p>
          </p:txBody>
        </p:sp>
      </p:grpSp>
      <p:pic>
        <p:nvPicPr>
          <p:cNvPr id="116" name="Picture 115" descr="A diagram of software and credit services&#10;&#10;AI-generated content may be incorrect.">
            <a:extLst>
              <a:ext uri="{FF2B5EF4-FFF2-40B4-BE49-F238E27FC236}">
                <a16:creationId xmlns:a16="http://schemas.microsoft.com/office/drawing/2014/main" id="{5297B7D3-C0C1-BFCD-3BD2-C3FC12D27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9295" y="6159231"/>
            <a:ext cx="11454289" cy="5357083"/>
          </a:xfrm>
          <a:prstGeom prst="rect">
            <a:avLst/>
          </a:prstGeom>
        </p:spPr>
      </p:pic>
    </p:spTree>
    <p:extLst>
      <p:ext uri="{BB962C8B-B14F-4D97-AF65-F5344CB8AC3E}">
        <p14:creationId xmlns:p14="http://schemas.microsoft.com/office/powerpoint/2010/main" val="269937399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A2E4E3-697B-8ECC-6169-06762A1A7E73}"/>
              </a:ext>
            </a:extLst>
          </p:cNvPr>
          <p:cNvPicPr/>
          <p:nvPr/>
        </p:nvPicPr>
        <p:blipFill>
          <a:blip r:embed="rId3"/>
          <a:stretch>
            <a:fillRect/>
          </a:stretch>
        </p:blipFill>
        <p:spPr>
          <a:xfrm>
            <a:off x="1884219" y="152400"/>
            <a:ext cx="20615562" cy="13411200"/>
          </a:xfrm>
          <a:prstGeom prst="rect">
            <a:avLst/>
          </a:prstGeom>
        </p:spPr>
      </p:pic>
    </p:spTree>
    <p:extLst>
      <p:ext uri="{BB962C8B-B14F-4D97-AF65-F5344CB8AC3E}">
        <p14:creationId xmlns:p14="http://schemas.microsoft.com/office/powerpoint/2010/main" val="381408152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xfrm>
            <a:off x="831200" y="1186733"/>
            <a:ext cx="22721600" cy="11408800"/>
          </a:xfrm>
          <a:prstGeom prst="rect">
            <a:avLst/>
          </a:prstGeom>
        </p:spPr>
        <p:txBody>
          <a:bodyPr spcFirstLastPara="1" wrap="square" lIns="243800" tIns="243800" rIns="243800" bIns="243800" anchor="ctr" anchorCtr="0">
            <a:normAutofit/>
          </a:bodyPr>
          <a:lstStyle/>
          <a:p>
            <a:r>
              <a:rPr lang="en"/>
              <a:t>A special kind of table </a:t>
            </a:r>
            <a:endParaRPr/>
          </a:p>
          <a:p>
            <a:r>
              <a:rPr lang="en"/>
              <a:t>in data science </a:t>
            </a:r>
            <a:endParaRPr/>
          </a:p>
          <a:p>
            <a:r>
              <a:rPr lang="en"/>
              <a:t>is what we will call </a:t>
            </a:r>
            <a:endParaRPr/>
          </a:p>
          <a:p>
            <a:r>
              <a:rPr lang="en"/>
              <a:t>the </a:t>
            </a:r>
            <a:r>
              <a:rPr lang="en" b="1"/>
              <a:t>standard data table</a:t>
            </a:r>
            <a:endParaRPr b="1"/>
          </a:p>
          <a:p>
            <a:endParaRPr b="1"/>
          </a:p>
          <a:p>
            <a:r>
              <a:rPr lang="en"/>
              <a:t>(sometimes called "tidy data")</a:t>
            </a:r>
            <a:endParaRPr/>
          </a:p>
        </p:txBody>
      </p:sp>
    </p:spTree>
    <p:extLst>
      <p:ext uri="{BB962C8B-B14F-4D97-AF65-F5344CB8AC3E}">
        <p14:creationId xmlns:p14="http://schemas.microsoft.com/office/powerpoint/2010/main" val="1267972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0"/>
          <p:cNvPicPr preferRelativeResize="0"/>
          <p:nvPr/>
        </p:nvPicPr>
        <p:blipFill>
          <a:blip r:embed="rId3">
            <a:alphaModFix/>
          </a:blip>
          <a:stretch>
            <a:fillRect/>
          </a:stretch>
        </p:blipFill>
        <p:spPr>
          <a:xfrm>
            <a:off x="0" y="3095676"/>
            <a:ext cx="24384000" cy="10577896"/>
          </a:xfrm>
          <a:prstGeom prst="rect">
            <a:avLst/>
          </a:prstGeom>
          <a:noFill/>
          <a:ln>
            <a:noFill/>
          </a:ln>
        </p:spPr>
      </p:pic>
      <p:sp>
        <p:nvSpPr>
          <p:cNvPr id="182" name="Google Shape;182;p20"/>
          <p:cNvSpPr/>
          <p:nvPr/>
        </p:nvSpPr>
        <p:spPr>
          <a:xfrm>
            <a:off x="1058333" y="2963333"/>
            <a:ext cx="23095200" cy="1340800"/>
          </a:xfrm>
          <a:prstGeom prst="roundRect">
            <a:avLst>
              <a:gd name="adj" fmla="val 16667"/>
            </a:avLst>
          </a:prstGeom>
          <a:noFill/>
          <a:ln w="28575" cap="flat" cmpd="sng">
            <a:solidFill>
              <a:srgbClr val="38761D"/>
            </a:solidFill>
            <a:prstDash val="solid"/>
            <a:round/>
            <a:headEnd type="none" w="sm" len="sm"/>
            <a:tailEnd type="none" w="sm" len="sm"/>
          </a:ln>
        </p:spPr>
        <p:txBody>
          <a:bodyPr spcFirstLastPara="1" wrap="square" lIns="243800" tIns="243800" rIns="243800" bIns="243800" anchor="ctr" anchorCtr="0">
            <a:noAutofit/>
          </a:bodyPr>
          <a:lstStyle/>
          <a:p>
            <a:endParaRPr sz="6400">
              <a:latin typeface="Lato"/>
              <a:ea typeface="Lato"/>
              <a:cs typeface="Lato"/>
              <a:sym typeface="Lato"/>
            </a:endParaRPr>
          </a:p>
        </p:txBody>
      </p:sp>
      <p:sp>
        <p:nvSpPr>
          <p:cNvPr id="183" name="Google Shape;183;p20"/>
          <p:cNvSpPr/>
          <p:nvPr/>
        </p:nvSpPr>
        <p:spPr>
          <a:xfrm>
            <a:off x="427067" y="4750733"/>
            <a:ext cx="960800" cy="8923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243800" tIns="243800" rIns="243800" bIns="243800" anchor="ctr" anchorCtr="0">
            <a:noAutofit/>
          </a:bodyPr>
          <a:lstStyle/>
          <a:p>
            <a:endParaRPr sz="6400">
              <a:latin typeface="Lato"/>
              <a:ea typeface="Lato"/>
              <a:cs typeface="Lato"/>
              <a:sym typeface="Lato"/>
            </a:endParaRPr>
          </a:p>
        </p:txBody>
      </p:sp>
      <p:sp>
        <p:nvSpPr>
          <p:cNvPr id="184" name="Google Shape;184;p20"/>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a:bodyPr>
          <a:lstStyle/>
          <a:p>
            <a:r>
              <a:rPr lang="en"/>
              <a:t>Anatomy of a Data Table</a:t>
            </a:r>
            <a:endParaRPr/>
          </a:p>
        </p:txBody>
      </p:sp>
      <p:sp>
        <p:nvSpPr>
          <p:cNvPr id="185" name="Google Shape;185;p20"/>
          <p:cNvSpPr/>
          <p:nvPr/>
        </p:nvSpPr>
        <p:spPr>
          <a:xfrm>
            <a:off x="1488267" y="4740712"/>
            <a:ext cx="22896000" cy="8923200"/>
          </a:xfrm>
          <a:prstGeom prst="roundRect">
            <a:avLst>
              <a:gd name="adj" fmla="val 1951"/>
            </a:avLst>
          </a:prstGeom>
          <a:noFill/>
          <a:ln w="28575" cap="flat" cmpd="sng">
            <a:solidFill>
              <a:srgbClr val="1155CC"/>
            </a:solidFill>
            <a:prstDash val="solid"/>
            <a:round/>
            <a:headEnd type="none" w="sm" len="sm"/>
            <a:tailEnd type="none" w="sm" len="sm"/>
          </a:ln>
        </p:spPr>
        <p:txBody>
          <a:bodyPr spcFirstLastPara="1" wrap="square" lIns="243800" tIns="243800" rIns="243800" bIns="243800" anchor="ctr" anchorCtr="0">
            <a:noAutofit/>
          </a:bodyPr>
          <a:lstStyle/>
          <a:p>
            <a:endParaRPr sz="6400">
              <a:latin typeface="Lato"/>
              <a:ea typeface="Lato"/>
              <a:cs typeface="Lato"/>
              <a:sym typeface="Lato"/>
            </a:endParaRPr>
          </a:p>
        </p:txBody>
      </p:sp>
      <p:sp>
        <p:nvSpPr>
          <p:cNvPr id="186" name="Google Shape;186;p20"/>
          <p:cNvSpPr txBox="1"/>
          <p:nvPr/>
        </p:nvSpPr>
        <p:spPr>
          <a:xfrm>
            <a:off x="13320584" y="176335"/>
            <a:ext cx="10760848" cy="2154355"/>
          </a:xfrm>
          <a:prstGeom prst="rect">
            <a:avLst/>
          </a:prstGeom>
          <a:noFill/>
          <a:ln>
            <a:noFill/>
          </a:ln>
        </p:spPr>
        <p:txBody>
          <a:bodyPr spcFirstLastPara="1" wrap="square" lIns="243800" tIns="243800" rIns="243800" bIns="243800" anchor="t" anchorCtr="0">
            <a:spAutoFit/>
          </a:bodyPr>
          <a:lstStyle/>
          <a:p>
            <a:pPr algn="l"/>
            <a:r>
              <a:rPr lang="en" sz="3600" dirty="0">
                <a:solidFill>
                  <a:srgbClr val="FF0000"/>
                </a:solidFill>
                <a:latin typeface="Lato"/>
                <a:ea typeface="Lato"/>
                <a:cs typeface="Lato"/>
                <a:sym typeface="Lato"/>
              </a:rPr>
              <a:t>Row names (axis 0) → unique observations</a:t>
            </a:r>
            <a:br>
              <a:rPr lang="en" sz="3600" dirty="0">
                <a:solidFill>
                  <a:srgbClr val="FF0000"/>
                </a:solidFill>
                <a:latin typeface="Lato"/>
                <a:ea typeface="Lato"/>
                <a:cs typeface="Lato"/>
                <a:sym typeface="Lato"/>
              </a:rPr>
            </a:br>
            <a:r>
              <a:rPr lang="en" sz="3600" dirty="0">
                <a:solidFill>
                  <a:srgbClr val="38761D"/>
                </a:solidFill>
                <a:latin typeface="Lato"/>
                <a:ea typeface="Lato"/>
                <a:cs typeface="Lato"/>
                <a:sym typeface="Lato"/>
              </a:rPr>
              <a:t>Column names (axis 1) → features, aka variables</a:t>
            </a:r>
            <a:br>
              <a:rPr lang="en" sz="3600" dirty="0">
                <a:solidFill>
                  <a:schemeClr val="dk1"/>
                </a:solidFill>
                <a:latin typeface="Lato"/>
                <a:ea typeface="Lato"/>
                <a:cs typeface="Lato"/>
                <a:sym typeface="Lato"/>
              </a:rPr>
            </a:br>
            <a:r>
              <a:rPr lang="en" sz="3600" dirty="0">
                <a:solidFill>
                  <a:schemeClr val="dk1"/>
                </a:solidFill>
                <a:latin typeface="Lato"/>
                <a:ea typeface="Lato"/>
                <a:cs typeface="Lato"/>
                <a:sym typeface="Lato"/>
              </a:rPr>
              <a:t>and </a:t>
            </a:r>
            <a:r>
              <a:rPr lang="en" sz="3600" dirty="0">
                <a:solidFill>
                  <a:srgbClr val="1155CC"/>
                </a:solidFill>
                <a:latin typeface="Lato"/>
                <a:ea typeface="Lato"/>
                <a:cs typeface="Lato"/>
                <a:sym typeface="Lato"/>
              </a:rPr>
              <a:t>the data formed by their "product" </a:t>
            </a:r>
            <a:endParaRPr sz="3600" dirty="0">
              <a:solidFill>
                <a:srgbClr val="1155CC"/>
              </a:solidFill>
              <a:latin typeface="Lato"/>
              <a:ea typeface="Lato"/>
              <a:cs typeface="Lato"/>
              <a:sym typeface="Lato"/>
            </a:endParaRPr>
          </a:p>
        </p:txBody>
      </p:sp>
    </p:spTree>
    <p:extLst>
      <p:ext uri="{BB962C8B-B14F-4D97-AF65-F5344CB8AC3E}">
        <p14:creationId xmlns:p14="http://schemas.microsoft.com/office/powerpoint/2010/main" val="1749875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a:bodyPr>
          <a:lstStyle/>
          <a:p>
            <a:r>
              <a:rPr lang="en"/>
              <a:t>Reading along Axis 0</a:t>
            </a:r>
            <a:endParaRPr/>
          </a:p>
        </p:txBody>
      </p:sp>
      <p:pic>
        <p:nvPicPr>
          <p:cNvPr id="217" name="Google Shape;217;p25"/>
          <p:cNvPicPr preferRelativeResize="0"/>
          <p:nvPr/>
        </p:nvPicPr>
        <p:blipFill>
          <a:blip r:embed="rId3">
            <a:alphaModFix/>
          </a:blip>
          <a:stretch>
            <a:fillRect/>
          </a:stretch>
        </p:blipFill>
        <p:spPr>
          <a:xfrm>
            <a:off x="0" y="3095676"/>
            <a:ext cx="24384000" cy="10577896"/>
          </a:xfrm>
          <a:prstGeom prst="rect">
            <a:avLst/>
          </a:prstGeom>
          <a:noFill/>
          <a:ln>
            <a:noFill/>
          </a:ln>
        </p:spPr>
      </p:pic>
      <p:cxnSp>
        <p:nvCxnSpPr>
          <p:cNvPr id="218" name="Google Shape;218;p25"/>
          <p:cNvCxnSpPr/>
          <p:nvPr/>
        </p:nvCxnSpPr>
        <p:spPr>
          <a:xfrm flipH="1">
            <a:off x="1370920" y="4809800"/>
            <a:ext cx="3200" cy="8863200"/>
          </a:xfrm>
          <a:prstGeom prst="straightConnector1">
            <a:avLst/>
          </a:prstGeom>
          <a:noFill/>
          <a:ln w="38100" cap="flat" cmpd="sng">
            <a:solidFill>
              <a:srgbClr val="FF0000"/>
            </a:solidFill>
            <a:prstDash val="solid"/>
            <a:round/>
            <a:headEnd type="none" w="med" len="med"/>
            <a:tailEnd type="triangle" w="med" len="med"/>
          </a:ln>
        </p:spPr>
      </p:cxnSp>
      <p:cxnSp>
        <p:nvCxnSpPr>
          <p:cNvPr id="219" name="Google Shape;219;p25"/>
          <p:cNvCxnSpPr/>
          <p:nvPr/>
        </p:nvCxnSpPr>
        <p:spPr>
          <a:xfrm flipH="1">
            <a:off x="3943344" y="4773771"/>
            <a:ext cx="3200" cy="8863200"/>
          </a:xfrm>
          <a:prstGeom prst="straightConnector1">
            <a:avLst/>
          </a:prstGeom>
          <a:noFill/>
          <a:ln w="38100" cap="flat" cmpd="sng">
            <a:solidFill>
              <a:srgbClr val="FF0000"/>
            </a:solidFill>
            <a:prstDash val="solid"/>
            <a:round/>
            <a:headEnd type="none" w="med" len="med"/>
            <a:tailEnd type="triangle" w="med" len="med"/>
          </a:ln>
        </p:spPr>
      </p:cxnSp>
      <p:cxnSp>
        <p:nvCxnSpPr>
          <p:cNvPr id="220" name="Google Shape;220;p25"/>
          <p:cNvCxnSpPr/>
          <p:nvPr/>
        </p:nvCxnSpPr>
        <p:spPr>
          <a:xfrm flipH="1">
            <a:off x="4756144" y="4773771"/>
            <a:ext cx="3200" cy="88632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6"/>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fontScale="90000"/>
          </a:bodyPr>
          <a:lstStyle/>
          <a:p>
            <a:pPr>
              <a:buClr>
                <a:schemeClr val="dk1"/>
              </a:buClr>
              <a:buSzPct val="39286"/>
            </a:pPr>
            <a:r>
              <a:rPr lang="en"/>
              <a:t>Reading along Axis 0</a:t>
            </a:r>
            <a:endParaRPr/>
          </a:p>
          <a:p>
            <a:endParaRPr/>
          </a:p>
        </p:txBody>
      </p:sp>
      <p:sp>
        <p:nvSpPr>
          <p:cNvPr id="226" name="Google Shape;226;p26"/>
          <p:cNvSpPr txBox="1">
            <a:spLocks noGrp="1"/>
          </p:cNvSpPr>
          <p:nvPr>
            <p:ph type="body" idx="1"/>
          </p:nvPr>
        </p:nvSpPr>
        <p:spPr>
          <a:xfrm>
            <a:off x="597333" y="2421267"/>
            <a:ext cx="13705600" cy="10431200"/>
          </a:xfrm>
          <a:prstGeom prst="rect">
            <a:avLst/>
          </a:prstGeom>
        </p:spPr>
        <p:txBody>
          <a:bodyPr spcFirstLastPara="1" wrap="square" lIns="243800" tIns="243800" rIns="243800" bIns="243800" anchor="t" anchorCtr="0">
            <a:normAutofit/>
          </a:bodyPr>
          <a:lstStyle/>
          <a:p>
            <a:pPr rtl="0">
              <a:spcBef>
                <a:spcPts val="1600"/>
              </a:spcBef>
            </a:pPr>
            <a:r>
              <a:rPr lang="en" sz="4800" dirty="0"/>
              <a:t>Looks at </a:t>
            </a:r>
            <a:r>
              <a:rPr lang="en" sz="4800" b="1" dirty="0"/>
              <a:t>one feature at a time</a:t>
            </a:r>
            <a:endParaRPr sz="4800" b="1" dirty="0"/>
          </a:p>
          <a:p>
            <a:pPr marL="1219215" rtl="0">
              <a:spcBef>
                <a:spcPts val="3200"/>
              </a:spcBef>
            </a:pPr>
            <a:r>
              <a:rPr lang="en" sz="4800" dirty="0"/>
              <a:t>A feature is a variable</a:t>
            </a:r>
            <a:endParaRPr sz="4800" dirty="0"/>
          </a:p>
          <a:p>
            <a:pPr rtl="0">
              <a:spcBef>
                <a:spcPts val="3200"/>
              </a:spcBef>
            </a:pPr>
            <a:r>
              <a:rPr lang="en" sz="4800" dirty="0"/>
              <a:t>All </a:t>
            </a:r>
            <a:r>
              <a:rPr lang="en" sz="4800" b="1" dirty="0"/>
              <a:t>values</a:t>
            </a:r>
            <a:r>
              <a:rPr lang="en" sz="4800" dirty="0"/>
              <a:t> in the column are of the </a:t>
            </a:r>
            <a:r>
              <a:rPr lang="en" sz="4800" b="1" dirty="0"/>
              <a:t>same</a:t>
            </a:r>
            <a:r>
              <a:rPr lang="en" sz="4800" dirty="0"/>
              <a:t> type</a:t>
            </a:r>
            <a:endParaRPr sz="4800" dirty="0"/>
          </a:p>
          <a:p>
            <a:pPr rtl="0">
              <a:spcBef>
                <a:spcPts val="3200"/>
              </a:spcBef>
            </a:pPr>
            <a:r>
              <a:rPr lang="en" sz="4800" dirty="0"/>
              <a:t>All the values come from the "</a:t>
            </a:r>
            <a:r>
              <a:rPr lang="en" sz="4800" b="1" dirty="0"/>
              <a:t>domain</a:t>
            </a:r>
            <a:r>
              <a:rPr lang="en" sz="4800" dirty="0"/>
              <a:t>" of the variable</a:t>
            </a:r>
            <a:endParaRPr sz="4800" dirty="0"/>
          </a:p>
          <a:p>
            <a:pPr rtl="0">
              <a:spcBef>
                <a:spcPts val="3200"/>
              </a:spcBef>
            </a:pPr>
            <a:r>
              <a:rPr lang="en" sz="4800" b="1" dirty="0"/>
              <a:t>→ </a:t>
            </a:r>
            <a:r>
              <a:rPr lang="en" sz="4800" i="1" dirty="0"/>
              <a:t>Most visualizations pull data from along axis 0</a:t>
            </a:r>
            <a:endParaRPr sz="4800" dirty="0"/>
          </a:p>
          <a:p>
            <a:pPr rtl="0">
              <a:spcBef>
                <a:spcPts val="3200"/>
              </a:spcBef>
              <a:spcAft>
                <a:spcPts val="3200"/>
              </a:spcAft>
            </a:pPr>
            <a:r>
              <a:rPr lang="en" sz="4800" dirty="0"/>
              <a:t>Ironically, called "column-wise"</a:t>
            </a:r>
            <a:endParaRPr sz="4800" dirty="0"/>
          </a:p>
        </p:txBody>
      </p:sp>
      <p:pic>
        <p:nvPicPr>
          <p:cNvPr id="227" name="Google Shape;227;p26"/>
          <p:cNvPicPr preferRelativeResize="0"/>
          <p:nvPr/>
        </p:nvPicPr>
        <p:blipFill rotWithShape="1">
          <a:blip r:embed="rId3">
            <a:alphaModFix/>
          </a:blip>
          <a:srcRect r="14952"/>
          <a:stretch/>
        </p:blipFill>
        <p:spPr>
          <a:xfrm rot="938418">
            <a:off x="15102533" y="1"/>
            <a:ext cx="1776400" cy="13528664"/>
          </a:xfrm>
          <a:prstGeom prst="rect">
            <a:avLst/>
          </a:prstGeom>
          <a:noFill/>
          <a:ln>
            <a:noFill/>
          </a:ln>
          <a:effectLst>
            <a:outerShdw blurRad="57150" dist="19050" dir="5400000" algn="bl" rotWithShape="0">
              <a:srgbClr val="000000">
                <a:alpha val="50000"/>
              </a:srgbClr>
            </a:outerShdw>
          </a:effectLst>
        </p:spPr>
      </p:pic>
      <p:pic>
        <p:nvPicPr>
          <p:cNvPr id="228" name="Google Shape;228;p26"/>
          <p:cNvPicPr preferRelativeResize="0"/>
          <p:nvPr/>
        </p:nvPicPr>
        <p:blipFill>
          <a:blip r:embed="rId4">
            <a:alphaModFix/>
          </a:blip>
          <a:stretch>
            <a:fillRect/>
          </a:stretch>
        </p:blipFill>
        <p:spPr>
          <a:xfrm rot="971714">
            <a:off x="17895588" y="-36026"/>
            <a:ext cx="1979629" cy="13716003"/>
          </a:xfrm>
          <a:prstGeom prst="rect">
            <a:avLst/>
          </a:prstGeom>
          <a:noFill/>
          <a:ln>
            <a:noFill/>
          </a:ln>
          <a:effectLst>
            <a:outerShdw blurRad="57150" dist="19050" dir="5400000" algn="bl" rotWithShape="0">
              <a:srgbClr val="000000">
                <a:alpha val="50000"/>
              </a:srgbClr>
            </a:outerShdw>
          </a:effectLst>
        </p:spPr>
      </p:pic>
      <p:pic>
        <p:nvPicPr>
          <p:cNvPr id="229" name="Google Shape;229;p26"/>
          <p:cNvPicPr preferRelativeResize="0"/>
          <p:nvPr/>
        </p:nvPicPr>
        <p:blipFill rotWithShape="1">
          <a:blip r:embed="rId5">
            <a:alphaModFix/>
          </a:blip>
          <a:srcRect r="10266"/>
          <a:stretch/>
        </p:blipFill>
        <p:spPr>
          <a:xfrm rot="876908">
            <a:off x="20846000" y="93667"/>
            <a:ext cx="1861296" cy="13528667"/>
          </a:xfrm>
          <a:prstGeom prst="rect">
            <a:avLst/>
          </a:prstGeom>
          <a:noFill/>
          <a:ln>
            <a:noFill/>
          </a:ln>
          <a:effectLst>
            <a:outerShdw blurRad="57150" dist="19050" dir="5400000" algn="bl" rotWithShape="0">
              <a:srgbClr val="000000">
                <a:alpha val="50000"/>
              </a:srgbClr>
            </a:outerShdw>
          </a:effec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a:bodyPr>
          <a:lstStyle/>
          <a:p>
            <a:r>
              <a:rPr lang="en"/>
              <a:t>Reading along Axis 1</a:t>
            </a:r>
            <a:endParaRPr/>
          </a:p>
        </p:txBody>
      </p:sp>
      <p:pic>
        <p:nvPicPr>
          <p:cNvPr id="235" name="Google Shape;235;p27"/>
          <p:cNvPicPr preferRelativeResize="0"/>
          <p:nvPr/>
        </p:nvPicPr>
        <p:blipFill>
          <a:blip r:embed="rId3">
            <a:alphaModFix/>
          </a:blip>
          <a:stretch>
            <a:fillRect/>
          </a:stretch>
        </p:blipFill>
        <p:spPr>
          <a:xfrm>
            <a:off x="0" y="3095676"/>
            <a:ext cx="24384000" cy="10577896"/>
          </a:xfrm>
          <a:prstGeom prst="rect">
            <a:avLst/>
          </a:prstGeom>
          <a:noFill/>
          <a:ln>
            <a:noFill/>
          </a:ln>
        </p:spPr>
      </p:pic>
      <p:cxnSp>
        <p:nvCxnSpPr>
          <p:cNvPr id="236" name="Google Shape;236;p27"/>
          <p:cNvCxnSpPr/>
          <p:nvPr/>
        </p:nvCxnSpPr>
        <p:spPr>
          <a:xfrm>
            <a:off x="0" y="4930224"/>
            <a:ext cx="24384000" cy="0"/>
          </a:xfrm>
          <a:prstGeom prst="straightConnector1">
            <a:avLst/>
          </a:prstGeom>
          <a:noFill/>
          <a:ln w="38100" cap="flat" cmpd="sng">
            <a:solidFill>
              <a:srgbClr val="FF0000"/>
            </a:solidFill>
            <a:prstDash val="solid"/>
            <a:round/>
            <a:headEnd type="none" w="med" len="med"/>
            <a:tailEnd type="triangle" w="med" len="med"/>
          </a:ln>
        </p:spPr>
      </p:cxnSp>
      <p:cxnSp>
        <p:nvCxnSpPr>
          <p:cNvPr id="237" name="Google Shape;237;p27"/>
          <p:cNvCxnSpPr/>
          <p:nvPr/>
        </p:nvCxnSpPr>
        <p:spPr>
          <a:xfrm>
            <a:off x="0" y="5833093"/>
            <a:ext cx="24384000" cy="0"/>
          </a:xfrm>
          <a:prstGeom prst="straightConnector1">
            <a:avLst/>
          </a:prstGeom>
          <a:noFill/>
          <a:ln w="38100" cap="flat" cmpd="sng">
            <a:solidFill>
              <a:srgbClr val="FF0000"/>
            </a:solidFill>
            <a:prstDash val="solid"/>
            <a:round/>
            <a:headEnd type="none" w="med" len="med"/>
            <a:tailEnd type="triangle" w="med" len="med"/>
          </a:ln>
        </p:spPr>
      </p:cxnSp>
      <p:cxnSp>
        <p:nvCxnSpPr>
          <p:cNvPr id="238" name="Google Shape;238;p27"/>
          <p:cNvCxnSpPr/>
          <p:nvPr/>
        </p:nvCxnSpPr>
        <p:spPr>
          <a:xfrm>
            <a:off x="0" y="6795051"/>
            <a:ext cx="24384000" cy="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8"/>
          <p:cNvSpPr txBox="1">
            <a:spLocks noGrp="1"/>
          </p:cNvSpPr>
          <p:nvPr>
            <p:ph type="title"/>
          </p:nvPr>
        </p:nvSpPr>
        <p:spPr>
          <a:xfrm>
            <a:off x="597645" y="609267"/>
            <a:ext cx="22806400" cy="1527200"/>
          </a:xfrm>
          <a:prstGeom prst="rect">
            <a:avLst/>
          </a:prstGeom>
        </p:spPr>
        <p:txBody>
          <a:bodyPr spcFirstLastPara="1" wrap="square" lIns="243800" tIns="243800" rIns="243800" bIns="243800" anchor="t" anchorCtr="0">
            <a:normAutofit fontScale="90000"/>
          </a:bodyPr>
          <a:lstStyle/>
          <a:p>
            <a:r>
              <a:rPr lang="en"/>
              <a:t>Reading along Axis 1</a:t>
            </a:r>
            <a:endParaRPr/>
          </a:p>
          <a:p>
            <a:endParaRPr/>
          </a:p>
        </p:txBody>
      </p:sp>
      <p:sp>
        <p:nvSpPr>
          <p:cNvPr id="244" name="Google Shape;244;p28"/>
          <p:cNvSpPr txBox="1">
            <a:spLocks noGrp="1"/>
          </p:cNvSpPr>
          <p:nvPr>
            <p:ph type="body" idx="1"/>
          </p:nvPr>
        </p:nvSpPr>
        <p:spPr>
          <a:xfrm>
            <a:off x="597333" y="2421267"/>
            <a:ext cx="22806400" cy="10431200"/>
          </a:xfrm>
          <a:prstGeom prst="rect">
            <a:avLst/>
          </a:prstGeom>
        </p:spPr>
        <p:txBody>
          <a:bodyPr spcFirstLastPara="1" wrap="square" lIns="243800" tIns="243800" rIns="243800" bIns="243800" anchor="t" anchorCtr="0">
            <a:normAutofit/>
          </a:bodyPr>
          <a:lstStyle/>
          <a:p>
            <a:pPr rtl="0">
              <a:spcBef>
                <a:spcPts val="1600"/>
              </a:spcBef>
            </a:pPr>
            <a:r>
              <a:rPr lang="en" sz="4800" dirty="0"/>
              <a:t>Looks at one observation at a time</a:t>
            </a:r>
            <a:endParaRPr sz="4800" dirty="0"/>
          </a:p>
          <a:p>
            <a:pPr rtl="0">
              <a:spcBef>
                <a:spcPts val="3200"/>
              </a:spcBef>
            </a:pPr>
            <a:r>
              <a:rPr lang="en" sz="4800" dirty="0"/>
              <a:t>The values in the row may be of different types</a:t>
            </a:r>
            <a:endParaRPr sz="4800" dirty="0"/>
          </a:p>
          <a:p>
            <a:pPr rtl="0">
              <a:spcBef>
                <a:spcPts val="3200"/>
              </a:spcBef>
            </a:pPr>
            <a:r>
              <a:rPr lang="en" sz="4800" dirty="0"/>
              <a:t>The values together represent a kind of signature</a:t>
            </a:r>
            <a:endParaRPr sz="4800" dirty="0"/>
          </a:p>
          <a:p>
            <a:pPr rtl="0">
              <a:spcBef>
                <a:spcPts val="3200"/>
              </a:spcBef>
            </a:pPr>
            <a:r>
              <a:rPr lang="en" sz="4800" i="1" dirty="0"/>
              <a:t>Some visualizations pull data from along axis 1</a:t>
            </a:r>
            <a:endParaRPr sz="4800" i="1" dirty="0"/>
          </a:p>
          <a:p>
            <a:pPr rtl="0">
              <a:spcBef>
                <a:spcPts val="3200"/>
              </a:spcBef>
            </a:pPr>
            <a:r>
              <a:rPr lang="en" sz="4800" dirty="0"/>
              <a:t>"row-wise"</a:t>
            </a:r>
            <a:endParaRPr sz="4800" dirty="0"/>
          </a:p>
          <a:p>
            <a:pPr rtl="0">
              <a:spcBef>
                <a:spcPts val="3200"/>
              </a:spcBef>
              <a:spcAft>
                <a:spcPts val="3200"/>
              </a:spcAft>
            </a:pPr>
            <a:endParaRPr sz="4800" dirty="0"/>
          </a:p>
        </p:txBody>
      </p:sp>
      <p:pic>
        <p:nvPicPr>
          <p:cNvPr id="245" name="Google Shape;245;p28"/>
          <p:cNvPicPr preferRelativeResize="0"/>
          <p:nvPr/>
        </p:nvPicPr>
        <p:blipFill>
          <a:blip r:embed="rId3">
            <a:alphaModFix/>
          </a:blip>
          <a:stretch>
            <a:fillRect/>
          </a:stretch>
        </p:blipFill>
        <p:spPr>
          <a:xfrm rot="-330971">
            <a:off x="1" y="7904008"/>
            <a:ext cx="24384003" cy="898357"/>
          </a:xfrm>
          <a:prstGeom prst="rect">
            <a:avLst/>
          </a:prstGeom>
          <a:noFill/>
          <a:ln>
            <a:noFill/>
          </a:ln>
          <a:effectLst>
            <a:outerShdw blurRad="57150" dist="19050" dir="5400000" algn="bl" rotWithShape="0">
              <a:srgbClr val="000000">
                <a:alpha val="50000"/>
              </a:srgbClr>
            </a:outerShdw>
          </a:effectLst>
        </p:spPr>
      </p:pic>
      <p:pic>
        <p:nvPicPr>
          <p:cNvPr id="246" name="Google Shape;246;p28"/>
          <p:cNvPicPr preferRelativeResize="0"/>
          <p:nvPr/>
        </p:nvPicPr>
        <p:blipFill>
          <a:blip r:embed="rId4">
            <a:alphaModFix/>
          </a:blip>
          <a:stretch>
            <a:fillRect/>
          </a:stretch>
        </p:blipFill>
        <p:spPr>
          <a:xfrm rot="-386178">
            <a:off x="0" y="9399960"/>
            <a:ext cx="24384000" cy="953061"/>
          </a:xfrm>
          <a:prstGeom prst="rect">
            <a:avLst/>
          </a:prstGeom>
          <a:noFill/>
          <a:ln>
            <a:noFill/>
          </a:ln>
          <a:effectLst>
            <a:outerShdw blurRad="57150" dist="19050" dir="5400000" algn="bl" rotWithShape="0">
              <a:srgbClr val="000000">
                <a:alpha val="50000"/>
              </a:srgbClr>
            </a:outerShdw>
          </a:effectLst>
        </p:spPr>
      </p:pic>
      <p:pic>
        <p:nvPicPr>
          <p:cNvPr id="247" name="Google Shape;247;p28"/>
          <p:cNvPicPr preferRelativeResize="0"/>
          <p:nvPr/>
        </p:nvPicPr>
        <p:blipFill>
          <a:blip r:embed="rId5">
            <a:alphaModFix/>
          </a:blip>
          <a:stretch>
            <a:fillRect/>
          </a:stretch>
        </p:blipFill>
        <p:spPr>
          <a:xfrm rot="-415542">
            <a:off x="-7946" y="10985840"/>
            <a:ext cx="24384003" cy="863787"/>
          </a:xfrm>
          <a:prstGeom prst="rect">
            <a:avLst/>
          </a:prstGeom>
          <a:noFill/>
          <a:ln>
            <a:noFill/>
          </a:ln>
          <a:effectLst>
            <a:outerShdw blurRad="57150" dist="19050" dir="5400000" algn="bl" rotWithShape="0">
              <a:srgbClr val="000000">
                <a:alpha val="50000"/>
              </a:srgbClr>
            </a:outerShdw>
          </a:effectLst>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A6C1-7B55-9C48-A3B7-18BAE8006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5F9DB-D5A4-5496-2E0F-E9294676202A}"/>
              </a:ext>
            </a:extLst>
          </p:cNvPr>
          <p:cNvSpPr>
            <a:spLocks noGrp="1"/>
          </p:cNvSpPr>
          <p:nvPr>
            <p:ph type="title"/>
          </p:nvPr>
        </p:nvSpPr>
        <p:spPr/>
        <p:txBody>
          <a:bodyPr/>
          <a:lstStyle/>
          <a:p>
            <a:r>
              <a:rPr lang="en-US" dirty="0"/>
              <a:t>Tidy Data Tables</a:t>
            </a:r>
          </a:p>
        </p:txBody>
      </p:sp>
      <p:sp>
        <p:nvSpPr>
          <p:cNvPr id="3" name="Text Placeholder 2">
            <a:extLst>
              <a:ext uri="{FF2B5EF4-FFF2-40B4-BE49-F238E27FC236}">
                <a16:creationId xmlns:a16="http://schemas.microsoft.com/office/drawing/2014/main" id="{280327EB-FFA8-30C3-0C98-1F143070991C}"/>
              </a:ext>
            </a:extLst>
          </p:cNvPr>
          <p:cNvSpPr>
            <a:spLocks noGrp="1"/>
          </p:cNvSpPr>
          <p:nvPr>
            <p:ph type="body" sz="quarter" idx="21"/>
          </p:nvPr>
        </p:nvSpPr>
        <p:spPr/>
        <p:txBody>
          <a:bodyPr/>
          <a:lstStyle/>
          <a:p>
            <a:r>
              <a:rPr lang="en-US" dirty="0"/>
              <a:t>Wide vs. Long Data Table</a:t>
            </a:r>
          </a:p>
        </p:txBody>
      </p:sp>
      <p:sp>
        <p:nvSpPr>
          <p:cNvPr id="5" name="TextBox 4">
            <a:extLst>
              <a:ext uri="{FF2B5EF4-FFF2-40B4-BE49-F238E27FC236}">
                <a16:creationId xmlns:a16="http://schemas.microsoft.com/office/drawing/2014/main" id="{2A10BD7A-762F-1CB4-A97A-08404056B177}"/>
              </a:ext>
            </a:extLst>
          </p:cNvPr>
          <p:cNvSpPr txBox="1"/>
          <p:nvPr/>
        </p:nvSpPr>
        <p:spPr>
          <a:xfrm>
            <a:off x="12192000" y="11755261"/>
            <a:ext cx="11758027"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3200" dirty="0"/>
              <a:t>“</a:t>
            </a:r>
            <a:r>
              <a:rPr lang="en-US" sz="3200" dirty="0">
                <a:hlinkClick r:id="rId3"/>
              </a:rPr>
              <a:t>Tidy</a:t>
            </a:r>
            <a:r>
              <a:rPr lang="en-US" sz="3200" u="sng" dirty="0"/>
              <a:t> </a:t>
            </a:r>
            <a:r>
              <a:rPr lang="en-US" sz="3200" dirty="0">
                <a:hlinkClick r:id="rId3"/>
              </a:rPr>
              <a:t>Data”</a:t>
            </a:r>
            <a:r>
              <a:rPr lang="en-US" sz="3200" dirty="0"/>
              <a:t>, </a:t>
            </a:r>
            <a:r>
              <a:rPr lang="en-US" sz="3200" i="1" dirty="0"/>
              <a:t>Journal of Statistical Software</a:t>
            </a:r>
            <a:r>
              <a:rPr lang="en-US" sz="3200" dirty="0"/>
              <a:t>, by Hadley Wickham</a:t>
            </a:r>
          </a:p>
          <a:p>
            <a:pPr marL="0" marR="0" indent="0" algn="ctr" defTabSz="2438338"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5E5E5E"/>
              </a:solidFill>
              <a:effectLst/>
              <a:uFillTx/>
              <a:latin typeface="+mn-lt"/>
              <a:ea typeface="+mn-ea"/>
              <a:cs typeface="+mn-cs"/>
              <a:sym typeface="Helvetica Neue"/>
            </a:endParaRPr>
          </a:p>
        </p:txBody>
      </p:sp>
      <p:pic>
        <p:nvPicPr>
          <p:cNvPr id="8" name="Picture 7">
            <a:extLst>
              <a:ext uri="{FF2B5EF4-FFF2-40B4-BE49-F238E27FC236}">
                <a16:creationId xmlns:a16="http://schemas.microsoft.com/office/drawing/2014/main" id="{E5C3EC3A-A4E3-C1FE-E8EE-B26BA93D8935}"/>
              </a:ext>
            </a:extLst>
          </p:cNvPr>
          <p:cNvPicPr>
            <a:picLocks noChangeAspect="1"/>
          </p:cNvPicPr>
          <p:nvPr/>
        </p:nvPicPr>
        <p:blipFill>
          <a:blip r:embed="rId4"/>
          <a:stretch>
            <a:fillRect/>
          </a:stretch>
        </p:blipFill>
        <p:spPr>
          <a:xfrm>
            <a:off x="2639728" y="3534589"/>
            <a:ext cx="19493367" cy="6646821"/>
          </a:xfrm>
          <a:prstGeom prst="rect">
            <a:avLst/>
          </a:prstGeom>
        </p:spPr>
      </p:pic>
      <p:sp>
        <p:nvSpPr>
          <p:cNvPr id="9" name="TextBox 8">
            <a:extLst>
              <a:ext uri="{FF2B5EF4-FFF2-40B4-BE49-F238E27FC236}">
                <a16:creationId xmlns:a16="http://schemas.microsoft.com/office/drawing/2014/main" id="{AEC611A7-4E29-C125-28FC-B10EAAC3B370}"/>
              </a:ext>
            </a:extLst>
          </p:cNvPr>
          <p:cNvSpPr txBox="1"/>
          <p:nvPr/>
        </p:nvSpPr>
        <p:spPr>
          <a:xfrm>
            <a:off x="4475486" y="10011537"/>
            <a:ext cx="509754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Each column is an attribute</a:t>
            </a:r>
          </a:p>
        </p:txBody>
      </p:sp>
      <p:sp>
        <p:nvSpPr>
          <p:cNvPr id="10" name="TextBox 9">
            <a:extLst>
              <a:ext uri="{FF2B5EF4-FFF2-40B4-BE49-F238E27FC236}">
                <a16:creationId xmlns:a16="http://schemas.microsoft.com/office/drawing/2014/main" id="{64816491-E14F-7ADC-7788-E39926A85B1A}"/>
              </a:ext>
            </a:extLst>
          </p:cNvPr>
          <p:cNvSpPr txBox="1"/>
          <p:nvPr/>
        </p:nvSpPr>
        <p:spPr>
          <a:xfrm>
            <a:off x="15092640" y="10011536"/>
            <a:ext cx="595675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2">
                    <a:lumMod val="10000"/>
                  </a:schemeClr>
                </a:solidFill>
                <a:effectLst/>
                <a:uFillTx/>
                <a:latin typeface="+mn-lt"/>
                <a:ea typeface="+mn-ea"/>
                <a:cs typeface="+mn-cs"/>
                <a:sym typeface="Helvetica Neue"/>
              </a:rPr>
              <a:t>Use attribute values as columns</a:t>
            </a:r>
          </a:p>
        </p:txBody>
      </p:sp>
    </p:spTree>
    <p:extLst>
      <p:ext uri="{BB962C8B-B14F-4D97-AF65-F5344CB8AC3E}">
        <p14:creationId xmlns:p14="http://schemas.microsoft.com/office/powerpoint/2010/main" val="228549688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78C5-76D8-AAF2-B2E3-45D6B5A0C8D9}"/>
              </a:ext>
            </a:extLst>
          </p:cNvPr>
          <p:cNvSpPr>
            <a:spLocks noGrp="1"/>
          </p:cNvSpPr>
          <p:nvPr>
            <p:ph type="title"/>
          </p:nvPr>
        </p:nvSpPr>
        <p:spPr/>
        <p:txBody>
          <a:bodyPr/>
          <a:lstStyle/>
          <a:p>
            <a:r>
              <a:rPr lang="en-US" dirty="0"/>
              <a:t>Exercise</a:t>
            </a:r>
          </a:p>
        </p:txBody>
      </p:sp>
      <p:sp>
        <p:nvSpPr>
          <p:cNvPr id="3" name="Text Placeholder 2">
            <a:extLst>
              <a:ext uri="{FF2B5EF4-FFF2-40B4-BE49-F238E27FC236}">
                <a16:creationId xmlns:a16="http://schemas.microsoft.com/office/drawing/2014/main" id="{84D3B85E-7093-4348-9C47-4B7CBDE509C0}"/>
              </a:ext>
            </a:extLst>
          </p:cNvPr>
          <p:cNvSpPr>
            <a:spLocks noGrp="1"/>
          </p:cNvSpPr>
          <p:nvPr>
            <p:ph type="body" sz="quarter" idx="21"/>
          </p:nvPr>
        </p:nvSpPr>
        <p:spPr/>
        <p:txBody>
          <a:bodyPr/>
          <a:lstStyle/>
          <a:p>
            <a:r>
              <a:rPr lang="en-US" dirty="0"/>
              <a:t>Discuss prompt in groups of 3</a:t>
            </a:r>
          </a:p>
        </p:txBody>
      </p:sp>
      <p:graphicFrame>
        <p:nvGraphicFramePr>
          <p:cNvPr id="5" name="Table 4">
            <a:extLst>
              <a:ext uri="{FF2B5EF4-FFF2-40B4-BE49-F238E27FC236}">
                <a16:creationId xmlns:a16="http://schemas.microsoft.com/office/drawing/2014/main" id="{698133E7-4DCF-4982-2E1C-E335F7C885E4}"/>
              </a:ext>
            </a:extLst>
          </p:cNvPr>
          <p:cNvGraphicFramePr>
            <a:graphicFrameLocks noGrp="1"/>
          </p:cNvGraphicFramePr>
          <p:nvPr>
            <p:extLst>
              <p:ext uri="{D42A27DB-BD31-4B8C-83A1-F6EECF244321}">
                <p14:modId xmlns:p14="http://schemas.microsoft.com/office/powerpoint/2010/main" val="3357522398"/>
              </p:ext>
            </p:extLst>
          </p:nvPr>
        </p:nvGraphicFramePr>
        <p:xfrm>
          <a:off x="1206500" y="3806125"/>
          <a:ext cx="8654039" cy="7898479"/>
        </p:xfrm>
        <a:graphic>
          <a:graphicData uri="http://schemas.openxmlformats.org/drawingml/2006/table">
            <a:tbl>
              <a:tblPr firstRow="1" firstCol="1" bandRow="1">
                <a:tableStyleId>{793D81CF-94F2-401A-BA57-92F5A7B2D0C5}</a:tableStyleId>
              </a:tblPr>
              <a:tblGrid>
                <a:gridCol w="4841599">
                  <a:extLst>
                    <a:ext uri="{9D8B030D-6E8A-4147-A177-3AD203B41FA5}">
                      <a16:colId xmlns:a16="http://schemas.microsoft.com/office/drawing/2014/main" val="1671865654"/>
                    </a:ext>
                  </a:extLst>
                </a:gridCol>
                <a:gridCol w="3812440">
                  <a:extLst>
                    <a:ext uri="{9D8B030D-6E8A-4147-A177-3AD203B41FA5}">
                      <a16:colId xmlns:a16="http://schemas.microsoft.com/office/drawing/2014/main" val="915054305"/>
                    </a:ext>
                  </a:extLst>
                </a:gridCol>
              </a:tblGrid>
              <a:tr h="819887">
                <a:tc>
                  <a:txBody>
                    <a:bodyPr/>
                    <a:lstStyle/>
                    <a:p>
                      <a:pPr marL="0" marR="0" algn="l">
                        <a:lnSpc>
                          <a:spcPct val="107000"/>
                        </a:lnSpc>
                        <a:spcAft>
                          <a:spcPts val="800"/>
                        </a:spcAft>
                        <a:buNone/>
                      </a:pPr>
                      <a:r>
                        <a:rPr lang="en-US" sz="2800" kern="100" dirty="0">
                          <a:effectLst/>
                        </a:rPr>
                        <a:t>Year</a:t>
                      </a:r>
                      <a:endParaRPr lang="en-US" sz="1600" kern="100" dirty="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Property_crime_rate</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430850957"/>
                  </a:ext>
                </a:extLst>
              </a:tr>
              <a:tr h="819887">
                <a:tc>
                  <a:txBody>
                    <a:bodyPr/>
                    <a:lstStyle/>
                    <a:p>
                      <a:pPr marL="0" marR="0" algn="l">
                        <a:lnSpc>
                          <a:spcPct val="107000"/>
                        </a:lnSpc>
                        <a:spcAft>
                          <a:spcPts val="800"/>
                        </a:spcAft>
                        <a:buNone/>
                      </a:pPr>
                      <a:r>
                        <a:rPr lang="en-US" sz="2800" kern="100">
                          <a:effectLst/>
                        </a:rPr>
                        <a:t>Reported crime in Alabama</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416524346"/>
                  </a:ext>
                </a:extLst>
              </a:tr>
              <a:tr h="494438">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3990254374"/>
                  </a:ext>
                </a:extLst>
              </a:tr>
              <a:tr h="494438">
                <a:tc>
                  <a:txBody>
                    <a:bodyPr/>
                    <a:lstStyle/>
                    <a:p>
                      <a:pPr marL="0" marR="0" algn="l">
                        <a:lnSpc>
                          <a:spcPct val="107000"/>
                        </a:lnSpc>
                        <a:spcAft>
                          <a:spcPts val="800"/>
                        </a:spcAft>
                        <a:buNone/>
                      </a:pPr>
                      <a:r>
                        <a:rPr lang="en-US" sz="2800" kern="100">
                          <a:effectLst/>
                        </a:rPr>
                        <a:t>2004</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4029.3</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859157730"/>
                  </a:ext>
                </a:extLst>
              </a:tr>
              <a:tr h="494438">
                <a:tc>
                  <a:txBody>
                    <a:bodyPr/>
                    <a:lstStyle/>
                    <a:p>
                      <a:pPr marL="0" marR="0" algn="l">
                        <a:lnSpc>
                          <a:spcPct val="107000"/>
                        </a:lnSpc>
                        <a:spcAft>
                          <a:spcPts val="800"/>
                        </a:spcAft>
                        <a:buNone/>
                      </a:pPr>
                      <a:r>
                        <a:rPr lang="en-US" sz="2800" kern="100">
                          <a:effectLst/>
                        </a:rPr>
                        <a:t>2005</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3900</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767832751"/>
                  </a:ext>
                </a:extLst>
              </a:tr>
              <a:tr h="494438">
                <a:tc>
                  <a:txBody>
                    <a:bodyPr/>
                    <a:lstStyle/>
                    <a:p>
                      <a:pPr marL="0" marR="0" algn="l">
                        <a:lnSpc>
                          <a:spcPct val="107000"/>
                        </a:lnSpc>
                        <a:spcAft>
                          <a:spcPts val="800"/>
                        </a:spcAft>
                        <a:buNone/>
                      </a:pPr>
                      <a:r>
                        <a:rPr lang="en-US" sz="2800" kern="100">
                          <a:effectLst/>
                        </a:rPr>
                        <a:t>2006</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3937</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52672203"/>
                  </a:ext>
                </a:extLst>
              </a:tr>
              <a:tr h="494438">
                <a:tc>
                  <a:txBody>
                    <a:bodyPr/>
                    <a:lstStyle/>
                    <a:p>
                      <a:pPr marL="0" marR="0" algn="l">
                        <a:lnSpc>
                          <a:spcPct val="107000"/>
                        </a:lnSpc>
                        <a:spcAft>
                          <a:spcPts val="800"/>
                        </a:spcAft>
                        <a:buNone/>
                      </a:pPr>
                      <a:r>
                        <a:rPr lang="en-US" sz="2800" kern="100">
                          <a:effectLst/>
                        </a:rPr>
                        <a:t>2007</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3974.9</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1215890728"/>
                  </a:ext>
                </a:extLst>
              </a:tr>
              <a:tr h="494438">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1324423177"/>
                  </a:ext>
                </a:extLst>
              </a:tr>
              <a:tr h="819887">
                <a:tc>
                  <a:txBody>
                    <a:bodyPr/>
                    <a:lstStyle/>
                    <a:p>
                      <a:pPr marL="0" marR="0" algn="l">
                        <a:lnSpc>
                          <a:spcPct val="107000"/>
                        </a:lnSpc>
                        <a:spcAft>
                          <a:spcPts val="800"/>
                        </a:spcAft>
                        <a:buNone/>
                      </a:pPr>
                      <a:r>
                        <a:rPr lang="en-US" sz="2800" kern="100">
                          <a:effectLst/>
                        </a:rPr>
                        <a:t>Reported crime in Alaska</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3989728084"/>
                  </a:ext>
                </a:extLst>
              </a:tr>
              <a:tr h="494438">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1600" kern="100">
                          <a:effectLst/>
                        </a:rPr>
                        <a:t> </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4265655224"/>
                  </a:ext>
                </a:extLst>
              </a:tr>
              <a:tr h="494438">
                <a:tc>
                  <a:txBody>
                    <a:bodyPr/>
                    <a:lstStyle/>
                    <a:p>
                      <a:pPr marL="0" marR="0" algn="l">
                        <a:lnSpc>
                          <a:spcPct val="107000"/>
                        </a:lnSpc>
                        <a:spcAft>
                          <a:spcPts val="800"/>
                        </a:spcAft>
                        <a:buNone/>
                      </a:pPr>
                      <a:r>
                        <a:rPr lang="en-US" sz="2800" kern="100">
                          <a:effectLst/>
                        </a:rPr>
                        <a:t>2004</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3370.9</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3547569834"/>
                  </a:ext>
                </a:extLst>
              </a:tr>
              <a:tr h="494438">
                <a:tc>
                  <a:txBody>
                    <a:bodyPr/>
                    <a:lstStyle/>
                    <a:p>
                      <a:pPr marL="0" marR="0" algn="l">
                        <a:lnSpc>
                          <a:spcPct val="107000"/>
                        </a:lnSpc>
                        <a:spcAft>
                          <a:spcPts val="800"/>
                        </a:spcAft>
                        <a:buNone/>
                      </a:pPr>
                      <a:r>
                        <a:rPr lang="en-US" sz="2800" kern="100">
                          <a:effectLst/>
                        </a:rPr>
                        <a:t>2005</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3615</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1833363679"/>
                  </a:ext>
                </a:extLst>
              </a:tr>
              <a:tr h="494438">
                <a:tc>
                  <a:txBody>
                    <a:bodyPr/>
                    <a:lstStyle/>
                    <a:p>
                      <a:pPr marL="0" marR="0" algn="l">
                        <a:lnSpc>
                          <a:spcPct val="107000"/>
                        </a:lnSpc>
                        <a:spcAft>
                          <a:spcPts val="800"/>
                        </a:spcAft>
                        <a:buNone/>
                      </a:pPr>
                      <a:r>
                        <a:rPr lang="en-US" sz="2800" kern="100">
                          <a:effectLst/>
                        </a:rPr>
                        <a:t>2006</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3582</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335587987"/>
                  </a:ext>
                </a:extLst>
              </a:tr>
              <a:tr h="494438">
                <a:tc>
                  <a:txBody>
                    <a:bodyPr/>
                    <a:lstStyle/>
                    <a:p>
                      <a:pPr marL="0" marR="0" algn="l">
                        <a:lnSpc>
                          <a:spcPct val="107000"/>
                        </a:lnSpc>
                        <a:spcAft>
                          <a:spcPts val="800"/>
                        </a:spcAft>
                        <a:buNone/>
                      </a:pPr>
                      <a:r>
                        <a:rPr lang="en-US" sz="2800" kern="100">
                          <a:effectLst/>
                        </a:rPr>
                        <a:t>2007</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dirty="0">
                          <a:effectLst/>
                        </a:rPr>
                        <a:t>3373.9</a:t>
                      </a:r>
                      <a:endParaRPr lang="en-US" sz="1600" kern="100" dirty="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37473746"/>
                  </a:ext>
                </a:extLst>
              </a:tr>
            </a:tbl>
          </a:graphicData>
        </a:graphic>
      </p:graphicFrame>
      <p:graphicFrame>
        <p:nvGraphicFramePr>
          <p:cNvPr id="6" name="Table 5">
            <a:extLst>
              <a:ext uri="{FF2B5EF4-FFF2-40B4-BE49-F238E27FC236}">
                <a16:creationId xmlns:a16="http://schemas.microsoft.com/office/drawing/2014/main" id="{F3A31873-E370-6066-3836-248A7275FD14}"/>
              </a:ext>
            </a:extLst>
          </p:cNvPr>
          <p:cNvGraphicFramePr>
            <a:graphicFrameLocks noGrp="1"/>
          </p:cNvGraphicFramePr>
          <p:nvPr>
            <p:extLst>
              <p:ext uri="{D42A27DB-BD31-4B8C-83A1-F6EECF244321}">
                <p14:modId xmlns:p14="http://schemas.microsoft.com/office/powerpoint/2010/main" val="900732638"/>
              </p:ext>
            </p:extLst>
          </p:nvPr>
        </p:nvGraphicFramePr>
        <p:xfrm>
          <a:off x="14523463" y="3806125"/>
          <a:ext cx="8312840" cy="2185852"/>
        </p:xfrm>
        <a:graphic>
          <a:graphicData uri="http://schemas.openxmlformats.org/drawingml/2006/table">
            <a:tbl>
              <a:tblPr firstRow="1" firstCol="1" bandRow="1">
                <a:tableStyleId>{793D81CF-94F2-401A-BA57-92F5A7B2D0C5}</a:tableStyleId>
              </a:tblPr>
              <a:tblGrid>
                <a:gridCol w="1906411">
                  <a:extLst>
                    <a:ext uri="{9D8B030D-6E8A-4147-A177-3AD203B41FA5}">
                      <a16:colId xmlns:a16="http://schemas.microsoft.com/office/drawing/2014/main" val="750987517"/>
                    </a:ext>
                  </a:extLst>
                </a:gridCol>
                <a:gridCol w="1778332">
                  <a:extLst>
                    <a:ext uri="{9D8B030D-6E8A-4147-A177-3AD203B41FA5}">
                      <a16:colId xmlns:a16="http://schemas.microsoft.com/office/drawing/2014/main" val="3418974707"/>
                    </a:ext>
                  </a:extLst>
                </a:gridCol>
                <a:gridCol w="1542699">
                  <a:extLst>
                    <a:ext uri="{9D8B030D-6E8A-4147-A177-3AD203B41FA5}">
                      <a16:colId xmlns:a16="http://schemas.microsoft.com/office/drawing/2014/main" val="1105842210"/>
                    </a:ext>
                  </a:extLst>
                </a:gridCol>
                <a:gridCol w="1542699">
                  <a:extLst>
                    <a:ext uri="{9D8B030D-6E8A-4147-A177-3AD203B41FA5}">
                      <a16:colId xmlns:a16="http://schemas.microsoft.com/office/drawing/2014/main" val="3960318736"/>
                    </a:ext>
                  </a:extLst>
                </a:gridCol>
                <a:gridCol w="1542699">
                  <a:extLst>
                    <a:ext uri="{9D8B030D-6E8A-4147-A177-3AD203B41FA5}">
                      <a16:colId xmlns:a16="http://schemas.microsoft.com/office/drawing/2014/main" val="1678708226"/>
                    </a:ext>
                  </a:extLst>
                </a:gridCol>
              </a:tblGrid>
              <a:tr h="444044">
                <a:tc>
                  <a:txBody>
                    <a:bodyPr/>
                    <a:lstStyle/>
                    <a:p>
                      <a:pPr marL="0" marR="0" algn="l">
                        <a:lnSpc>
                          <a:spcPct val="107000"/>
                        </a:lnSpc>
                        <a:spcAft>
                          <a:spcPts val="800"/>
                        </a:spcAft>
                        <a:buNone/>
                      </a:pPr>
                      <a:r>
                        <a:rPr lang="en-US" sz="2800" kern="100">
                          <a:effectLst/>
                        </a:rPr>
                        <a:t>State</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2004</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2005</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2006</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2007</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2829457751"/>
                  </a:ext>
                </a:extLst>
              </a:tr>
              <a:tr h="839830">
                <a:tc>
                  <a:txBody>
                    <a:bodyPr/>
                    <a:lstStyle/>
                    <a:p>
                      <a:pPr marL="0" marR="0" algn="l">
                        <a:lnSpc>
                          <a:spcPct val="107000"/>
                        </a:lnSpc>
                        <a:spcAft>
                          <a:spcPts val="800"/>
                        </a:spcAft>
                        <a:buNone/>
                      </a:pPr>
                      <a:r>
                        <a:rPr lang="en-US" sz="2800" kern="100">
                          <a:effectLst/>
                        </a:rPr>
                        <a:t>Alabama</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4029.3</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3900</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3937</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3974.9</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1781435172"/>
                  </a:ext>
                </a:extLst>
              </a:tr>
              <a:tr h="869962">
                <a:tc>
                  <a:txBody>
                    <a:bodyPr/>
                    <a:lstStyle/>
                    <a:p>
                      <a:pPr marL="0" marR="0" algn="l">
                        <a:lnSpc>
                          <a:spcPct val="107000"/>
                        </a:lnSpc>
                        <a:spcAft>
                          <a:spcPts val="800"/>
                        </a:spcAft>
                        <a:buNone/>
                      </a:pPr>
                      <a:r>
                        <a:rPr lang="en-US" sz="2800" kern="100">
                          <a:effectLst/>
                        </a:rPr>
                        <a:t>Alaska</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3370.9</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3615</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a:effectLst/>
                        </a:rPr>
                        <a:t>3582</a:t>
                      </a:r>
                      <a:endParaRPr lang="en-US" sz="1600" kern="100">
                        <a:solidFill>
                          <a:srgbClr val="000000"/>
                        </a:solidFill>
                        <a:effectLst/>
                        <a:latin typeface="Calibri" panose="020F0502020204030204" pitchFamily="34" charset="0"/>
                        <a:ea typeface="Calibri" panose="020F0502020204030204" pitchFamily="34" charset="0"/>
                      </a:endParaRPr>
                    </a:p>
                  </a:txBody>
                  <a:tcPr marR="73025" marT="43180" marB="0"/>
                </a:tc>
                <a:tc>
                  <a:txBody>
                    <a:bodyPr/>
                    <a:lstStyle/>
                    <a:p>
                      <a:pPr marL="0" marR="0" algn="l">
                        <a:lnSpc>
                          <a:spcPct val="107000"/>
                        </a:lnSpc>
                        <a:spcAft>
                          <a:spcPts val="800"/>
                        </a:spcAft>
                        <a:buNone/>
                      </a:pPr>
                      <a:r>
                        <a:rPr lang="en-US" sz="2800" kern="100" dirty="0">
                          <a:effectLst/>
                        </a:rPr>
                        <a:t>3373.9</a:t>
                      </a:r>
                      <a:endParaRPr lang="en-US" sz="1600" kern="100" dirty="0">
                        <a:solidFill>
                          <a:srgbClr val="000000"/>
                        </a:solidFill>
                        <a:effectLst/>
                        <a:latin typeface="Calibri" panose="020F0502020204030204" pitchFamily="34" charset="0"/>
                        <a:ea typeface="Calibri" panose="020F0502020204030204" pitchFamily="34" charset="0"/>
                      </a:endParaRPr>
                    </a:p>
                  </a:txBody>
                  <a:tcPr marR="73025" marT="43180" marB="0"/>
                </a:tc>
                <a:extLst>
                  <a:ext uri="{0D108BD9-81ED-4DB2-BD59-A6C34878D82A}">
                    <a16:rowId xmlns:a16="http://schemas.microsoft.com/office/drawing/2014/main" val="632879139"/>
                  </a:ext>
                </a:extLst>
              </a:tr>
            </a:tbl>
          </a:graphicData>
        </a:graphic>
      </p:graphicFrame>
      <p:sp>
        <p:nvSpPr>
          <p:cNvPr id="4" name="TextBox 3">
            <a:extLst>
              <a:ext uri="{FF2B5EF4-FFF2-40B4-BE49-F238E27FC236}">
                <a16:creationId xmlns:a16="http://schemas.microsoft.com/office/drawing/2014/main" id="{6107B9DB-4902-D38D-3524-1F59E60BE452}"/>
              </a:ext>
            </a:extLst>
          </p:cNvPr>
          <p:cNvSpPr txBox="1"/>
          <p:nvPr/>
        </p:nvSpPr>
        <p:spPr>
          <a:xfrm>
            <a:off x="13363369" y="8096932"/>
            <a:ext cx="9472934" cy="25955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5400" dirty="0">
                <a:solidFill>
                  <a:srgbClr val="C00000"/>
                </a:solidFill>
              </a:rPr>
              <a:t>Which format would make it easier to compare trends over time?</a:t>
            </a:r>
            <a:endParaRPr kumimoji="0" lang="en-US" sz="5400" b="0" i="0" u="none" strike="noStrike" cap="none" spc="0" normalizeH="0" baseline="0" dirty="0">
              <a:ln>
                <a:noFill/>
              </a:ln>
              <a:solidFill>
                <a:srgbClr val="C00000"/>
              </a:solidFill>
              <a:effectLst/>
              <a:uFillTx/>
              <a:latin typeface="+mn-lt"/>
              <a:ea typeface="+mn-ea"/>
              <a:cs typeface="+mn-cs"/>
              <a:sym typeface="Helvetica Neue"/>
            </a:endParaRPr>
          </a:p>
        </p:txBody>
      </p:sp>
    </p:spTree>
    <p:extLst>
      <p:ext uri="{BB962C8B-B14F-4D97-AF65-F5344CB8AC3E}">
        <p14:creationId xmlns:p14="http://schemas.microsoft.com/office/powerpoint/2010/main" val="5425701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Slide Title"/>
          <p:cNvSpPr txBox="1">
            <a:spLocks noGrp="1"/>
          </p:cNvSpPr>
          <p:nvPr>
            <p:ph type="title"/>
          </p:nvPr>
        </p:nvSpPr>
        <p:spPr>
          <a:prstGeom prst="rect">
            <a:avLst/>
          </a:prstGeom>
        </p:spPr>
        <p:txBody>
          <a:bodyPr/>
          <a:lstStyle/>
          <a:p>
            <a:r>
              <a:rPr lang="en-US" dirty="0"/>
              <a:t>Attribute Types</a:t>
            </a:r>
            <a:endParaRPr dirty="0"/>
          </a:p>
        </p:txBody>
      </p:sp>
      <p:sp>
        <p:nvSpPr>
          <p:cNvPr id="329" name="Slide Subtitle"/>
          <p:cNvSpPr txBox="1">
            <a:spLocks noGrp="1"/>
          </p:cNvSpPr>
          <p:nvPr>
            <p:ph type="body" idx="21"/>
          </p:nvPr>
        </p:nvSpPr>
        <p:spPr>
          <a:prstGeom prst="rect">
            <a:avLst/>
          </a:prstGeom>
        </p:spPr>
        <p:txBody>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73C5EB7-2EB0-D93A-733B-FF7EB89D9EA4}"/>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370840">
                    <a:tc>
                      <a:txBody>
                        <a:bodyPr/>
                        <a:lstStyle/>
                        <a:p>
                          <a:pPr algn="l"/>
                          <a:r>
                            <a:rPr lang="en-US" sz="3200" dirty="0">
                              <a:solidFill>
                                <a:schemeClr val="bg2">
                                  <a:lumMod val="10000"/>
                                </a:schemeClr>
                              </a:solidFill>
                            </a:rPr>
                            <a:t>N</a:t>
                          </a:r>
                        </a:p>
                      </a:txBody>
                      <a:tcPr/>
                    </a:tc>
                    <a:tc>
                      <a:txBody>
                        <a:bodyPr/>
                        <a:lstStyle/>
                        <a:p>
                          <a:pPr algn="l"/>
                          <a:r>
                            <a:rPr lang="en-US" sz="3200" dirty="0">
                              <a:solidFill>
                                <a:schemeClr val="bg2">
                                  <a:lumMod val="10000"/>
                                </a:schemeClr>
                              </a:solidFill>
                            </a:rPr>
                            <a:t>Nominal</a:t>
                          </a:r>
                        </a:p>
                      </a:txBody>
                      <a:tcPr/>
                    </a:tc>
                    <a:tc>
                      <a:txBody>
                        <a:bodyPr/>
                        <a:lstStyle/>
                        <a:p>
                          <a:pPr algn="l"/>
                          <a:r>
                            <a:rPr lang="en-US" sz="3200" dirty="0">
                              <a:solidFill>
                                <a:schemeClr val="bg2">
                                  <a:lumMod val="10000"/>
                                </a:schemeClr>
                              </a:solidFill>
                            </a:rPr>
                            <a:t>Names and categories</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1218266674"/>
                      </a:ext>
                    </a:extLst>
                  </a:tr>
                  <a:tr h="370840">
                    <a:tc>
                      <a:txBody>
                        <a:bodyPr/>
                        <a:lstStyle/>
                        <a:p>
                          <a:pPr algn="l"/>
                          <a:r>
                            <a:rPr lang="en-US" sz="3200" dirty="0">
                              <a:solidFill>
                                <a:schemeClr val="bg2">
                                  <a:lumMod val="10000"/>
                                </a:schemeClr>
                              </a:solidFill>
                            </a:rPr>
                            <a:t>O</a:t>
                          </a:r>
                        </a:p>
                      </a:txBody>
                      <a:tcPr/>
                    </a:tc>
                    <a:tc>
                      <a:txBody>
                        <a:bodyPr/>
                        <a:lstStyle/>
                        <a:p>
                          <a:pPr algn="l"/>
                          <a:r>
                            <a:rPr lang="en-US" sz="3200" dirty="0">
                              <a:solidFill>
                                <a:schemeClr val="bg2">
                                  <a:lumMod val="10000"/>
                                </a:schemeClr>
                              </a:solidFill>
                            </a:rPr>
                            <a:t>Ordinal</a:t>
                          </a:r>
                        </a:p>
                      </a:txBody>
                      <a:tcPr/>
                    </a:tc>
                    <a:tc>
                      <a:txBody>
                        <a:bodyPr/>
                        <a:lstStyle/>
                        <a:p>
                          <a:pPr algn="l"/>
                          <a:r>
                            <a:rPr lang="en-US" sz="3200" dirty="0">
                              <a:solidFill>
                                <a:schemeClr val="bg2">
                                  <a:lumMod val="10000"/>
                                </a:schemeClr>
                              </a:solidFill>
                            </a:rPr>
                            <a:t>Ordered</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453748275"/>
                      </a:ext>
                    </a:extLst>
                  </a:tr>
                  <a:tr h="37084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Interval</a:t>
                          </a:r>
                        </a:p>
                      </a:txBody>
                      <a:tcPr/>
                    </a:tc>
                    <a:tc>
                      <a:txBody>
                        <a:bodyPr/>
                        <a:lstStyle/>
                        <a:p>
                          <a:pPr algn="l"/>
                          <a:r>
                            <a:rPr lang="en-US" sz="3200" dirty="0">
                              <a:solidFill>
                                <a:schemeClr val="bg2">
                                  <a:lumMod val="10000"/>
                                </a:schemeClr>
                              </a:solidFill>
                            </a:rPr>
                            <a:t>Degree of difference</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2962934498"/>
                      </a:ext>
                    </a:extLst>
                  </a:tr>
                  <a:tr h="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Ratio</a:t>
                          </a:r>
                        </a:p>
                      </a:txBody>
                      <a:tcPr/>
                    </a:tc>
                    <a:tc>
                      <a:txBody>
                        <a:bodyPr/>
                        <a:lstStyle/>
                        <a:p>
                          <a:pPr algn="l"/>
                          <a:r>
                            <a:rPr lang="en-US" sz="3200" dirty="0">
                              <a:solidFill>
                                <a:schemeClr val="bg2">
                                  <a:lumMod val="10000"/>
                                </a:schemeClr>
                              </a:solidFill>
                            </a:rPr>
                            <a:t>Unique and non-arbitrary zero value</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 %</m:t>
                                </m:r>
                              </m:oMath>
                            </m:oMathPara>
                          </a14:m>
                          <a:endParaRPr lang="en-US" sz="3200" dirty="0">
                            <a:solidFill>
                              <a:schemeClr val="bg2">
                                <a:lumMod val="10000"/>
                              </a:schemeClr>
                            </a:solidFill>
                          </a:endParaRPr>
                        </a:p>
                        <a:p>
                          <a:pPr algn="l"/>
                          <a:endParaRPr lang="en-US" sz="3200" dirty="0">
                            <a:solidFill>
                              <a:schemeClr val="bg2">
                                <a:lumMod val="10000"/>
                              </a:schemeClr>
                            </a:solidFill>
                          </a:endParaRPr>
                        </a:p>
                      </a:txBody>
                      <a:tcPr/>
                    </a:tc>
                    <a:extLst>
                      <a:ext uri="{0D108BD9-81ED-4DB2-BD59-A6C34878D82A}">
                        <a16:rowId xmlns:a16="http://schemas.microsoft.com/office/drawing/2014/main" val="1241657561"/>
                      </a:ext>
                    </a:extLst>
                  </a:tr>
                </a:tbl>
              </a:graphicData>
            </a:graphic>
          </p:graphicFrame>
        </mc:Choice>
        <mc:Fallback xmlns="">
          <p:graphicFrame>
            <p:nvGraphicFramePr>
              <p:cNvPr id="2" name="Table 1">
                <a:extLst>
                  <a:ext uri="{FF2B5EF4-FFF2-40B4-BE49-F238E27FC236}">
                    <a16:creationId xmlns:a16="http://schemas.microsoft.com/office/drawing/2014/main" id="{973C5EB7-2EB0-D93A-733B-FF7EB89D9EA4}"/>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579120">
                    <a:tc>
                      <a:txBody>
                        <a:bodyPr/>
                        <a:lstStyle/>
                        <a:p>
                          <a:pPr algn="l"/>
                          <a:r>
                            <a:rPr lang="en-US" sz="3200" dirty="0">
                              <a:solidFill>
                                <a:schemeClr val="bg2">
                                  <a:lumMod val="10000"/>
                                </a:schemeClr>
                              </a:solidFill>
                            </a:rPr>
                            <a:t>N</a:t>
                          </a:r>
                        </a:p>
                      </a:txBody>
                      <a:tcPr/>
                    </a:tc>
                    <a:tc>
                      <a:txBody>
                        <a:bodyPr/>
                        <a:lstStyle/>
                        <a:p>
                          <a:pPr algn="l"/>
                          <a:r>
                            <a:rPr lang="en-US" sz="3200" dirty="0">
                              <a:solidFill>
                                <a:schemeClr val="bg2">
                                  <a:lumMod val="10000"/>
                                </a:schemeClr>
                              </a:solidFill>
                            </a:rPr>
                            <a:t>Nominal</a:t>
                          </a:r>
                        </a:p>
                      </a:txBody>
                      <a:tcPr/>
                    </a:tc>
                    <a:tc>
                      <a:txBody>
                        <a:bodyPr/>
                        <a:lstStyle/>
                        <a:p>
                          <a:pPr algn="l"/>
                          <a:r>
                            <a:rPr lang="en-US" sz="3200" dirty="0">
                              <a:solidFill>
                                <a:schemeClr val="bg2">
                                  <a:lumMod val="10000"/>
                                </a:schemeClr>
                              </a:solidFill>
                            </a:rPr>
                            <a:t>Names and categories</a:t>
                          </a:r>
                        </a:p>
                      </a:txBody>
                      <a:tcPr/>
                    </a:tc>
                    <a:tc>
                      <a:txBody>
                        <a:bodyPr/>
                        <a:lstStyle/>
                        <a:p>
                          <a:endParaRPr lang="en-US"/>
                        </a:p>
                      </a:txBody>
                      <a:tcPr>
                        <a:blipFill>
                          <a:blip r:embed="rId3"/>
                          <a:stretch>
                            <a:fillRect l="-300625" t="-13043" r="-312" b="-384783"/>
                          </a:stretch>
                        </a:blipFill>
                      </a:tcPr>
                    </a:tc>
                    <a:extLst>
                      <a:ext uri="{0D108BD9-81ED-4DB2-BD59-A6C34878D82A}">
                        <a16:rowId xmlns:a16="http://schemas.microsoft.com/office/drawing/2014/main" val="1218266674"/>
                      </a:ext>
                    </a:extLst>
                  </a:tr>
                  <a:tr h="579120">
                    <a:tc>
                      <a:txBody>
                        <a:bodyPr/>
                        <a:lstStyle/>
                        <a:p>
                          <a:pPr algn="l"/>
                          <a:r>
                            <a:rPr lang="en-US" sz="3200" dirty="0">
                              <a:solidFill>
                                <a:schemeClr val="bg2">
                                  <a:lumMod val="10000"/>
                                </a:schemeClr>
                              </a:solidFill>
                            </a:rPr>
                            <a:t>O</a:t>
                          </a:r>
                        </a:p>
                      </a:txBody>
                      <a:tcPr/>
                    </a:tc>
                    <a:tc>
                      <a:txBody>
                        <a:bodyPr/>
                        <a:lstStyle/>
                        <a:p>
                          <a:pPr algn="l"/>
                          <a:r>
                            <a:rPr lang="en-US" sz="3200" dirty="0">
                              <a:solidFill>
                                <a:schemeClr val="bg2">
                                  <a:lumMod val="10000"/>
                                </a:schemeClr>
                              </a:solidFill>
                            </a:rPr>
                            <a:t>Ordinal</a:t>
                          </a:r>
                        </a:p>
                      </a:txBody>
                      <a:tcPr/>
                    </a:tc>
                    <a:tc>
                      <a:txBody>
                        <a:bodyPr/>
                        <a:lstStyle/>
                        <a:p>
                          <a:pPr algn="l"/>
                          <a:r>
                            <a:rPr lang="en-US" sz="3200" dirty="0">
                              <a:solidFill>
                                <a:schemeClr val="bg2">
                                  <a:lumMod val="10000"/>
                                </a:schemeClr>
                              </a:solidFill>
                            </a:rPr>
                            <a:t>Ordered</a:t>
                          </a:r>
                        </a:p>
                      </a:txBody>
                      <a:tcPr/>
                    </a:tc>
                    <a:tc>
                      <a:txBody>
                        <a:bodyPr/>
                        <a:lstStyle/>
                        <a:p>
                          <a:endParaRPr lang="en-US"/>
                        </a:p>
                      </a:txBody>
                      <a:tcPr>
                        <a:blipFill>
                          <a:blip r:embed="rId3"/>
                          <a:stretch>
                            <a:fillRect l="-300625" t="-113043" r="-312" b="-284783"/>
                          </a:stretch>
                        </a:blipFill>
                      </a:tcPr>
                    </a:tc>
                    <a:extLst>
                      <a:ext uri="{0D108BD9-81ED-4DB2-BD59-A6C34878D82A}">
                        <a16:rowId xmlns:a16="http://schemas.microsoft.com/office/drawing/2014/main" val="453748275"/>
                      </a:ext>
                    </a:extLst>
                  </a:tr>
                  <a:tr h="57912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Interval</a:t>
                          </a:r>
                        </a:p>
                      </a:txBody>
                      <a:tcPr/>
                    </a:tc>
                    <a:tc>
                      <a:txBody>
                        <a:bodyPr/>
                        <a:lstStyle/>
                        <a:p>
                          <a:pPr algn="l"/>
                          <a:r>
                            <a:rPr lang="en-US" sz="3200" dirty="0">
                              <a:solidFill>
                                <a:schemeClr val="bg2">
                                  <a:lumMod val="10000"/>
                                </a:schemeClr>
                              </a:solidFill>
                            </a:rPr>
                            <a:t>Degree of difference</a:t>
                          </a:r>
                        </a:p>
                      </a:txBody>
                      <a:tcPr/>
                    </a:tc>
                    <a:tc>
                      <a:txBody>
                        <a:bodyPr/>
                        <a:lstStyle/>
                        <a:p>
                          <a:endParaRPr lang="en-US"/>
                        </a:p>
                      </a:txBody>
                      <a:tcPr>
                        <a:blipFill>
                          <a:blip r:embed="rId3"/>
                          <a:stretch>
                            <a:fillRect l="-300625" t="-213043" r="-312" b="-184783"/>
                          </a:stretch>
                        </a:blipFill>
                      </a:tcPr>
                    </a:tc>
                    <a:extLst>
                      <a:ext uri="{0D108BD9-81ED-4DB2-BD59-A6C34878D82A}">
                        <a16:rowId xmlns:a16="http://schemas.microsoft.com/office/drawing/2014/main" val="2962934498"/>
                      </a:ext>
                    </a:extLst>
                  </a:tr>
                  <a:tr h="106680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Ratio</a:t>
                          </a:r>
                        </a:p>
                      </a:txBody>
                      <a:tcPr/>
                    </a:tc>
                    <a:tc>
                      <a:txBody>
                        <a:bodyPr/>
                        <a:lstStyle/>
                        <a:p>
                          <a:pPr algn="l"/>
                          <a:r>
                            <a:rPr lang="en-US" sz="3200" dirty="0">
                              <a:solidFill>
                                <a:schemeClr val="bg2">
                                  <a:lumMod val="10000"/>
                                </a:schemeClr>
                              </a:solidFill>
                            </a:rPr>
                            <a:t>Unique and non-arbitrary zero value</a:t>
                          </a:r>
                        </a:p>
                      </a:txBody>
                      <a:tcPr/>
                    </a:tc>
                    <a:tc>
                      <a:txBody>
                        <a:bodyPr/>
                        <a:lstStyle/>
                        <a:p>
                          <a:endParaRPr lang="en-US"/>
                        </a:p>
                      </a:txBody>
                      <a:tcPr>
                        <a:blipFill>
                          <a:blip r:embed="rId3"/>
                          <a:stretch>
                            <a:fillRect l="-300625" t="-171429" r="-312" b="-1190"/>
                          </a:stretch>
                        </a:blipFill>
                      </a:tcPr>
                    </a:tc>
                    <a:extLst>
                      <a:ext uri="{0D108BD9-81ED-4DB2-BD59-A6C34878D82A}">
                        <a16:rowId xmlns:a16="http://schemas.microsoft.com/office/drawing/2014/main" val="1241657561"/>
                      </a:ext>
                    </a:extLst>
                  </a:tr>
                </a:tbl>
              </a:graphicData>
            </a:graphic>
          </p:graphicFrame>
        </mc:Fallback>
      </mc:AlternateContent>
    </p:spTree>
    <p:extLst>
      <p:ext uri="{BB962C8B-B14F-4D97-AF65-F5344CB8AC3E}">
        <p14:creationId xmlns:p14="http://schemas.microsoft.com/office/powerpoint/2010/main" val="419546943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552A-25EE-4A1A-11CC-C670599935D2}"/>
            </a:ext>
          </a:extLst>
        </p:cNvPr>
        <p:cNvGrpSpPr/>
        <p:nvPr/>
      </p:nvGrpSpPr>
      <p:grpSpPr>
        <a:xfrm>
          <a:off x="0" y="0"/>
          <a:ext cx="0" cy="0"/>
          <a:chOff x="0" y="0"/>
          <a:chExt cx="0" cy="0"/>
        </a:xfrm>
      </p:grpSpPr>
      <p:sp>
        <p:nvSpPr>
          <p:cNvPr id="328" name="Slide Title">
            <a:extLst>
              <a:ext uri="{FF2B5EF4-FFF2-40B4-BE49-F238E27FC236}">
                <a16:creationId xmlns:a16="http://schemas.microsoft.com/office/drawing/2014/main" id="{D08EFB89-041F-F281-DAB3-131049DF4127}"/>
              </a:ext>
            </a:extLst>
          </p:cNvPr>
          <p:cNvSpPr txBox="1">
            <a:spLocks noGrp="1"/>
          </p:cNvSpPr>
          <p:nvPr>
            <p:ph type="title"/>
          </p:nvPr>
        </p:nvSpPr>
        <p:spPr>
          <a:prstGeom prst="rect">
            <a:avLst/>
          </a:prstGeom>
        </p:spPr>
        <p:txBody>
          <a:bodyPr/>
          <a:lstStyle/>
          <a:p>
            <a:r>
              <a:rPr lang="en-US" dirty="0"/>
              <a:t>Attribute Types</a:t>
            </a:r>
            <a:endParaRPr dirty="0"/>
          </a:p>
        </p:txBody>
      </p:sp>
      <p:sp>
        <p:nvSpPr>
          <p:cNvPr id="329" name="Slide Subtitle">
            <a:extLst>
              <a:ext uri="{FF2B5EF4-FFF2-40B4-BE49-F238E27FC236}">
                <a16:creationId xmlns:a16="http://schemas.microsoft.com/office/drawing/2014/main" id="{DDD3EB40-95C2-8632-56BA-933E9C38FFBB}"/>
              </a:ext>
            </a:extLst>
          </p:cNvPr>
          <p:cNvSpPr txBox="1">
            <a:spLocks noGrp="1"/>
          </p:cNvSpPr>
          <p:nvPr>
            <p:ph type="body" idx="21"/>
          </p:nvPr>
        </p:nvSpPr>
        <p:spPr>
          <a:prstGeom prst="rect">
            <a:avLst/>
          </a:prstGeom>
        </p:spPr>
        <p:txBody>
          <a:bodyPr/>
          <a:lstStyle/>
          <a:p>
            <a:r>
              <a:rPr lang="en-US" dirty="0"/>
              <a:t>Nominal</a:t>
            </a:r>
            <a:endParaRPr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6F3ADA4-347D-3031-7959-8EDCC674F21D}"/>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370840">
                    <a:tc>
                      <a:txBody>
                        <a:bodyPr/>
                        <a:lstStyle/>
                        <a:p>
                          <a:pPr algn="l"/>
                          <a:r>
                            <a:rPr lang="en-US" sz="3200" dirty="0">
                              <a:solidFill>
                                <a:schemeClr val="bg2">
                                  <a:lumMod val="10000"/>
                                </a:schemeClr>
                              </a:solidFill>
                            </a:rPr>
                            <a:t>N</a:t>
                          </a:r>
                        </a:p>
                      </a:txBody>
                      <a:tcPr/>
                    </a:tc>
                    <a:tc>
                      <a:txBody>
                        <a:bodyPr/>
                        <a:lstStyle/>
                        <a:p>
                          <a:pPr algn="l"/>
                          <a:r>
                            <a:rPr lang="en-US" sz="3200" dirty="0">
                              <a:solidFill>
                                <a:schemeClr val="bg2">
                                  <a:lumMod val="10000"/>
                                </a:schemeClr>
                              </a:solidFill>
                            </a:rPr>
                            <a:t>Nominal</a:t>
                          </a:r>
                        </a:p>
                      </a:txBody>
                      <a:tcPr/>
                    </a:tc>
                    <a:tc>
                      <a:txBody>
                        <a:bodyPr/>
                        <a:lstStyle/>
                        <a:p>
                          <a:pPr algn="l"/>
                          <a:r>
                            <a:rPr lang="en-US" sz="3200" dirty="0">
                              <a:solidFill>
                                <a:schemeClr val="bg2">
                                  <a:lumMod val="10000"/>
                                </a:schemeClr>
                              </a:solidFill>
                            </a:rPr>
                            <a:t>Names, labels, and categories</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1218266674"/>
                      </a:ext>
                    </a:extLst>
                  </a:tr>
                  <a:tr h="37084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453748275"/>
                      </a:ext>
                    </a:extLst>
                  </a:tr>
                  <a:tr h="37084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2962934498"/>
                      </a:ext>
                    </a:extLst>
                  </a:tr>
                  <a:tr h="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 %</m:t>
                                </m:r>
                              </m:oMath>
                            </m:oMathPara>
                          </a14:m>
                          <a:endParaRPr lang="en-US" sz="3200" dirty="0">
                            <a:solidFill>
                              <a:schemeClr val="tx2">
                                <a:lumMod val="60000"/>
                                <a:lumOff val="40000"/>
                              </a:schemeClr>
                            </a:solidFill>
                          </a:endParaRPr>
                        </a:p>
                        <a:p>
                          <a:pPr algn="l"/>
                          <a:endParaRPr lang="en-US" sz="3200" dirty="0">
                            <a:solidFill>
                              <a:schemeClr val="tx2">
                                <a:lumMod val="60000"/>
                                <a:lumOff val="40000"/>
                              </a:schemeClr>
                            </a:solidFill>
                          </a:endParaRPr>
                        </a:p>
                      </a:txBody>
                      <a:tcPr/>
                    </a:tc>
                    <a:extLst>
                      <a:ext uri="{0D108BD9-81ED-4DB2-BD59-A6C34878D82A}">
                        <a16:rowId xmlns:a16="http://schemas.microsoft.com/office/drawing/2014/main" val="1241657561"/>
                      </a:ext>
                    </a:extLst>
                  </a:tr>
                </a:tbl>
              </a:graphicData>
            </a:graphic>
          </p:graphicFrame>
        </mc:Choice>
        <mc:Fallback xmlns="">
          <p:graphicFrame>
            <p:nvGraphicFramePr>
              <p:cNvPr id="2" name="Table 1">
                <a:extLst>
                  <a:ext uri="{FF2B5EF4-FFF2-40B4-BE49-F238E27FC236}">
                    <a16:creationId xmlns:a16="http://schemas.microsoft.com/office/drawing/2014/main" id="{D6F3ADA4-347D-3031-7959-8EDCC674F21D}"/>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579120">
                    <a:tc>
                      <a:txBody>
                        <a:bodyPr/>
                        <a:lstStyle/>
                        <a:p>
                          <a:pPr algn="l"/>
                          <a:r>
                            <a:rPr lang="en-US" sz="3200" dirty="0">
                              <a:solidFill>
                                <a:schemeClr val="bg2">
                                  <a:lumMod val="10000"/>
                                </a:schemeClr>
                              </a:solidFill>
                            </a:rPr>
                            <a:t>N</a:t>
                          </a:r>
                        </a:p>
                      </a:txBody>
                      <a:tcPr/>
                    </a:tc>
                    <a:tc>
                      <a:txBody>
                        <a:bodyPr/>
                        <a:lstStyle/>
                        <a:p>
                          <a:pPr algn="l"/>
                          <a:r>
                            <a:rPr lang="en-US" sz="3200" dirty="0">
                              <a:solidFill>
                                <a:schemeClr val="bg2">
                                  <a:lumMod val="10000"/>
                                </a:schemeClr>
                              </a:solidFill>
                            </a:rPr>
                            <a:t>Nominal</a:t>
                          </a:r>
                        </a:p>
                      </a:txBody>
                      <a:tcPr/>
                    </a:tc>
                    <a:tc>
                      <a:txBody>
                        <a:bodyPr/>
                        <a:lstStyle/>
                        <a:p>
                          <a:pPr algn="l"/>
                          <a:r>
                            <a:rPr lang="en-US" sz="3200" dirty="0">
                              <a:solidFill>
                                <a:schemeClr val="bg2">
                                  <a:lumMod val="10000"/>
                                </a:schemeClr>
                              </a:solidFill>
                            </a:rPr>
                            <a:t>Names, labels, and categories</a:t>
                          </a:r>
                        </a:p>
                      </a:txBody>
                      <a:tcPr/>
                    </a:tc>
                    <a:tc>
                      <a:txBody>
                        <a:bodyPr/>
                        <a:lstStyle/>
                        <a:p>
                          <a:endParaRPr lang="en-US"/>
                        </a:p>
                      </a:txBody>
                      <a:tcPr>
                        <a:blipFill>
                          <a:blip r:embed="rId3"/>
                          <a:stretch>
                            <a:fillRect l="-300625" t="-13043" r="-312" b="-384783"/>
                          </a:stretch>
                        </a:blipFill>
                      </a:tcPr>
                    </a:tc>
                    <a:extLst>
                      <a:ext uri="{0D108BD9-81ED-4DB2-BD59-A6C34878D82A}">
                        <a16:rowId xmlns:a16="http://schemas.microsoft.com/office/drawing/2014/main" val="1218266674"/>
                      </a:ext>
                    </a:extLst>
                  </a:tr>
                  <a:tr h="57912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endParaRPr lang="en-US"/>
                        </a:p>
                      </a:txBody>
                      <a:tcPr>
                        <a:blipFill>
                          <a:blip r:embed="rId3"/>
                          <a:stretch>
                            <a:fillRect l="-300625" t="-113043" r="-312" b="-284783"/>
                          </a:stretch>
                        </a:blipFill>
                      </a:tcPr>
                    </a:tc>
                    <a:extLst>
                      <a:ext uri="{0D108BD9-81ED-4DB2-BD59-A6C34878D82A}">
                        <a16:rowId xmlns:a16="http://schemas.microsoft.com/office/drawing/2014/main" val="453748275"/>
                      </a:ext>
                    </a:extLst>
                  </a:tr>
                  <a:tr h="57912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endParaRPr lang="en-US"/>
                        </a:p>
                      </a:txBody>
                      <a:tcPr>
                        <a:blipFill>
                          <a:blip r:embed="rId3"/>
                          <a:stretch>
                            <a:fillRect l="-300625" t="-213043" r="-312" b="-184783"/>
                          </a:stretch>
                        </a:blipFill>
                      </a:tcPr>
                    </a:tc>
                    <a:extLst>
                      <a:ext uri="{0D108BD9-81ED-4DB2-BD59-A6C34878D82A}">
                        <a16:rowId xmlns:a16="http://schemas.microsoft.com/office/drawing/2014/main" val="2962934498"/>
                      </a:ext>
                    </a:extLst>
                  </a:tr>
                  <a:tr h="106680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endParaRPr lang="en-US"/>
                        </a:p>
                      </a:txBody>
                      <a:tcPr>
                        <a:blipFill>
                          <a:blip r:embed="rId3"/>
                          <a:stretch>
                            <a:fillRect l="-300625" t="-171429" r="-312" b="-1190"/>
                          </a:stretch>
                        </a:blipFill>
                      </a:tcPr>
                    </a:tc>
                    <a:extLst>
                      <a:ext uri="{0D108BD9-81ED-4DB2-BD59-A6C34878D82A}">
                        <a16:rowId xmlns:a16="http://schemas.microsoft.com/office/drawing/2014/main" val="1241657561"/>
                      </a:ext>
                    </a:extLst>
                  </a:tr>
                </a:tbl>
              </a:graphicData>
            </a:graphic>
          </p:graphicFrame>
        </mc:Fallback>
      </mc:AlternateContent>
      <p:sp>
        <p:nvSpPr>
          <p:cNvPr id="3" name="TextBox 2">
            <a:extLst>
              <a:ext uri="{FF2B5EF4-FFF2-40B4-BE49-F238E27FC236}">
                <a16:creationId xmlns:a16="http://schemas.microsoft.com/office/drawing/2014/main" id="{CEA5B337-A2DC-3E37-6723-D4DF7055488A}"/>
              </a:ext>
            </a:extLst>
          </p:cNvPr>
          <p:cNvSpPr txBox="1"/>
          <p:nvPr/>
        </p:nvSpPr>
        <p:spPr>
          <a:xfrm>
            <a:off x="1206500" y="8706542"/>
            <a:ext cx="7118937"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Nominal</a:t>
            </a:r>
          </a:p>
          <a:p>
            <a:pPr lvl="5" indent="0" algn="l"/>
            <a:r>
              <a:rPr lang="en-US" sz="4400" dirty="0">
                <a:solidFill>
                  <a:schemeClr val="bg2">
                    <a:lumMod val="10000"/>
                  </a:schemeClr>
                </a:solidFill>
              </a:rPr>
              <a:t>   Fruits: apples, oranges, ..</a:t>
            </a: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 </a:t>
            </a:r>
          </a:p>
        </p:txBody>
      </p:sp>
    </p:spTree>
    <p:extLst>
      <p:ext uri="{BB962C8B-B14F-4D97-AF65-F5344CB8AC3E}">
        <p14:creationId xmlns:p14="http://schemas.microsoft.com/office/powerpoint/2010/main" val="366028115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E1F5C-E35B-5222-CCF1-758351A7BBD6}"/>
            </a:ext>
          </a:extLst>
        </p:cNvPr>
        <p:cNvGrpSpPr/>
        <p:nvPr/>
      </p:nvGrpSpPr>
      <p:grpSpPr>
        <a:xfrm>
          <a:off x="0" y="0"/>
          <a:ext cx="0" cy="0"/>
          <a:chOff x="0" y="0"/>
          <a:chExt cx="0" cy="0"/>
        </a:xfrm>
      </p:grpSpPr>
      <p:sp>
        <p:nvSpPr>
          <p:cNvPr id="328" name="Slide Title">
            <a:extLst>
              <a:ext uri="{FF2B5EF4-FFF2-40B4-BE49-F238E27FC236}">
                <a16:creationId xmlns:a16="http://schemas.microsoft.com/office/drawing/2014/main" id="{24C21263-12AE-17F2-A400-67B68EC72853}"/>
              </a:ext>
            </a:extLst>
          </p:cNvPr>
          <p:cNvSpPr txBox="1">
            <a:spLocks noGrp="1"/>
          </p:cNvSpPr>
          <p:nvPr>
            <p:ph type="title"/>
          </p:nvPr>
        </p:nvSpPr>
        <p:spPr>
          <a:prstGeom prst="rect">
            <a:avLst/>
          </a:prstGeom>
        </p:spPr>
        <p:txBody>
          <a:bodyPr/>
          <a:lstStyle/>
          <a:p>
            <a:r>
              <a:rPr lang="en-US" dirty="0"/>
              <a:t>Attribute Types</a:t>
            </a:r>
            <a:endParaRPr dirty="0"/>
          </a:p>
        </p:txBody>
      </p:sp>
      <p:sp>
        <p:nvSpPr>
          <p:cNvPr id="329" name="Slide Subtitle">
            <a:extLst>
              <a:ext uri="{FF2B5EF4-FFF2-40B4-BE49-F238E27FC236}">
                <a16:creationId xmlns:a16="http://schemas.microsoft.com/office/drawing/2014/main" id="{54BACABF-05A7-7AE6-3D84-DD47D74E1237}"/>
              </a:ext>
            </a:extLst>
          </p:cNvPr>
          <p:cNvSpPr txBox="1">
            <a:spLocks noGrp="1"/>
          </p:cNvSpPr>
          <p:nvPr>
            <p:ph type="body" idx="21"/>
          </p:nvPr>
        </p:nvSpPr>
        <p:spPr>
          <a:prstGeom prst="rect">
            <a:avLst/>
          </a:prstGeom>
        </p:spPr>
        <p:txBody>
          <a:bodyPr/>
          <a:lstStyle/>
          <a:p>
            <a:r>
              <a:rPr lang="en-US" dirty="0"/>
              <a:t>Ordinal</a:t>
            </a:r>
            <a:endParaRPr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60FBA85-7AB4-99DB-01A2-1B74ED5FE28D}"/>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37084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1218266674"/>
                      </a:ext>
                    </a:extLst>
                  </a:tr>
                  <a:tr h="370840">
                    <a:tc>
                      <a:txBody>
                        <a:bodyPr/>
                        <a:lstStyle/>
                        <a:p>
                          <a:pPr algn="l"/>
                          <a:r>
                            <a:rPr lang="en-US" sz="3200" dirty="0">
                              <a:solidFill>
                                <a:schemeClr val="bg2">
                                  <a:lumMod val="10000"/>
                                </a:schemeClr>
                              </a:solidFill>
                            </a:rPr>
                            <a:t>O</a:t>
                          </a:r>
                        </a:p>
                      </a:txBody>
                      <a:tcPr/>
                    </a:tc>
                    <a:tc>
                      <a:txBody>
                        <a:bodyPr/>
                        <a:lstStyle/>
                        <a:p>
                          <a:pPr algn="l"/>
                          <a:r>
                            <a:rPr lang="en-US" sz="3200" dirty="0">
                              <a:solidFill>
                                <a:schemeClr val="bg2">
                                  <a:lumMod val="10000"/>
                                </a:schemeClr>
                              </a:solidFill>
                            </a:rPr>
                            <a:t>Ordinal</a:t>
                          </a:r>
                        </a:p>
                      </a:txBody>
                      <a:tcPr/>
                    </a:tc>
                    <a:tc>
                      <a:txBody>
                        <a:bodyPr/>
                        <a:lstStyle/>
                        <a:p>
                          <a:pPr algn="l"/>
                          <a:r>
                            <a:rPr lang="en-US" sz="3200" dirty="0">
                              <a:solidFill>
                                <a:schemeClr val="bg2">
                                  <a:lumMod val="10000"/>
                                </a:schemeClr>
                              </a:solidFill>
                            </a:rPr>
                            <a:t>Ordered</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453748275"/>
                      </a:ext>
                    </a:extLst>
                  </a:tr>
                  <a:tr h="37084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2962934498"/>
                      </a:ext>
                    </a:extLst>
                  </a:tr>
                  <a:tr h="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 %</m:t>
                                </m:r>
                              </m:oMath>
                            </m:oMathPara>
                          </a14:m>
                          <a:endParaRPr lang="en-US" sz="3200" dirty="0">
                            <a:solidFill>
                              <a:schemeClr val="tx2">
                                <a:lumMod val="60000"/>
                                <a:lumOff val="40000"/>
                              </a:schemeClr>
                            </a:solidFill>
                          </a:endParaRPr>
                        </a:p>
                        <a:p>
                          <a:pPr algn="l"/>
                          <a:endParaRPr lang="en-US" sz="3200" dirty="0">
                            <a:solidFill>
                              <a:schemeClr val="tx2">
                                <a:lumMod val="60000"/>
                                <a:lumOff val="40000"/>
                              </a:schemeClr>
                            </a:solidFill>
                          </a:endParaRPr>
                        </a:p>
                      </a:txBody>
                      <a:tcPr/>
                    </a:tc>
                    <a:extLst>
                      <a:ext uri="{0D108BD9-81ED-4DB2-BD59-A6C34878D82A}">
                        <a16:rowId xmlns:a16="http://schemas.microsoft.com/office/drawing/2014/main" val="1241657561"/>
                      </a:ext>
                    </a:extLst>
                  </a:tr>
                </a:tbl>
              </a:graphicData>
            </a:graphic>
          </p:graphicFrame>
        </mc:Choice>
        <mc:Fallback xmlns="">
          <p:graphicFrame>
            <p:nvGraphicFramePr>
              <p:cNvPr id="2" name="Table 1">
                <a:extLst>
                  <a:ext uri="{FF2B5EF4-FFF2-40B4-BE49-F238E27FC236}">
                    <a16:creationId xmlns:a16="http://schemas.microsoft.com/office/drawing/2014/main" id="{660FBA85-7AB4-99DB-01A2-1B74ED5FE28D}"/>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57912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endParaRPr lang="en-US"/>
                        </a:p>
                      </a:txBody>
                      <a:tcPr>
                        <a:blipFill>
                          <a:blip r:embed="rId3"/>
                          <a:stretch>
                            <a:fillRect l="-300625" t="-13043" r="-312" b="-384783"/>
                          </a:stretch>
                        </a:blipFill>
                      </a:tcPr>
                    </a:tc>
                    <a:extLst>
                      <a:ext uri="{0D108BD9-81ED-4DB2-BD59-A6C34878D82A}">
                        <a16:rowId xmlns:a16="http://schemas.microsoft.com/office/drawing/2014/main" val="1218266674"/>
                      </a:ext>
                    </a:extLst>
                  </a:tr>
                  <a:tr h="579120">
                    <a:tc>
                      <a:txBody>
                        <a:bodyPr/>
                        <a:lstStyle/>
                        <a:p>
                          <a:pPr algn="l"/>
                          <a:r>
                            <a:rPr lang="en-US" sz="3200" dirty="0">
                              <a:solidFill>
                                <a:schemeClr val="bg2">
                                  <a:lumMod val="10000"/>
                                </a:schemeClr>
                              </a:solidFill>
                            </a:rPr>
                            <a:t>O</a:t>
                          </a:r>
                        </a:p>
                      </a:txBody>
                      <a:tcPr/>
                    </a:tc>
                    <a:tc>
                      <a:txBody>
                        <a:bodyPr/>
                        <a:lstStyle/>
                        <a:p>
                          <a:pPr algn="l"/>
                          <a:r>
                            <a:rPr lang="en-US" sz="3200" dirty="0">
                              <a:solidFill>
                                <a:schemeClr val="bg2">
                                  <a:lumMod val="10000"/>
                                </a:schemeClr>
                              </a:solidFill>
                            </a:rPr>
                            <a:t>Ordinal</a:t>
                          </a:r>
                        </a:p>
                      </a:txBody>
                      <a:tcPr/>
                    </a:tc>
                    <a:tc>
                      <a:txBody>
                        <a:bodyPr/>
                        <a:lstStyle/>
                        <a:p>
                          <a:pPr algn="l"/>
                          <a:r>
                            <a:rPr lang="en-US" sz="3200" dirty="0">
                              <a:solidFill>
                                <a:schemeClr val="bg2">
                                  <a:lumMod val="10000"/>
                                </a:schemeClr>
                              </a:solidFill>
                            </a:rPr>
                            <a:t>Ordered</a:t>
                          </a:r>
                        </a:p>
                      </a:txBody>
                      <a:tcPr/>
                    </a:tc>
                    <a:tc>
                      <a:txBody>
                        <a:bodyPr/>
                        <a:lstStyle/>
                        <a:p>
                          <a:endParaRPr lang="en-US"/>
                        </a:p>
                      </a:txBody>
                      <a:tcPr>
                        <a:blipFill>
                          <a:blip r:embed="rId3"/>
                          <a:stretch>
                            <a:fillRect l="-300625" t="-113043" r="-312" b="-284783"/>
                          </a:stretch>
                        </a:blipFill>
                      </a:tcPr>
                    </a:tc>
                    <a:extLst>
                      <a:ext uri="{0D108BD9-81ED-4DB2-BD59-A6C34878D82A}">
                        <a16:rowId xmlns:a16="http://schemas.microsoft.com/office/drawing/2014/main" val="453748275"/>
                      </a:ext>
                    </a:extLst>
                  </a:tr>
                  <a:tr h="57912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endParaRPr lang="en-US"/>
                        </a:p>
                      </a:txBody>
                      <a:tcPr>
                        <a:blipFill>
                          <a:blip r:embed="rId3"/>
                          <a:stretch>
                            <a:fillRect l="-300625" t="-213043" r="-312" b="-184783"/>
                          </a:stretch>
                        </a:blipFill>
                      </a:tcPr>
                    </a:tc>
                    <a:extLst>
                      <a:ext uri="{0D108BD9-81ED-4DB2-BD59-A6C34878D82A}">
                        <a16:rowId xmlns:a16="http://schemas.microsoft.com/office/drawing/2014/main" val="2962934498"/>
                      </a:ext>
                    </a:extLst>
                  </a:tr>
                  <a:tr h="106680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endParaRPr lang="en-US"/>
                        </a:p>
                      </a:txBody>
                      <a:tcPr>
                        <a:blipFill>
                          <a:blip r:embed="rId3"/>
                          <a:stretch>
                            <a:fillRect l="-300625" t="-171429" r="-312" b="-1190"/>
                          </a:stretch>
                        </a:blipFill>
                      </a:tcPr>
                    </a:tc>
                    <a:extLst>
                      <a:ext uri="{0D108BD9-81ED-4DB2-BD59-A6C34878D82A}">
                        <a16:rowId xmlns:a16="http://schemas.microsoft.com/office/drawing/2014/main" val="1241657561"/>
                      </a:ext>
                    </a:extLst>
                  </a:tr>
                </a:tbl>
              </a:graphicData>
            </a:graphic>
          </p:graphicFrame>
        </mc:Fallback>
      </mc:AlternateContent>
      <p:sp>
        <p:nvSpPr>
          <p:cNvPr id="3" name="TextBox 2">
            <a:extLst>
              <a:ext uri="{FF2B5EF4-FFF2-40B4-BE49-F238E27FC236}">
                <a16:creationId xmlns:a16="http://schemas.microsoft.com/office/drawing/2014/main" id="{93C30D2A-1ED4-5192-9400-5EB4101FEB61}"/>
              </a:ext>
            </a:extLst>
          </p:cNvPr>
          <p:cNvSpPr txBox="1"/>
          <p:nvPr/>
        </p:nvSpPr>
        <p:spPr>
          <a:xfrm>
            <a:off x="1206500" y="8706542"/>
            <a:ext cx="9823202"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Ordinal</a:t>
            </a:r>
          </a:p>
          <a:p>
            <a:pPr lvl="5" indent="0" algn="l"/>
            <a:r>
              <a:rPr lang="en-US" sz="4400" dirty="0">
                <a:solidFill>
                  <a:schemeClr val="bg2">
                    <a:lumMod val="10000"/>
                  </a:schemeClr>
                </a:solidFill>
              </a:rPr>
              <a:t>   Quality of meat (Grades): A, AA, AAA</a:t>
            </a:r>
            <a:endPar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112106727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54FB-C146-B4B5-D759-0CC81844FCDA}"/>
            </a:ext>
          </a:extLst>
        </p:cNvPr>
        <p:cNvGrpSpPr/>
        <p:nvPr/>
      </p:nvGrpSpPr>
      <p:grpSpPr>
        <a:xfrm>
          <a:off x="0" y="0"/>
          <a:ext cx="0" cy="0"/>
          <a:chOff x="0" y="0"/>
          <a:chExt cx="0" cy="0"/>
        </a:xfrm>
      </p:grpSpPr>
      <p:sp>
        <p:nvSpPr>
          <p:cNvPr id="328" name="Slide Title">
            <a:extLst>
              <a:ext uri="{FF2B5EF4-FFF2-40B4-BE49-F238E27FC236}">
                <a16:creationId xmlns:a16="http://schemas.microsoft.com/office/drawing/2014/main" id="{3C8CF231-2153-CCEC-93EF-D5720C316A9A}"/>
              </a:ext>
            </a:extLst>
          </p:cNvPr>
          <p:cNvSpPr txBox="1">
            <a:spLocks noGrp="1"/>
          </p:cNvSpPr>
          <p:nvPr>
            <p:ph type="title"/>
          </p:nvPr>
        </p:nvSpPr>
        <p:spPr>
          <a:prstGeom prst="rect">
            <a:avLst/>
          </a:prstGeom>
        </p:spPr>
        <p:txBody>
          <a:bodyPr/>
          <a:lstStyle/>
          <a:p>
            <a:r>
              <a:rPr lang="en-US" dirty="0"/>
              <a:t>Attribute Types</a:t>
            </a:r>
            <a:endParaRPr dirty="0"/>
          </a:p>
        </p:txBody>
      </p:sp>
      <p:sp>
        <p:nvSpPr>
          <p:cNvPr id="329" name="Slide Subtitle">
            <a:extLst>
              <a:ext uri="{FF2B5EF4-FFF2-40B4-BE49-F238E27FC236}">
                <a16:creationId xmlns:a16="http://schemas.microsoft.com/office/drawing/2014/main" id="{8D15E32D-BB83-D65A-855E-2BC725808652}"/>
              </a:ext>
            </a:extLst>
          </p:cNvPr>
          <p:cNvSpPr txBox="1">
            <a:spLocks noGrp="1"/>
          </p:cNvSpPr>
          <p:nvPr>
            <p:ph type="body" idx="21"/>
          </p:nvPr>
        </p:nvSpPr>
        <p:spPr>
          <a:prstGeom prst="rect">
            <a:avLst/>
          </a:prstGeom>
        </p:spPr>
        <p:txBody>
          <a:bodyPr/>
          <a:lstStyle/>
          <a:p>
            <a:r>
              <a:rPr lang="en-US" dirty="0"/>
              <a:t>Q-Interval</a:t>
            </a:r>
            <a:endParaRPr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79B4CDC-75DA-6F8E-CA55-2C0471959B6B}"/>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37084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1218266674"/>
                      </a:ext>
                    </a:extLst>
                  </a:tr>
                  <a:tr h="37084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453748275"/>
                      </a:ext>
                    </a:extLst>
                  </a:tr>
                  <a:tr h="37084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Interval</a:t>
                          </a:r>
                        </a:p>
                      </a:txBody>
                      <a:tcPr/>
                    </a:tc>
                    <a:tc>
                      <a:txBody>
                        <a:bodyPr/>
                        <a:lstStyle/>
                        <a:p>
                          <a:pPr algn="l"/>
                          <a:r>
                            <a:rPr lang="en-US" sz="3200" dirty="0">
                              <a:solidFill>
                                <a:schemeClr val="bg2">
                                  <a:lumMod val="10000"/>
                                </a:schemeClr>
                              </a:solidFill>
                            </a:rPr>
                            <a:t>Degree of difference</a:t>
                          </a:r>
                        </a:p>
                      </a:txBody>
                      <a:tcPr/>
                    </a:tc>
                    <a:tc>
                      <a:txBody>
                        <a:bodyPr/>
                        <a:lstStyle/>
                        <a:p>
                          <a:pPr algn="l"/>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bg2">
                                <a:lumMod val="10000"/>
                              </a:schemeClr>
                            </a:solidFill>
                          </a:endParaRPr>
                        </a:p>
                      </a:txBody>
                      <a:tcPr/>
                    </a:tc>
                    <a:extLst>
                      <a:ext uri="{0D108BD9-81ED-4DB2-BD59-A6C34878D82A}">
                        <a16:rowId xmlns:a16="http://schemas.microsoft.com/office/drawing/2014/main" val="2962934498"/>
                      </a:ext>
                    </a:extLst>
                  </a:tr>
                  <a:tr h="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 %</m:t>
                                </m:r>
                              </m:oMath>
                            </m:oMathPara>
                          </a14:m>
                          <a:endParaRPr lang="en-US" sz="3200" dirty="0">
                            <a:solidFill>
                              <a:schemeClr val="tx2">
                                <a:lumMod val="60000"/>
                                <a:lumOff val="40000"/>
                              </a:schemeClr>
                            </a:solidFill>
                          </a:endParaRPr>
                        </a:p>
                        <a:p>
                          <a:pPr algn="l"/>
                          <a:endParaRPr lang="en-US" sz="3200" dirty="0">
                            <a:solidFill>
                              <a:schemeClr val="tx2">
                                <a:lumMod val="60000"/>
                                <a:lumOff val="40000"/>
                              </a:schemeClr>
                            </a:solidFill>
                          </a:endParaRPr>
                        </a:p>
                      </a:txBody>
                      <a:tcPr/>
                    </a:tc>
                    <a:extLst>
                      <a:ext uri="{0D108BD9-81ED-4DB2-BD59-A6C34878D82A}">
                        <a16:rowId xmlns:a16="http://schemas.microsoft.com/office/drawing/2014/main" val="1241657561"/>
                      </a:ext>
                    </a:extLst>
                  </a:tr>
                </a:tbl>
              </a:graphicData>
            </a:graphic>
          </p:graphicFrame>
        </mc:Choice>
        <mc:Fallback xmlns="">
          <p:graphicFrame>
            <p:nvGraphicFramePr>
              <p:cNvPr id="2" name="Table 1">
                <a:extLst>
                  <a:ext uri="{FF2B5EF4-FFF2-40B4-BE49-F238E27FC236}">
                    <a16:creationId xmlns:a16="http://schemas.microsoft.com/office/drawing/2014/main" id="{F79B4CDC-75DA-6F8E-CA55-2C0471959B6B}"/>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57912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endParaRPr lang="en-US"/>
                        </a:p>
                      </a:txBody>
                      <a:tcPr>
                        <a:blipFill>
                          <a:blip r:embed="rId3"/>
                          <a:stretch>
                            <a:fillRect l="-300625" t="-13043" r="-312" b="-384783"/>
                          </a:stretch>
                        </a:blipFill>
                      </a:tcPr>
                    </a:tc>
                    <a:extLst>
                      <a:ext uri="{0D108BD9-81ED-4DB2-BD59-A6C34878D82A}">
                        <a16:rowId xmlns:a16="http://schemas.microsoft.com/office/drawing/2014/main" val="1218266674"/>
                      </a:ext>
                    </a:extLst>
                  </a:tr>
                  <a:tr h="57912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endParaRPr lang="en-US"/>
                        </a:p>
                      </a:txBody>
                      <a:tcPr>
                        <a:blipFill>
                          <a:blip r:embed="rId3"/>
                          <a:stretch>
                            <a:fillRect l="-300625" t="-113043" r="-312" b="-284783"/>
                          </a:stretch>
                        </a:blipFill>
                      </a:tcPr>
                    </a:tc>
                    <a:extLst>
                      <a:ext uri="{0D108BD9-81ED-4DB2-BD59-A6C34878D82A}">
                        <a16:rowId xmlns:a16="http://schemas.microsoft.com/office/drawing/2014/main" val="453748275"/>
                      </a:ext>
                    </a:extLst>
                  </a:tr>
                  <a:tr h="57912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Interval</a:t>
                          </a:r>
                        </a:p>
                      </a:txBody>
                      <a:tcPr/>
                    </a:tc>
                    <a:tc>
                      <a:txBody>
                        <a:bodyPr/>
                        <a:lstStyle/>
                        <a:p>
                          <a:pPr algn="l"/>
                          <a:r>
                            <a:rPr lang="en-US" sz="3200" dirty="0">
                              <a:solidFill>
                                <a:schemeClr val="bg2">
                                  <a:lumMod val="10000"/>
                                </a:schemeClr>
                              </a:solidFill>
                            </a:rPr>
                            <a:t>Degree of difference</a:t>
                          </a:r>
                        </a:p>
                      </a:txBody>
                      <a:tcPr/>
                    </a:tc>
                    <a:tc>
                      <a:txBody>
                        <a:bodyPr/>
                        <a:lstStyle/>
                        <a:p>
                          <a:endParaRPr lang="en-US"/>
                        </a:p>
                      </a:txBody>
                      <a:tcPr>
                        <a:blipFill>
                          <a:blip r:embed="rId3"/>
                          <a:stretch>
                            <a:fillRect l="-300625" t="-213043" r="-312" b="-184783"/>
                          </a:stretch>
                        </a:blipFill>
                      </a:tcPr>
                    </a:tc>
                    <a:extLst>
                      <a:ext uri="{0D108BD9-81ED-4DB2-BD59-A6C34878D82A}">
                        <a16:rowId xmlns:a16="http://schemas.microsoft.com/office/drawing/2014/main" val="2962934498"/>
                      </a:ext>
                    </a:extLst>
                  </a:tr>
                  <a:tr h="106680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Ratio</a:t>
                          </a:r>
                        </a:p>
                      </a:txBody>
                      <a:tcPr/>
                    </a:tc>
                    <a:tc>
                      <a:txBody>
                        <a:bodyPr/>
                        <a:lstStyle/>
                        <a:p>
                          <a:pPr algn="l"/>
                          <a:r>
                            <a:rPr lang="en-US" sz="3200" dirty="0">
                              <a:solidFill>
                                <a:schemeClr val="tx2">
                                  <a:lumMod val="60000"/>
                                  <a:lumOff val="40000"/>
                                </a:schemeClr>
                              </a:solidFill>
                            </a:rPr>
                            <a:t>Unique and non-arbitrary zero value</a:t>
                          </a:r>
                        </a:p>
                      </a:txBody>
                      <a:tcPr/>
                    </a:tc>
                    <a:tc>
                      <a:txBody>
                        <a:bodyPr/>
                        <a:lstStyle/>
                        <a:p>
                          <a:endParaRPr lang="en-US"/>
                        </a:p>
                      </a:txBody>
                      <a:tcPr>
                        <a:blipFill>
                          <a:blip r:embed="rId3"/>
                          <a:stretch>
                            <a:fillRect l="-300625" t="-171429" r="-312" b="-1190"/>
                          </a:stretch>
                        </a:blipFill>
                      </a:tcPr>
                    </a:tc>
                    <a:extLst>
                      <a:ext uri="{0D108BD9-81ED-4DB2-BD59-A6C34878D82A}">
                        <a16:rowId xmlns:a16="http://schemas.microsoft.com/office/drawing/2014/main" val="1241657561"/>
                      </a:ext>
                    </a:extLst>
                  </a:tr>
                </a:tbl>
              </a:graphicData>
            </a:graphic>
          </p:graphicFrame>
        </mc:Fallback>
      </mc:AlternateContent>
      <p:sp>
        <p:nvSpPr>
          <p:cNvPr id="3" name="TextBox 2">
            <a:extLst>
              <a:ext uri="{FF2B5EF4-FFF2-40B4-BE49-F238E27FC236}">
                <a16:creationId xmlns:a16="http://schemas.microsoft.com/office/drawing/2014/main" id="{FC3B49EB-2D5E-9B5B-7CAF-0E064EFD1B8B}"/>
              </a:ext>
            </a:extLst>
          </p:cNvPr>
          <p:cNvSpPr txBox="1"/>
          <p:nvPr/>
        </p:nvSpPr>
        <p:spPr>
          <a:xfrm>
            <a:off x="1206500" y="8078807"/>
            <a:ext cx="15146775" cy="34881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Q-interval</a:t>
            </a:r>
          </a:p>
          <a:p>
            <a:pPr lvl="5" indent="0" algn="l"/>
            <a:r>
              <a:rPr lang="en-US" sz="4400" dirty="0">
                <a:solidFill>
                  <a:schemeClr val="bg2">
                    <a:lumMod val="10000"/>
                  </a:schemeClr>
                </a:solidFill>
              </a:rPr>
              <a:t>   Dates: Jan 19, 2006</a:t>
            </a:r>
          </a:p>
          <a:p>
            <a:pPr lvl="5" indent="0" algn="l"/>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   Location: Lat 33.98, long -118.45</a:t>
            </a:r>
          </a:p>
          <a:p>
            <a:pPr lvl="5" indent="0" algn="l"/>
            <a:endParaRPr lang="en-US" sz="4400" dirty="0">
              <a:solidFill>
                <a:schemeClr val="bg2">
                  <a:lumMod val="10000"/>
                </a:schemeClr>
              </a:solidFill>
            </a:endParaRPr>
          </a:p>
          <a:p>
            <a:pPr lvl="5" indent="0" algn="l"/>
            <a:r>
              <a:rPr lang="en-US" sz="4400" dirty="0">
                <a:solidFill>
                  <a:schemeClr val="bg2">
                    <a:lumMod val="10000"/>
                  </a:schemeClr>
                </a:solidFill>
              </a:rPr>
              <a:t>Only differences can be calculated (e.g., distances or spans)</a:t>
            </a:r>
            <a:endPar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3162697910"/>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F8C8C-D210-45CE-7D48-CAFB8090F7B2}"/>
            </a:ext>
          </a:extLst>
        </p:cNvPr>
        <p:cNvGrpSpPr/>
        <p:nvPr/>
      </p:nvGrpSpPr>
      <p:grpSpPr>
        <a:xfrm>
          <a:off x="0" y="0"/>
          <a:ext cx="0" cy="0"/>
          <a:chOff x="0" y="0"/>
          <a:chExt cx="0" cy="0"/>
        </a:xfrm>
      </p:grpSpPr>
      <p:sp>
        <p:nvSpPr>
          <p:cNvPr id="328" name="Slide Title">
            <a:extLst>
              <a:ext uri="{FF2B5EF4-FFF2-40B4-BE49-F238E27FC236}">
                <a16:creationId xmlns:a16="http://schemas.microsoft.com/office/drawing/2014/main" id="{54B3AB08-32E8-4D29-690F-EB528AABC224}"/>
              </a:ext>
            </a:extLst>
          </p:cNvPr>
          <p:cNvSpPr txBox="1">
            <a:spLocks noGrp="1"/>
          </p:cNvSpPr>
          <p:nvPr>
            <p:ph type="title"/>
          </p:nvPr>
        </p:nvSpPr>
        <p:spPr>
          <a:prstGeom prst="rect">
            <a:avLst/>
          </a:prstGeom>
        </p:spPr>
        <p:txBody>
          <a:bodyPr/>
          <a:lstStyle/>
          <a:p>
            <a:r>
              <a:rPr lang="en-US" dirty="0"/>
              <a:t>Attribute Types</a:t>
            </a:r>
            <a:endParaRPr dirty="0"/>
          </a:p>
        </p:txBody>
      </p:sp>
      <p:sp>
        <p:nvSpPr>
          <p:cNvPr id="329" name="Slide Subtitle">
            <a:extLst>
              <a:ext uri="{FF2B5EF4-FFF2-40B4-BE49-F238E27FC236}">
                <a16:creationId xmlns:a16="http://schemas.microsoft.com/office/drawing/2014/main" id="{16E92CA6-382C-D62A-8082-DCE7CA2C4B10}"/>
              </a:ext>
            </a:extLst>
          </p:cNvPr>
          <p:cNvSpPr txBox="1">
            <a:spLocks noGrp="1"/>
          </p:cNvSpPr>
          <p:nvPr>
            <p:ph type="body" idx="21"/>
          </p:nvPr>
        </p:nvSpPr>
        <p:spPr>
          <a:prstGeom prst="rect">
            <a:avLst/>
          </a:prstGeom>
        </p:spPr>
        <p:txBody>
          <a:bodyPr/>
          <a:lstStyle/>
          <a:p>
            <a:r>
              <a:rPr lang="en-US" dirty="0"/>
              <a:t>Q-Ratio</a:t>
            </a:r>
            <a:endParaRPr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884960E-86B0-CD8D-4038-7989FD7B127A}"/>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37084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1218266674"/>
                      </a:ext>
                    </a:extLst>
                  </a:tr>
                  <a:tr h="37084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453748275"/>
                      </a:ext>
                    </a:extLst>
                  </a:tr>
                  <a:tr h="37084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pPr algn="l"/>
                          <a14:m>
                            <m:oMathPara xmlns:m="http://schemas.openxmlformats.org/officeDocument/2006/math">
                              <m:oMath>
                                <m:r>
                                  <a:rPr lang="en-US" sz="3200" i="1" smtClean="0">
                                    <a:solidFill>
                                      <a:schemeClr val="tx2">
                                        <a:lumMod val="60000"/>
                                        <a:lumOff val="40000"/>
                                      </a:schemeClr>
                                    </a:solidFill>
                                    <a:latin typeface="Cambria Math" panose="02040503050406030204" pitchFamily="18" charset="0"/>
                                    <a:ea typeface="Cambria Math" panose="02040503050406030204" pitchFamily="18" charset="0"/>
                                  </a:rPr>
                                  <m:t>=</m:t>
                                </m:r>
                                <m:r>
                                  <a:rPr lang="en-US" sz="3200" b="0" i="1" smtClean="0">
                                    <a:solidFill>
                                      <a:schemeClr val="tx2">
                                        <a:lumMod val="60000"/>
                                        <a:lumOff val="40000"/>
                                      </a:schemeClr>
                                    </a:solidFill>
                                    <a:latin typeface="Cambria Math" panose="02040503050406030204" pitchFamily="18" charset="0"/>
                                    <a:ea typeface="Cambria Math" panose="02040503050406030204" pitchFamily="18" charset="0"/>
                                  </a:rPr>
                                  <m:t>,≠,&lt;,&gt;,−</m:t>
                                </m:r>
                              </m:oMath>
                            </m:oMathPara>
                          </a14:m>
                          <a:endParaRPr lang="en-US" sz="3200" dirty="0">
                            <a:solidFill>
                              <a:schemeClr val="tx2">
                                <a:lumMod val="60000"/>
                                <a:lumOff val="40000"/>
                              </a:schemeClr>
                            </a:solidFill>
                          </a:endParaRPr>
                        </a:p>
                      </a:txBody>
                      <a:tcPr/>
                    </a:tc>
                    <a:extLst>
                      <a:ext uri="{0D108BD9-81ED-4DB2-BD59-A6C34878D82A}">
                        <a16:rowId xmlns:a16="http://schemas.microsoft.com/office/drawing/2014/main" val="2962934498"/>
                      </a:ext>
                    </a:extLst>
                  </a:tr>
                  <a:tr h="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Ratio</a:t>
                          </a:r>
                        </a:p>
                      </a:txBody>
                      <a:tcPr/>
                    </a:tc>
                    <a:tc>
                      <a:txBody>
                        <a:bodyPr/>
                        <a:lstStyle/>
                        <a:p>
                          <a:pPr algn="l"/>
                          <a:r>
                            <a:rPr lang="en-US" sz="3200" dirty="0">
                              <a:solidFill>
                                <a:schemeClr val="bg2">
                                  <a:lumMod val="10000"/>
                                </a:schemeClr>
                              </a:solidFill>
                            </a:rPr>
                            <a:t>Unique and non-arbitrary zero value</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3200" i="1" smtClean="0">
                                    <a:solidFill>
                                      <a:schemeClr val="bg2">
                                        <a:lumMod val="10000"/>
                                      </a:schemeClr>
                                    </a:solidFill>
                                    <a:latin typeface="Cambria Math" panose="02040503050406030204" pitchFamily="18" charset="0"/>
                                    <a:ea typeface="Cambria Math" panose="02040503050406030204" pitchFamily="18" charset="0"/>
                                  </a:rPr>
                                  <m:t>=</m:t>
                                </m:r>
                                <m:r>
                                  <a:rPr lang="en-US" sz="3200" b="0" i="1" smtClean="0">
                                    <a:solidFill>
                                      <a:schemeClr val="bg2">
                                        <a:lumMod val="10000"/>
                                      </a:schemeClr>
                                    </a:solidFill>
                                    <a:latin typeface="Cambria Math" panose="02040503050406030204" pitchFamily="18" charset="0"/>
                                    <a:ea typeface="Cambria Math" panose="02040503050406030204" pitchFamily="18" charset="0"/>
                                  </a:rPr>
                                  <m:t>,≠,&lt;,&gt;,−, %</m:t>
                                </m:r>
                              </m:oMath>
                            </m:oMathPara>
                          </a14:m>
                          <a:endParaRPr lang="en-US" sz="3200" dirty="0">
                            <a:solidFill>
                              <a:schemeClr val="bg2">
                                <a:lumMod val="10000"/>
                              </a:schemeClr>
                            </a:solidFill>
                          </a:endParaRPr>
                        </a:p>
                        <a:p>
                          <a:pPr algn="l"/>
                          <a:endParaRPr lang="en-US" sz="3200" dirty="0">
                            <a:solidFill>
                              <a:schemeClr val="bg2">
                                <a:lumMod val="10000"/>
                              </a:schemeClr>
                            </a:solidFill>
                          </a:endParaRPr>
                        </a:p>
                      </a:txBody>
                      <a:tcPr/>
                    </a:tc>
                    <a:extLst>
                      <a:ext uri="{0D108BD9-81ED-4DB2-BD59-A6C34878D82A}">
                        <a16:rowId xmlns:a16="http://schemas.microsoft.com/office/drawing/2014/main" val="1241657561"/>
                      </a:ext>
                    </a:extLst>
                  </a:tr>
                </a:tbl>
              </a:graphicData>
            </a:graphic>
          </p:graphicFrame>
        </mc:Choice>
        <mc:Fallback xmlns="">
          <p:graphicFrame>
            <p:nvGraphicFramePr>
              <p:cNvPr id="2" name="Table 1">
                <a:extLst>
                  <a:ext uri="{FF2B5EF4-FFF2-40B4-BE49-F238E27FC236}">
                    <a16:creationId xmlns:a16="http://schemas.microsoft.com/office/drawing/2014/main" id="{0884960E-86B0-CD8D-4038-7989FD7B127A}"/>
                  </a:ext>
                </a:extLst>
              </p:cNvPr>
              <p:cNvGraphicFramePr>
                <a:graphicFrameLocks noGrp="1"/>
              </p:cNvGraphicFramePr>
              <p:nvPr/>
            </p:nvGraphicFramePr>
            <p:xfrm>
              <a:off x="3676074" y="4404205"/>
              <a:ext cx="16256000" cy="2804160"/>
            </p:xfrm>
            <a:graphic>
              <a:graphicData uri="http://schemas.openxmlformats.org/drawingml/2006/table">
                <a:tbl>
                  <a:tblPr firstRow="1" bandRow="1">
                    <a:tableStyleId>{5940675A-B579-460E-94D1-54222C63F5DA}</a:tableStyleId>
                  </a:tblPr>
                  <a:tblGrid>
                    <a:gridCol w="1034472">
                      <a:extLst>
                        <a:ext uri="{9D8B030D-6E8A-4147-A177-3AD203B41FA5}">
                          <a16:colId xmlns:a16="http://schemas.microsoft.com/office/drawing/2014/main" val="3280772806"/>
                        </a:ext>
                      </a:extLst>
                    </a:gridCol>
                    <a:gridCol w="1856509">
                      <a:extLst>
                        <a:ext uri="{9D8B030D-6E8A-4147-A177-3AD203B41FA5}">
                          <a16:colId xmlns:a16="http://schemas.microsoft.com/office/drawing/2014/main" val="2189721238"/>
                        </a:ext>
                      </a:extLst>
                    </a:gridCol>
                    <a:gridCol w="9301019">
                      <a:extLst>
                        <a:ext uri="{9D8B030D-6E8A-4147-A177-3AD203B41FA5}">
                          <a16:colId xmlns:a16="http://schemas.microsoft.com/office/drawing/2014/main" val="1167562510"/>
                        </a:ext>
                      </a:extLst>
                    </a:gridCol>
                    <a:gridCol w="4064000">
                      <a:extLst>
                        <a:ext uri="{9D8B030D-6E8A-4147-A177-3AD203B41FA5}">
                          <a16:colId xmlns:a16="http://schemas.microsoft.com/office/drawing/2014/main" val="468327211"/>
                        </a:ext>
                      </a:extLst>
                    </a:gridCol>
                  </a:tblGrid>
                  <a:tr h="579120">
                    <a:tc>
                      <a:txBody>
                        <a:bodyPr/>
                        <a:lstStyle/>
                        <a:p>
                          <a:pPr algn="l"/>
                          <a:r>
                            <a:rPr lang="en-US" sz="3200" dirty="0">
                              <a:solidFill>
                                <a:schemeClr val="tx2">
                                  <a:lumMod val="60000"/>
                                  <a:lumOff val="40000"/>
                                </a:schemeClr>
                              </a:solidFill>
                            </a:rPr>
                            <a:t>N</a:t>
                          </a:r>
                        </a:p>
                      </a:txBody>
                      <a:tcPr/>
                    </a:tc>
                    <a:tc>
                      <a:txBody>
                        <a:bodyPr/>
                        <a:lstStyle/>
                        <a:p>
                          <a:pPr algn="l"/>
                          <a:r>
                            <a:rPr lang="en-US" sz="3200" dirty="0">
                              <a:solidFill>
                                <a:schemeClr val="tx2">
                                  <a:lumMod val="60000"/>
                                  <a:lumOff val="40000"/>
                                </a:schemeClr>
                              </a:solidFill>
                            </a:rPr>
                            <a:t>Nominal</a:t>
                          </a:r>
                        </a:p>
                      </a:txBody>
                      <a:tcPr/>
                    </a:tc>
                    <a:tc>
                      <a:txBody>
                        <a:bodyPr/>
                        <a:lstStyle/>
                        <a:p>
                          <a:pPr algn="l"/>
                          <a:r>
                            <a:rPr lang="en-US" sz="3200" dirty="0">
                              <a:solidFill>
                                <a:schemeClr val="tx2">
                                  <a:lumMod val="60000"/>
                                  <a:lumOff val="40000"/>
                                </a:schemeClr>
                              </a:solidFill>
                            </a:rPr>
                            <a:t>Names and categories</a:t>
                          </a:r>
                        </a:p>
                      </a:txBody>
                      <a:tcPr/>
                    </a:tc>
                    <a:tc>
                      <a:txBody>
                        <a:bodyPr/>
                        <a:lstStyle/>
                        <a:p>
                          <a:endParaRPr lang="en-US"/>
                        </a:p>
                      </a:txBody>
                      <a:tcPr>
                        <a:blipFill>
                          <a:blip r:embed="rId3"/>
                          <a:stretch>
                            <a:fillRect l="-300625" t="-13043" r="-312" b="-384783"/>
                          </a:stretch>
                        </a:blipFill>
                      </a:tcPr>
                    </a:tc>
                    <a:extLst>
                      <a:ext uri="{0D108BD9-81ED-4DB2-BD59-A6C34878D82A}">
                        <a16:rowId xmlns:a16="http://schemas.microsoft.com/office/drawing/2014/main" val="1218266674"/>
                      </a:ext>
                    </a:extLst>
                  </a:tr>
                  <a:tr h="579120">
                    <a:tc>
                      <a:txBody>
                        <a:bodyPr/>
                        <a:lstStyle/>
                        <a:p>
                          <a:pPr algn="l"/>
                          <a:r>
                            <a:rPr lang="en-US" sz="3200" dirty="0">
                              <a:solidFill>
                                <a:schemeClr val="tx2">
                                  <a:lumMod val="60000"/>
                                  <a:lumOff val="40000"/>
                                </a:schemeClr>
                              </a:solidFill>
                            </a:rPr>
                            <a:t>O</a:t>
                          </a:r>
                        </a:p>
                      </a:txBody>
                      <a:tcPr/>
                    </a:tc>
                    <a:tc>
                      <a:txBody>
                        <a:bodyPr/>
                        <a:lstStyle/>
                        <a:p>
                          <a:pPr algn="l"/>
                          <a:r>
                            <a:rPr lang="en-US" sz="3200" dirty="0">
                              <a:solidFill>
                                <a:schemeClr val="tx2">
                                  <a:lumMod val="60000"/>
                                  <a:lumOff val="40000"/>
                                </a:schemeClr>
                              </a:solidFill>
                            </a:rPr>
                            <a:t>Ordinal</a:t>
                          </a:r>
                        </a:p>
                      </a:txBody>
                      <a:tcPr/>
                    </a:tc>
                    <a:tc>
                      <a:txBody>
                        <a:bodyPr/>
                        <a:lstStyle/>
                        <a:p>
                          <a:pPr algn="l"/>
                          <a:r>
                            <a:rPr lang="en-US" sz="3200" dirty="0">
                              <a:solidFill>
                                <a:schemeClr val="tx2">
                                  <a:lumMod val="60000"/>
                                  <a:lumOff val="40000"/>
                                </a:schemeClr>
                              </a:solidFill>
                            </a:rPr>
                            <a:t>Ordered</a:t>
                          </a:r>
                        </a:p>
                      </a:txBody>
                      <a:tcPr/>
                    </a:tc>
                    <a:tc>
                      <a:txBody>
                        <a:bodyPr/>
                        <a:lstStyle/>
                        <a:p>
                          <a:endParaRPr lang="en-US"/>
                        </a:p>
                      </a:txBody>
                      <a:tcPr>
                        <a:blipFill>
                          <a:blip r:embed="rId3"/>
                          <a:stretch>
                            <a:fillRect l="-300625" t="-113043" r="-312" b="-284783"/>
                          </a:stretch>
                        </a:blipFill>
                      </a:tcPr>
                    </a:tc>
                    <a:extLst>
                      <a:ext uri="{0D108BD9-81ED-4DB2-BD59-A6C34878D82A}">
                        <a16:rowId xmlns:a16="http://schemas.microsoft.com/office/drawing/2014/main" val="453748275"/>
                      </a:ext>
                    </a:extLst>
                  </a:tr>
                  <a:tr h="579120">
                    <a:tc>
                      <a:txBody>
                        <a:bodyPr/>
                        <a:lstStyle/>
                        <a:p>
                          <a:pPr algn="l"/>
                          <a:r>
                            <a:rPr lang="en-US" sz="3200" dirty="0">
                              <a:solidFill>
                                <a:schemeClr val="tx2">
                                  <a:lumMod val="60000"/>
                                  <a:lumOff val="40000"/>
                                </a:schemeClr>
                              </a:solidFill>
                            </a:rPr>
                            <a:t>Q</a:t>
                          </a:r>
                        </a:p>
                      </a:txBody>
                      <a:tcPr/>
                    </a:tc>
                    <a:tc>
                      <a:txBody>
                        <a:bodyPr/>
                        <a:lstStyle/>
                        <a:p>
                          <a:pPr algn="l"/>
                          <a:r>
                            <a:rPr lang="en-US" sz="3200" dirty="0">
                              <a:solidFill>
                                <a:schemeClr val="tx2">
                                  <a:lumMod val="60000"/>
                                  <a:lumOff val="40000"/>
                                </a:schemeClr>
                              </a:solidFill>
                            </a:rPr>
                            <a:t>Interval</a:t>
                          </a:r>
                        </a:p>
                      </a:txBody>
                      <a:tcPr/>
                    </a:tc>
                    <a:tc>
                      <a:txBody>
                        <a:bodyPr/>
                        <a:lstStyle/>
                        <a:p>
                          <a:pPr algn="l"/>
                          <a:r>
                            <a:rPr lang="en-US" sz="3200" dirty="0">
                              <a:solidFill>
                                <a:schemeClr val="tx2">
                                  <a:lumMod val="60000"/>
                                  <a:lumOff val="40000"/>
                                </a:schemeClr>
                              </a:solidFill>
                            </a:rPr>
                            <a:t>Degree of difference</a:t>
                          </a:r>
                        </a:p>
                      </a:txBody>
                      <a:tcPr/>
                    </a:tc>
                    <a:tc>
                      <a:txBody>
                        <a:bodyPr/>
                        <a:lstStyle/>
                        <a:p>
                          <a:endParaRPr lang="en-US"/>
                        </a:p>
                      </a:txBody>
                      <a:tcPr>
                        <a:blipFill>
                          <a:blip r:embed="rId3"/>
                          <a:stretch>
                            <a:fillRect l="-300625" t="-213043" r="-312" b="-184783"/>
                          </a:stretch>
                        </a:blipFill>
                      </a:tcPr>
                    </a:tc>
                    <a:extLst>
                      <a:ext uri="{0D108BD9-81ED-4DB2-BD59-A6C34878D82A}">
                        <a16:rowId xmlns:a16="http://schemas.microsoft.com/office/drawing/2014/main" val="2962934498"/>
                      </a:ext>
                    </a:extLst>
                  </a:tr>
                  <a:tr h="1066800">
                    <a:tc>
                      <a:txBody>
                        <a:bodyPr/>
                        <a:lstStyle/>
                        <a:p>
                          <a:pPr algn="l"/>
                          <a:r>
                            <a:rPr lang="en-US" sz="3200" dirty="0">
                              <a:solidFill>
                                <a:schemeClr val="bg2">
                                  <a:lumMod val="10000"/>
                                </a:schemeClr>
                              </a:solidFill>
                            </a:rPr>
                            <a:t>Q</a:t>
                          </a:r>
                        </a:p>
                      </a:txBody>
                      <a:tcPr/>
                    </a:tc>
                    <a:tc>
                      <a:txBody>
                        <a:bodyPr/>
                        <a:lstStyle/>
                        <a:p>
                          <a:pPr algn="l"/>
                          <a:r>
                            <a:rPr lang="en-US" sz="3200" dirty="0">
                              <a:solidFill>
                                <a:schemeClr val="bg2">
                                  <a:lumMod val="10000"/>
                                </a:schemeClr>
                              </a:solidFill>
                            </a:rPr>
                            <a:t>Ratio</a:t>
                          </a:r>
                        </a:p>
                      </a:txBody>
                      <a:tcPr/>
                    </a:tc>
                    <a:tc>
                      <a:txBody>
                        <a:bodyPr/>
                        <a:lstStyle/>
                        <a:p>
                          <a:pPr algn="l"/>
                          <a:r>
                            <a:rPr lang="en-US" sz="3200" dirty="0">
                              <a:solidFill>
                                <a:schemeClr val="bg2">
                                  <a:lumMod val="10000"/>
                                </a:schemeClr>
                              </a:solidFill>
                            </a:rPr>
                            <a:t>Unique and non-arbitrary zero value</a:t>
                          </a:r>
                        </a:p>
                      </a:txBody>
                      <a:tcPr/>
                    </a:tc>
                    <a:tc>
                      <a:txBody>
                        <a:bodyPr/>
                        <a:lstStyle/>
                        <a:p>
                          <a:endParaRPr lang="en-US"/>
                        </a:p>
                      </a:txBody>
                      <a:tcPr>
                        <a:blipFill>
                          <a:blip r:embed="rId3"/>
                          <a:stretch>
                            <a:fillRect l="-300625" t="-171429" r="-312" b="-1190"/>
                          </a:stretch>
                        </a:blipFill>
                      </a:tcPr>
                    </a:tc>
                    <a:extLst>
                      <a:ext uri="{0D108BD9-81ED-4DB2-BD59-A6C34878D82A}">
                        <a16:rowId xmlns:a16="http://schemas.microsoft.com/office/drawing/2014/main" val="1241657561"/>
                      </a:ext>
                    </a:extLst>
                  </a:tr>
                </a:tbl>
              </a:graphicData>
            </a:graphic>
          </p:graphicFrame>
        </mc:Fallback>
      </mc:AlternateContent>
      <p:sp>
        <p:nvSpPr>
          <p:cNvPr id="3" name="TextBox 2">
            <a:extLst>
              <a:ext uri="{FF2B5EF4-FFF2-40B4-BE49-F238E27FC236}">
                <a16:creationId xmlns:a16="http://schemas.microsoft.com/office/drawing/2014/main" id="{FE5E02FA-BFF9-78A6-E6D4-40F7B8B46FB2}"/>
              </a:ext>
            </a:extLst>
          </p:cNvPr>
          <p:cNvSpPr txBox="1"/>
          <p:nvPr/>
        </p:nvSpPr>
        <p:spPr>
          <a:xfrm>
            <a:off x="1206500" y="7854904"/>
            <a:ext cx="11333231" cy="34881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Q-Ratio (fixed zero)</a:t>
            </a:r>
          </a:p>
          <a:p>
            <a:pPr lvl="5" indent="0" algn="l"/>
            <a:r>
              <a:rPr lang="en-US" sz="4400" dirty="0">
                <a:solidFill>
                  <a:schemeClr val="bg2">
                    <a:lumMod val="10000"/>
                  </a:schemeClr>
                </a:solidFill>
              </a:rPr>
              <a:t>   Physical measurements: Length, Mass, …</a:t>
            </a:r>
          </a:p>
          <a:p>
            <a:pPr lvl="5" indent="0" algn="l"/>
            <a:endPar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endParaRPr>
          </a:p>
          <a:p>
            <a:pPr lvl="5" indent="0" algn="l"/>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Includes counts and amounts</a:t>
            </a:r>
          </a:p>
          <a:p>
            <a:pPr lvl="5" indent="0" algn="l"/>
            <a:r>
              <a:rPr lang="en-US" sz="4400" dirty="0">
                <a:solidFill>
                  <a:schemeClr val="bg2">
                    <a:lumMod val="10000"/>
                  </a:schemeClr>
                </a:solidFill>
              </a:rPr>
              <a:t>Can measure ratios or proportions</a:t>
            </a:r>
            <a:endPar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
        <p:nvSpPr>
          <p:cNvPr id="4" name="TextBox 3">
            <a:extLst>
              <a:ext uri="{FF2B5EF4-FFF2-40B4-BE49-F238E27FC236}">
                <a16:creationId xmlns:a16="http://schemas.microsoft.com/office/drawing/2014/main" id="{D3D3A911-BBFC-2369-9FC6-5A3C1F487611}"/>
              </a:ext>
            </a:extLst>
          </p:cNvPr>
          <p:cNvSpPr txBox="1"/>
          <p:nvPr/>
        </p:nvSpPr>
        <p:spPr>
          <a:xfrm>
            <a:off x="1521490" y="11755527"/>
            <a:ext cx="22036482"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400" b="1" i="0" u="none" strike="noStrike" cap="none" spc="0" normalizeH="0" baseline="0" dirty="0">
                <a:ln>
                  <a:noFill/>
                </a:ln>
                <a:solidFill>
                  <a:schemeClr val="bg2">
                    <a:lumMod val="10000"/>
                  </a:schemeClr>
                </a:solidFill>
                <a:effectLst/>
                <a:uFillTx/>
                <a:latin typeface="+mn-lt"/>
                <a:ea typeface="+mn-ea"/>
                <a:cs typeface="+mn-cs"/>
                <a:sym typeface="Helvetica Neue"/>
              </a:rPr>
              <a:t>Don’t ask “is there a zero” but instead ask “does zero mean the absence of X?”</a:t>
            </a:r>
          </a:p>
          <a:p>
            <a:pPr marL="0" marR="0" indent="0" algn="ctr" defTabSz="2438338" rtl="0" fontAlgn="auto" latinLnBrk="0" hangingPunct="0">
              <a:lnSpc>
                <a:spcPct val="100000"/>
              </a:lnSpc>
              <a:spcBef>
                <a:spcPts val="0"/>
              </a:spcBef>
              <a:spcAft>
                <a:spcPts val="0"/>
              </a:spcAft>
              <a:buClrTx/>
              <a:buSzTx/>
              <a:buFontTx/>
              <a:buNone/>
              <a:tabLst/>
            </a:pPr>
            <a:r>
              <a:rPr lang="en-US" sz="4400" dirty="0"/>
              <a:t>e.g. There is a “year 0” in our calendar system but it does </a:t>
            </a:r>
            <a:r>
              <a:rPr lang="en-US" sz="4400" i="1" dirty="0"/>
              <a:t>not</a:t>
            </a:r>
            <a:r>
              <a:rPr lang="en-US" sz="4400" dirty="0"/>
              <a:t> mean “absence of years”</a:t>
            </a:r>
            <a:endParaRPr kumimoji="0" lang="en-US" sz="4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5621085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FFFC-D9ED-8A4A-6EBC-E5FB83227779}"/>
              </a:ext>
            </a:extLst>
          </p:cNvPr>
          <p:cNvSpPr>
            <a:spLocks noGrp="1"/>
          </p:cNvSpPr>
          <p:nvPr>
            <p:ph type="title"/>
          </p:nvPr>
        </p:nvSpPr>
        <p:spPr/>
        <p:txBody>
          <a:bodyPr/>
          <a:lstStyle/>
          <a:p>
            <a:r>
              <a:rPr lang="en-US" dirty="0"/>
              <a:t>NOIR Scramble</a:t>
            </a:r>
          </a:p>
        </p:txBody>
      </p:sp>
      <p:sp>
        <p:nvSpPr>
          <p:cNvPr id="3" name="Text Placeholder 2">
            <a:extLst>
              <a:ext uri="{FF2B5EF4-FFF2-40B4-BE49-F238E27FC236}">
                <a16:creationId xmlns:a16="http://schemas.microsoft.com/office/drawing/2014/main" id="{69314701-8936-7686-61E7-5643BCDA5EE2}"/>
              </a:ext>
            </a:extLst>
          </p:cNvPr>
          <p:cNvSpPr>
            <a:spLocks noGrp="1"/>
          </p:cNvSpPr>
          <p:nvPr>
            <p:ph type="body" sz="quarter" idx="21"/>
          </p:nvPr>
        </p:nvSpPr>
        <p:spPr/>
        <p:txBody>
          <a:bodyPr/>
          <a:lstStyle/>
          <a:p>
            <a:endParaRPr lang="en-US"/>
          </a:p>
        </p:txBody>
      </p:sp>
      <p:sp>
        <p:nvSpPr>
          <p:cNvPr id="4" name="Text Placeholder 3">
            <a:extLst>
              <a:ext uri="{FF2B5EF4-FFF2-40B4-BE49-F238E27FC236}">
                <a16:creationId xmlns:a16="http://schemas.microsoft.com/office/drawing/2014/main" id="{403484E4-5167-A9B4-4F75-B172384E507A}"/>
              </a:ext>
            </a:extLst>
          </p:cNvPr>
          <p:cNvSpPr>
            <a:spLocks noGrp="1"/>
          </p:cNvSpPr>
          <p:nvPr>
            <p:ph type="body" idx="1"/>
          </p:nvPr>
        </p:nvSpPr>
        <p:spPr>
          <a:xfrm>
            <a:off x="1206499" y="3806125"/>
            <a:ext cx="8982529" cy="8256012"/>
          </a:xfrm>
        </p:spPr>
        <p:txBody>
          <a:bodyPr>
            <a:normAutofit/>
          </a:bodyPr>
          <a:lstStyle/>
          <a:p>
            <a:r>
              <a:rPr lang="en-US" sz="5400" dirty="0"/>
              <a:t>Step 1: figure out what type of data you have</a:t>
            </a:r>
          </a:p>
          <a:p>
            <a:r>
              <a:rPr lang="en-US" sz="5400" dirty="0"/>
              <a:t>Step 2: Find three other students who have the other three attribute types to make a </a:t>
            </a:r>
            <a:r>
              <a:rPr lang="en-US" sz="5400" b="1" dirty="0"/>
              <a:t>NOIR group of four</a:t>
            </a:r>
          </a:p>
          <a:p>
            <a:r>
              <a:rPr lang="en-US" sz="5400" dirty="0"/>
              <a:t>Step 3: Check in with me; if you are right, write your attributes on the board!</a:t>
            </a:r>
          </a:p>
        </p:txBody>
      </p:sp>
      <p:pic>
        <p:nvPicPr>
          <p:cNvPr id="5" name="Picture 4" descr="Film Noir - Everything You Need To Know - NFI">
            <a:extLst>
              <a:ext uri="{FF2B5EF4-FFF2-40B4-BE49-F238E27FC236}">
                <a16:creationId xmlns:a16="http://schemas.microsoft.com/office/drawing/2014/main" id="{B3E4A5AE-F9A6-3119-B42B-4C208537CD5A}"/>
              </a:ext>
            </a:extLst>
          </p:cNvPr>
          <p:cNvPicPr>
            <a:picLocks noChangeAspect="1"/>
          </p:cNvPicPr>
          <p:nvPr/>
        </p:nvPicPr>
        <p:blipFill>
          <a:blip r:embed="rId2"/>
          <a:stretch>
            <a:fillRect/>
          </a:stretch>
        </p:blipFill>
        <p:spPr>
          <a:xfrm>
            <a:off x="10711543" y="3733924"/>
            <a:ext cx="13527314" cy="7609114"/>
          </a:xfrm>
          <a:prstGeom prst="rect">
            <a:avLst/>
          </a:prstGeom>
        </p:spPr>
      </p:pic>
    </p:spTree>
    <p:extLst>
      <p:ext uri="{BB962C8B-B14F-4D97-AF65-F5344CB8AC3E}">
        <p14:creationId xmlns:p14="http://schemas.microsoft.com/office/powerpoint/2010/main" val="68594335"/>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B9535A-69AD-E104-0957-A5931D58C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4F817-B2DE-97BA-EAE8-CC8E394E8084}"/>
              </a:ext>
            </a:extLst>
          </p:cNvPr>
          <p:cNvSpPr>
            <a:spLocks noGrp="1"/>
          </p:cNvSpPr>
          <p:nvPr>
            <p:ph type="title"/>
          </p:nvPr>
        </p:nvSpPr>
        <p:spPr/>
        <p:txBody>
          <a:bodyPr/>
          <a:lstStyle/>
          <a:p>
            <a:r>
              <a:rPr lang="en-US" dirty="0"/>
              <a:t>Simpsons Paradox</a:t>
            </a:r>
          </a:p>
        </p:txBody>
      </p:sp>
      <p:sp>
        <p:nvSpPr>
          <p:cNvPr id="4" name="Text Placeholder 3">
            <a:extLst>
              <a:ext uri="{FF2B5EF4-FFF2-40B4-BE49-F238E27FC236}">
                <a16:creationId xmlns:a16="http://schemas.microsoft.com/office/drawing/2014/main" id="{42199EAE-6584-9FA8-218E-3E7D4935C694}"/>
              </a:ext>
            </a:extLst>
          </p:cNvPr>
          <p:cNvSpPr>
            <a:spLocks noGrp="1"/>
          </p:cNvSpPr>
          <p:nvPr>
            <p:ph type="body" idx="1"/>
          </p:nvPr>
        </p:nvSpPr>
        <p:spPr>
          <a:xfrm>
            <a:off x="1206500" y="2372962"/>
            <a:ext cx="21971000" cy="10131554"/>
          </a:xfrm>
        </p:spPr>
        <p:txBody>
          <a:bodyPr/>
          <a:lstStyle/>
          <a:p>
            <a:r>
              <a:rPr lang="en-US" i="1" dirty="0"/>
              <a:t>A trend/pattern appears in several groups of data</a:t>
            </a:r>
            <a:r>
              <a:rPr lang="en-US" dirty="0"/>
              <a:t> </a:t>
            </a:r>
            <a:r>
              <a:rPr lang="en-US" i="1" dirty="0"/>
              <a:t>but disappears or reverses when the groups are combined.</a:t>
            </a:r>
          </a:p>
          <a:p>
            <a:endParaRPr lang="en-US" i="1" dirty="0"/>
          </a:p>
          <a:p>
            <a:endParaRPr lang="en-US" dirty="0"/>
          </a:p>
        </p:txBody>
      </p:sp>
      <p:sp>
        <p:nvSpPr>
          <p:cNvPr id="6" name="TextBox 5">
            <a:extLst>
              <a:ext uri="{FF2B5EF4-FFF2-40B4-BE49-F238E27FC236}">
                <a16:creationId xmlns:a16="http://schemas.microsoft.com/office/drawing/2014/main" id="{BE5E90DA-377F-10C1-4332-FBD4DD073DAA}"/>
              </a:ext>
            </a:extLst>
          </p:cNvPr>
          <p:cNvSpPr txBox="1"/>
          <p:nvPr/>
        </p:nvSpPr>
        <p:spPr>
          <a:xfrm>
            <a:off x="3897527" y="9835514"/>
            <a:ext cx="16588946" cy="34778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dirty="0"/>
              <a:t>Simpson’s Paradox is a reminder that </a:t>
            </a:r>
            <a:r>
              <a:rPr lang="en-US" sz="4400" i="1" dirty="0"/>
              <a:t>how</a:t>
            </a:r>
            <a:r>
              <a:rPr lang="en-US" sz="4400" dirty="0"/>
              <a:t> we group data is itself a design decision — and a consequential one</a:t>
            </a:r>
          </a:p>
          <a:p>
            <a:endParaRPr lang="en-US" sz="4400" dirty="0"/>
          </a:p>
          <a:p>
            <a:r>
              <a:rPr lang="en-US" sz="4400" dirty="0"/>
              <a:t>Never trust an aggregate trend without checking whether it's stable across the subgroups that make it up</a:t>
            </a:r>
          </a:p>
        </p:txBody>
      </p:sp>
      <p:sp>
        <p:nvSpPr>
          <p:cNvPr id="7" name="TextBox 6">
            <a:extLst>
              <a:ext uri="{FF2B5EF4-FFF2-40B4-BE49-F238E27FC236}">
                <a16:creationId xmlns:a16="http://schemas.microsoft.com/office/drawing/2014/main" id="{69247A98-F85E-CC4B-7F9F-F16265457E93}"/>
              </a:ext>
            </a:extLst>
          </p:cNvPr>
          <p:cNvSpPr txBox="1"/>
          <p:nvPr/>
        </p:nvSpPr>
        <p:spPr>
          <a:xfrm>
            <a:off x="10394232" y="6616037"/>
            <a:ext cx="3595536"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chemeClr val="accent6"/>
                </a:solidFill>
                <a:effectLst/>
                <a:uFillTx/>
                <a:latin typeface="+mn-lt"/>
                <a:ea typeface="+mn-ea"/>
                <a:cs typeface="+mn-cs"/>
                <a:sym typeface="Helvetica Neue"/>
              </a:rPr>
              <a:t>See Class Activity</a:t>
            </a:r>
          </a:p>
        </p:txBody>
      </p:sp>
    </p:spTree>
    <p:extLst>
      <p:ext uri="{BB962C8B-B14F-4D97-AF65-F5344CB8AC3E}">
        <p14:creationId xmlns:p14="http://schemas.microsoft.com/office/powerpoint/2010/main" val="412123077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E87-6F12-05F9-B491-376E092F2CD5}"/>
              </a:ext>
            </a:extLst>
          </p:cNvPr>
          <p:cNvSpPr>
            <a:spLocks noGrp="1"/>
          </p:cNvSpPr>
          <p:nvPr>
            <p:ph type="title"/>
          </p:nvPr>
        </p:nvSpPr>
        <p:spPr/>
        <p:txBody>
          <a:bodyPr/>
          <a:lstStyle/>
          <a:p>
            <a:r>
              <a:rPr lang="en-US" dirty="0"/>
              <a:t>Simpsons Paradox</a:t>
            </a:r>
          </a:p>
        </p:txBody>
      </p:sp>
      <p:sp>
        <p:nvSpPr>
          <p:cNvPr id="8" name="Text Placeholder 7">
            <a:extLst>
              <a:ext uri="{FF2B5EF4-FFF2-40B4-BE49-F238E27FC236}">
                <a16:creationId xmlns:a16="http://schemas.microsoft.com/office/drawing/2014/main" id="{F61075F8-ECF1-DBFE-BC2F-08BB6602FBB5}"/>
              </a:ext>
            </a:extLst>
          </p:cNvPr>
          <p:cNvSpPr>
            <a:spLocks noGrp="1"/>
          </p:cNvSpPr>
          <p:nvPr>
            <p:ph type="body" sz="quarter" idx="21"/>
          </p:nvPr>
        </p:nvSpPr>
        <p:spPr/>
        <p:txBody>
          <a:bodyPr/>
          <a:lstStyle/>
          <a:p>
            <a:endParaRPr lang="en-US"/>
          </a:p>
        </p:txBody>
      </p:sp>
      <p:sp>
        <p:nvSpPr>
          <p:cNvPr id="7" name="Text Placeholder 6">
            <a:extLst>
              <a:ext uri="{FF2B5EF4-FFF2-40B4-BE49-F238E27FC236}">
                <a16:creationId xmlns:a16="http://schemas.microsoft.com/office/drawing/2014/main" id="{18DE4D9D-7263-7B9B-EA52-0C5DEBAB55AD}"/>
              </a:ext>
            </a:extLst>
          </p:cNvPr>
          <p:cNvSpPr>
            <a:spLocks noGrp="1"/>
          </p:cNvSpPr>
          <p:nvPr>
            <p:ph type="body" idx="1"/>
          </p:nvPr>
        </p:nvSpPr>
        <p:spPr/>
        <p:txBody>
          <a:bodyPr/>
          <a:lstStyle/>
          <a:p>
            <a:r>
              <a:rPr lang="en-US" b="1" dirty="0"/>
              <a:t>“If you torture the data long enough, it will confess to anything.”</a:t>
            </a:r>
            <a:endParaRPr lang="en-US" dirty="0"/>
          </a:p>
          <a:p>
            <a:r>
              <a:rPr lang="en-US" b="1" dirty="0"/>
              <a:t>- Ronald H. Coase (1975)</a:t>
            </a:r>
            <a:endParaRPr lang="en-US" dirty="0"/>
          </a:p>
          <a:p>
            <a:endParaRPr lang="en-US" dirty="0"/>
          </a:p>
        </p:txBody>
      </p:sp>
      <p:pic>
        <p:nvPicPr>
          <p:cNvPr id="9" name="Picture 8">
            <a:extLst>
              <a:ext uri="{FF2B5EF4-FFF2-40B4-BE49-F238E27FC236}">
                <a16:creationId xmlns:a16="http://schemas.microsoft.com/office/drawing/2014/main" id="{E9C2027D-A962-F458-E3AD-FB366837EE57}"/>
              </a:ext>
            </a:extLst>
          </p:cNvPr>
          <p:cNvPicPr/>
          <p:nvPr/>
        </p:nvPicPr>
        <p:blipFill>
          <a:blip r:embed="rId3"/>
          <a:srcRect l="2076" t="681"/>
          <a:stretch>
            <a:fillRect/>
          </a:stretch>
        </p:blipFill>
        <p:spPr>
          <a:xfrm>
            <a:off x="8091055" y="6064786"/>
            <a:ext cx="9421090" cy="6439729"/>
          </a:xfrm>
          <a:prstGeom prst="rect">
            <a:avLst/>
          </a:prstGeom>
        </p:spPr>
      </p:pic>
    </p:spTree>
    <p:extLst>
      <p:ext uri="{BB962C8B-B14F-4D97-AF65-F5344CB8AC3E}">
        <p14:creationId xmlns:p14="http://schemas.microsoft.com/office/powerpoint/2010/main" val="3529571651"/>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708F-8427-2361-784B-A210D7A96F1F}"/>
              </a:ext>
            </a:extLst>
          </p:cNvPr>
          <p:cNvSpPr>
            <a:spLocks noGrp="1"/>
          </p:cNvSpPr>
          <p:nvPr>
            <p:ph type="title"/>
          </p:nvPr>
        </p:nvSpPr>
        <p:spPr/>
        <p:txBody>
          <a:bodyPr/>
          <a:lstStyle/>
          <a:p>
            <a:r>
              <a:rPr lang="en-US" dirty="0"/>
              <a:t>Takeaways for design</a:t>
            </a:r>
          </a:p>
        </p:txBody>
      </p:sp>
      <p:sp>
        <p:nvSpPr>
          <p:cNvPr id="4" name="Text Placeholder 3">
            <a:extLst>
              <a:ext uri="{FF2B5EF4-FFF2-40B4-BE49-F238E27FC236}">
                <a16:creationId xmlns:a16="http://schemas.microsoft.com/office/drawing/2014/main" id="{919C265D-9AE8-17E1-D85B-2E90589BCE2C}"/>
              </a:ext>
            </a:extLst>
          </p:cNvPr>
          <p:cNvSpPr>
            <a:spLocks noGrp="1"/>
          </p:cNvSpPr>
          <p:nvPr>
            <p:ph type="body" idx="1"/>
          </p:nvPr>
        </p:nvSpPr>
        <p:spPr>
          <a:xfrm>
            <a:off x="1206500" y="3307742"/>
            <a:ext cx="21971000" cy="9196774"/>
          </a:xfrm>
        </p:spPr>
        <p:txBody>
          <a:bodyPr/>
          <a:lstStyle/>
          <a:p>
            <a:pPr marL="914400" indent="-914400">
              <a:buAutoNum type="arabicPeriod"/>
            </a:pPr>
            <a:r>
              <a:rPr lang="en-US" dirty="0"/>
              <a:t>Always interrogate your data first:</a:t>
            </a:r>
          </a:p>
          <a:p>
            <a:pPr lvl="2" indent="0"/>
            <a:r>
              <a:rPr lang="en-US" dirty="0"/>
              <a:t>	Is the data frame tidy? </a:t>
            </a:r>
          </a:p>
          <a:p>
            <a:pPr lvl="2" indent="0"/>
            <a:r>
              <a:rPr lang="en-US" dirty="0"/>
              <a:t>	Is it in wide or long format?</a:t>
            </a:r>
          </a:p>
          <a:p>
            <a:pPr lvl="2" indent="0"/>
            <a:r>
              <a:rPr lang="en-US" dirty="0"/>
              <a:t>	What is an observation? What are the relationships/properties?</a:t>
            </a:r>
          </a:p>
          <a:p>
            <a:pPr lvl="2" indent="0"/>
            <a:r>
              <a:rPr lang="en-US" dirty="0"/>
              <a:t>2. For each column, what is the attribute type?</a:t>
            </a:r>
          </a:p>
          <a:p>
            <a:pPr lvl="2" indent="0"/>
            <a:r>
              <a:rPr lang="en-US" dirty="0"/>
              <a:t>	</a:t>
            </a:r>
            <a:r>
              <a:rPr lang="en-US" i="1" dirty="0"/>
              <a:t>We will talk more about what encodings/plots are possible and effective 	for each attribute type</a:t>
            </a:r>
            <a:endParaRPr lang="en-US" dirty="0"/>
          </a:p>
          <a:p>
            <a:pPr lvl="2" indent="0"/>
            <a:r>
              <a:rPr lang="en-US" dirty="0"/>
              <a:t>3. Should the data be grouped in some way? </a:t>
            </a:r>
          </a:p>
          <a:p>
            <a:pPr lvl="2" indent="0"/>
            <a:r>
              <a:rPr lang="en-US" dirty="0"/>
              <a:t>4. Are there particular relationships, attributes, or trends you want to highlight with visualization?</a:t>
            </a:r>
          </a:p>
        </p:txBody>
      </p:sp>
    </p:spTree>
    <p:extLst>
      <p:ext uri="{BB962C8B-B14F-4D97-AF65-F5344CB8AC3E}">
        <p14:creationId xmlns:p14="http://schemas.microsoft.com/office/powerpoint/2010/main" val="395858808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E52F-0742-0B5B-90B4-B52EFA9D0F7D}"/>
            </a:ext>
          </a:extLst>
        </p:cNvPr>
        <p:cNvGrpSpPr/>
        <p:nvPr/>
      </p:nvGrpSpPr>
      <p:grpSpPr>
        <a:xfrm>
          <a:off x="0" y="0"/>
          <a:ext cx="0" cy="0"/>
          <a:chOff x="0" y="0"/>
          <a:chExt cx="0" cy="0"/>
        </a:xfrm>
      </p:grpSpPr>
      <p:sp>
        <p:nvSpPr>
          <p:cNvPr id="288" name="Slide Title">
            <a:extLst>
              <a:ext uri="{FF2B5EF4-FFF2-40B4-BE49-F238E27FC236}">
                <a16:creationId xmlns:a16="http://schemas.microsoft.com/office/drawing/2014/main" id="{D13FFEAC-73AF-0BB4-3091-26104F1383B2}"/>
              </a:ext>
            </a:extLst>
          </p:cNvPr>
          <p:cNvSpPr txBox="1">
            <a:spLocks noGrp="1"/>
          </p:cNvSpPr>
          <p:nvPr>
            <p:ph type="title"/>
          </p:nvPr>
        </p:nvSpPr>
        <p:spPr>
          <a:prstGeom prst="rect">
            <a:avLst/>
          </a:prstGeom>
        </p:spPr>
        <p:txBody>
          <a:bodyPr/>
          <a:lstStyle/>
          <a:p>
            <a:r>
              <a:rPr lang="en-US" dirty="0"/>
              <a:t>What’s next</a:t>
            </a:r>
            <a:endParaRPr dirty="0"/>
          </a:p>
        </p:txBody>
      </p:sp>
      <p:sp>
        <p:nvSpPr>
          <p:cNvPr id="289" name="Slide Subtitle">
            <a:extLst>
              <a:ext uri="{FF2B5EF4-FFF2-40B4-BE49-F238E27FC236}">
                <a16:creationId xmlns:a16="http://schemas.microsoft.com/office/drawing/2014/main" id="{88180ADA-1BD4-6D3B-6249-6E80DD1C76E4}"/>
              </a:ext>
            </a:extLst>
          </p:cNvPr>
          <p:cNvSpPr txBox="1">
            <a:spLocks noGrp="1"/>
          </p:cNvSpPr>
          <p:nvPr>
            <p:ph type="body" idx="21"/>
          </p:nvPr>
        </p:nvSpPr>
        <p:spPr>
          <a:prstGeom prst="rect">
            <a:avLst/>
          </a:prstGeom>
        </p:spPr>
        <p:txBody>
          <a:bodyPr/>
          <a:lstStyle/>
          <a:p>
            <a:endParaRPr dirty="0"/>
          </a:p>
        </p:txBody>
      </p:sp>
      <p:sp>
        <p:nvSpPr>
          <p:cNvPr id="290" name="Slide bullet text">
            <a:extLst>
              <a:ext uri="{FF2B5EF4-FFF2-40B4-BE49-F238E27FC236}">
                <a16:creationId xmlns:a16="http://schemas.microsoft.com/office/drawing/2014/main" id="{3013493F-981F-265C-397D-F954B3485FAF}"/>
              </a:ext>
            </a:extLst>
          </p:cNvPr>
          <p:cNvSpPr txBox="1">
            <a:spLocks noGrp="1"/>
          </p:cNvSpPr>
          <p:nvPr>
            <p:ph type="body" idx="1"/>
          </p:nvPr>
        </p:nvSpPr>
        <p:spPr>
          <a:xfrm>
            <a:off x="1206500" y="3806125"/>
            <a:ext cx="21971000" cy="8698391"/>
          </a:xfrm>
          <a:prstGeom prst="rect">
            <a:avLst/>
          </a:prstGeom>
        </p:spPr>
        <p:txBody>
          <a:bodyPr/>
          <a:lstStyle/>
          <a:p>
            <a:pPr marL="685800" lvl="0" indent="-685800" fontAlgn="base">
              <a:buFont typeface="Arial" panose="020B0604020202020204" pitchFamily="34" charset="0"/>
              <a:buChar char="•"/>
            </a:pPr>
            <a:r>
              <a:rPr lang="en-US" dirty="0"/>
              <a:t>In the absence of a quiz today, write down your answer to the following question: </a:t>
            </a:r>
            <a:r>
              <a:rPr lang="en-US" dirty="0">
                <a:solidFill>
                  <a:schemeClr val="accent6"/>
                </a:solidFill>
              </a:rPr>
              <a:t>If you had to explain today’s concepts to a friend, which would be hardest for you to explain?</a:t>
            </a:r>
          </a:p>
          <a:p>
            <a:pPr marL="685800" lvl="0" indent="-685800" fontAlgn="base">
              <a:buFont typeface="Arial" panose="020B0604020202020204" pitchFamily="34" charset="0"/>
              <a:buChar char="•"/>
            </a:pPr>
            <a:r>
              <a:rPr lang="en-US" b="1" dirty="0"/>
              <a:t>Friday’s lab</a:t>
            </a:r>
            <a:r>
              <a:rPr lang="en-US" dirty="0"/>
              <a:t> will explore these concepts using pandas data frames</a:t>
            </a:r>
          </a:p>
          <a:p>
            <a:pPr marL="685800" lvl="0" indent="-685800" fontAlgn="base">
              <a:buFont typeface="Arial" panose="020B0604020202020204" pitchFamily="34" charset="0"/>
              <a:buChar char="•"/>
            </a:pPr>
            <a:r>
              <a:rPr lang="en-US" dirty="0"/>
              <a:t>Next week:</a:t>
            </a:r>
          </a:p>
          <a:p>
            <a:pPr fontAlgn="base"/>
            <a:r>
              <a:rPr lang="en-US" dirty="0"/>
              <a:t>	Read “</a:t>
            </a:r>
            <a:r>
              <a:rPr lang="en-US" dirty="0">
                <a:solidFill>
                  <a:schemeClr val="accent2"/>
                </a:solidFill>
              </a:rPr>
              <a:t>A Tour through the Visualization Zoo</a:t>
            </a:r>
            <a:r>
              <a:rPr lang="en-US" dirty="0"/>
              <a:t>”</a:t>
            </a:r>
          </a:p>
          <a:p>
            <a:pPr fontAlgn="base"/>
            <a:r>
              <a:rPr lang="en-US" dirty="0"/>
              <a:t>	</a:t>
            </a:r>
            <a:r>
              <a:rPr lang="en-US" dirty="0">
                <a:solidFill>
                  <a:schemeClr val="accent6"/>
                </a:solidFill>
              </a:rPr>
              <a:t>Quiz</a:t>
            </a:r>
            <a:r>
              <a:rPr lang="en-US" dirty="0"/>
              <a:t> on this and previous material on Wednesday</a:t>
            </a:r>
          </a:p>
          <a:p>
            <a:pPr fontAlgn="base"/>
            <a:r>
              <a:rPr lang="en-US" dirty="0"/>
              <a:t>	Your topic and dataset checkpoint for Project 1 is </a:t>
            </a:r>
            <a:r>
              <a:rPr lang="en-US" dirty="0">
                <a:solidFill>
                  <a:schemeClr val="accent6"/>
                </a:solidFill>
              </a:rPr>
              <a:t>due Sep 13</a:t>
            </a:r>
          </a:p>
          <a:p>
            <a:endParaRPr dirty="0"/>
          </a:p>
        </p:txBody>
      </p:sp>
    </p:spTree>
    <p:extLst>
      <p:ext uri="{BB962C8B-B14F-4D97-AF65-F5344CB8AC3E}">
        <p14:creationId xmlns:p14="http://schemas.microsoft.com/office/powerpoint/2010/main" val="153397845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3156</TotalTime>
  <Words>3205</Words>
  <Application>Microsoft Macintosh PowerPoint</Application>
  <PresentationFormat>Custom</PresentationFormat>
  <Paragraphs>518</Paragraphs>
  <Slides>45</Slides>
  <Notes>41</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Calibri</vt:lpstr>
      <vt:lpstr>Cambria Math</vt:lpstr>
      <vt:lpstr>Courier New</vt:lpstr>
      <vt:lpstr>Helvetica</vt:lpstr>
      <vt:lpstr>Helvetica Neue</vt:lpstr>
      <vt:lpstr>Helvetica Neue Medium</vt:lpstr>
      <vt:lpstr>Lato</vt:lpstr>
      <vt:lpstr>Libre Baskerville</vt:lpstr>
      <vt:lpstr>Roboto Condensed</vt:lpstr>
      <vt:lpstr>Wingdings</vt:lpstr>
      <vt:lpstr>21_BasicWhite</vt:lpstr>
      <vt:lpstr>PowerPoint Presentation</vt:lpstr>
      <vt:lpstr>PowerPoint Presentation</vt:lpstr>
      <vt:lpstr>PowerPoint Presentation</vt:lpstr>
      <vt:lpstr>PowerPoint Presentation</vt:lpstr>
      <vt:lpstr>PowerPoint Presentation</vt:lpstr>
      <vt:lpstr>PowerPoint Presentation</vt:lpstr>
      <vt:lpstr>Project 1: Exploratory Data Analysis (EDA)</vt:lpstr>
      <vt:lpstr>Visualization Design: Data Types, Tables, and Models</vt:lpstr>
      <vt:lpstr>What you will learn today</vt:lpstr>
      <vt:lpstr>PowerPoint Presentation</vt:lpstr>
      <vt:lpstr>PowerPoint Presentation</vt:lpstr>
      <vt:lpstr>What is data?</vt:lpstr>
      <vt:lpstr>Which are examples of data?</vt:lpstr>
      <vt:lpstr>All are sometimes called "data"  But only the last item is genuine datum —   an elementary assertion of a fact</vt:lpstr>
      <vt:lpstr>The Elementary Structure of Data</vt:lpstr>
      <vt:lpstr>Semantic Triples </vt:lpstr>
      <vt:lpstr>Data Components</vt:lpstr>
      <vt:lpstr>Dataset Types</vt:lpstr>
      <vt:lpstr>PowerPoint Presentation</vt:lpstr>
      <vt:lpstr>PowerPoint Presentation</vt:lpstr>
      <vt:lpstr>We can think of this as a basic form of visualization  Sentences → Table</vt:lpstr>
      <vt:lpstr>PowerPoint Presentation</vt:lpstr>
      <vt:lpstr>Dataset Types</vt:lpstr>
      <vt:lpstr>Semantic Triples for relationships: networks and trees </vt:lpstr>
      <vt:lpstr>PowerPoint Presentation</vt:lpstr>
      <vt:lpstr>PowerPoint Presentation</vt:lpstr>
      <vt:lpstr>PowerPoint Presentation</vt:lpstr>
      <vt:lpstr>A special kind of table  in data science  is what we will call  the standard data table  (sometimes called "tidy data")</vt:lpstr>
      <vt:lpstr>Anatomy of a Data Table</vt:lpstr>
      <vt:lpstr>Reading along Axis 0</vt:lpstr>
      <vt:lpstr>Reading along Axis 0 </vt:lpstr>
      <vt:lpstr>Reading along Axis 1</vt:lpstr>
      <vt:lpstr>Reading along Axis 1 </vt:lpstr>
      <vt:lpstr>Tidy Data Tables</vt:lpstr>
      <vt:lpstr>Exercise</vt:lpstr>
      <vt:lpstr>Attribute Types</vt:lpstr>
      <vt:lpstr>Attribute Types</vt:lpstr>
      <vt:lpstr>Attribute Types</vt:lpstr>
      <vt:lpstr>Attribute Types</vt:lpstr>
      <vt:lpstr>Attribute Types</vt:lpstr>
      <vt:lpstr>NOIR Scramble</vt:lpstr>
      <vt:lpstr>Simpsons Paradox</vt:lpstr>
      <vt:lpstr>Simpsons Paradox</vt:lpstr>
      <vt:lpstr>Takeaways for design</vt:lpstr>
      <vt:lpstr>What’s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Groves, Sarah</cp:lastModifiedBy>
  <cp:revision>63</cp:revision>
  <dcterms:modified xsi:type="dcterms:W3CDTF">2026-09-02T14:50:16Z</dcterms:modified>
</cp:coreProperties>
</file>